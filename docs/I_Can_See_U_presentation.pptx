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Lst>
  <p:notesMasterIdLst>
    <p:notesMasterId r:id="rId3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qWNeXNvJi6FkEufRuatY0UYn0z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558FE3-B644-45B6-8EC2-D5E319610A07}">
  <a:tblStyle styleId="{AB558FE3-B644-45B6-8EC2-D5E319610A0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7" d="100"/>
          <a:sy n="147" d="100"/>
        </p:scale>
        <p:origin x="69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en-IL"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None/>
            </a:pPr>
            <a:r>
              <a:rPr lang="en-IL"/>
              <a:t>   הפרויקט שלנו עוסק בזיהוי חשבונות שמשתתפים בקמפיינים מאורגנים שנועדו להשפיע על דעת הקהל ולקדם מסרים מסוימים.</a:t>
            </a:r>
            <a:endParaRPr/>
          </a:p>
          <a:p>
            <a:pPr marL="0" lvl="0" indent="0" algn="r" rtl="0">
              <a:lnSpc>
                <a:spcPct val="115000"/>
              </a:lnSpc>
              <a:spcBef>
                <a:spcPts val="1200"/>
              </a:spcBef>
              <a:spcAft>
                <a:spcPts val="0"/>
              </a:spcAft>
              <a:buNone/>
            </a:pPr>
            <a:r>
              <a:rPr lang="en-IL"/>
              <a:t>. ברשתות חברתיות, פעילות כזו יכולה להתבטא בחשבונות שפועלים בתיאום כדי להפיץ ולהגביר את החשיפה למסרים האלה. אנחנו משלבים מדדים של מבנה הרשת ושל התוכן כדי לזהות את החשבונות, ובהמשך בוחנים אילו מסרים הקבוצות המתואמות מקדמות.</a:t>
            </a:r>
            <a:endParaRPr/>
          </a:p>
          <a:p>
            <a:pPr marL="0" lvl="0" indent="0" algn="r" rtl="0">
              <a:lnSpc>
                <a:spcPct val="115000"/>
              </a:lnSpc>
              <a:spcBef>
                <a:spcPts val="1200"/>
              </a:spcBef>
              <a:spcAft>
                <a:spcPts val="0"/>
              </a:spcAft>
              <a:buClr>
                <a:schemeClr val="dk1"/>
              </a:buClr>
              <a:buSzPts val="1100"/>
              <a:buFont typeface="Arial"/>
              <a:buNone/>
            </a:pPr>
            <a:r>
              <a:rPr lang="en-IL"/>
              <a:t> </a:t>
            </a:r>
            <a:endParaRPr/>
          </a:p>
          <a:p>
            <a:pPr marL="0" lvl="0" indent="0" algn="r" rtl="1">
              <a:spcBef>
                <a:spcPts val="1200"/>
              </a:spcBef>
              <a:spcAft>
                <a:spcPts val="0"/>
              </a:spcAft>
              <a:buNone/>
            </a:pPr>
            <a:endParaRPr/>
          </a:p>
        </p:txBody>
      </p:sp>
      <p:sp>
        <p:nvSpPr>
          <p:cNvPr id="177" name="Google Shape;17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None/>
            </a:pPr>
            <a:r>
              <a:rPr lang="en-IL" sz="1100">
                <a:latin typeface="Arial"/>
                <a:ea typeface="Arial"/>
                <a:cs typeface="Arial"/>
                <a:sym typeface="Arial"/>
              </a:rPr>
              <a:t>הרשתות החברתיות הן מקום מרכזי שבו אנשים נחשפים למידע ומגבשים עמדות. אותה פתיחות מאפשרת גם לגורמים שונים להפעיל חשבונות כדי להשפיע באופן מכוון על השיח ועל האמון הציבורי.</a:t>
            </a:r>
            <a:endParaRPr sz="1100">
              <a:latin typeface="Arial"/>
              <a:ea typeface="Arial"/>
              <a:cs typeface="Arial"/>
              <a:sym typeface="Arial"/>
            </a:endParaRPr>
          </a:p>
          <a:p>
            <a:pPr marL="381000" marR="381000" lvl="0" indent="0" algn="l" rtl="0">
              <a:lnSpc>
                <a:spcPct val="115000"/>
              </a:lnSpc>
              <a:spcBef>
                <a:spcPts val="120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1200"/>
              </a:spcBef>
              <a:spcAft>
                <a:spcPts val="0"/>
              </a:spcAft>
              <a:buNone/>
            </a:pPr>
            <a:endParaRPr/>
          </a:p>
        </p:txBody>
      </p:sp>
      <p:sp>
        <p:nvSpPr>
          <p:cNvPr id="191" name="Google Shape;1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מבצעי השפעה יכולים להסתמך על קבוצות של חשבונות שפועלים לקידום מטרה משותפת. הפעילות הזאת משאירה עקבות, למשל שימוש באותם האשטגים או הפצה של אותם תכנים. העקבות האלה מאפשרים לנו לחפש דפוסים של תיאום, אבל תיאום בפני עצמו עדיין אינו הוכחה למבצע השפעה.</a:t>
            </a:r>
            <a:endParaRPr/>
          </a:p>
          <a:p>
            <a:pPr marL="0" lvl="0" indent="0" algn="r" rtl="0">
              <a:spcBef>
                <a:spcPts val="1200"/>
              </a:spcBef>
              <a:spcAft>
                <a:spcPts val="0"/>
              </a:spcAft>
              <a:buNone/>
            </a:pPr>
            <a:endParaRPr/>
          </a:p>
        </p:txBody>
      </p:sp>
      <p:sp>
        <p:nvSpPr>
          <p:cNvPr id="199" name="Google Shape;1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אפשר לחלק את הגישות הקיימות לשלוש משפחות.</a:t>
            </a:r>
            <a:endParaRPr/>
          </a:p>
          <a:p>
            <a:pPr marL="0" lvl="0" indent="0" algn="r" rtl="0">
              <a:lnSpc>
                <a:spcPct val="115000"/>
              </a:lnSpc>
              <a:spcBef>
                <a:spcPts val="1200"/>
              </a:spcBef>
              <a:spcAft>
                <a:spcPts val="0"/>
              </a:spcAft>
              <a:buClr>
                <a:schemeClr val="dk1"/>
              </a:buClr>
              <a:buSzPts val="1100"/>
              <a:buFont typeface="Arial"/>
              <a:buNone/>
            </a:pPr>
            <a:r>
              <a:rPr lang="en-IL"/>
              <a:t>גישות שבוחנות כל חשבון בפני עצמו, למשל לפי התוכן שהוא מפרסם ותדירות הפרסום שלו.</a:t>
            </a:r>
            <a:endParaRPr/>
          </a:p>
          <a:p>
            <a:pPr marL="0" lvl="0" indent="0" algn="r" rtl="0">
              <a:lnSpc>
                <a:spcPct val="115000"/>
              </a:lnSpc>
              <a:spcBef>
                <a:spcPts val="1200"/>
              </a:spcBef>
              <a:spcAft>
                <a:spcPts val="0"/>
              </a:spcAft>
              <a:buClr>
                <a:schemeClr val="dk1"/>
              </a:buClr>
              <a:buSzPts val="1100"/>
              <a:buFont typeface="Arial"/>
              <a:buNone/>
            </a:pPr>
            <a:r>
              <a:rPr lang="en-IL"/>
              <a:t>גישות שמנתחות את הרשת, למשל כדי לזהות קבוצת חשבונות שמפרסמים את אותם האשטגים בזמנים קרובים.</a:t>
            </a:r>
            <a:endParaRPr/>
          </a:p>
          <a:p>
            <a:pPr marL="0" lvl="0" indent="0" algn="r" rtl="0">
              <a:lnSpc>
                <a:spcPct val="115000"/>
              </a:lnSpc>
              <a:spcBef>
                <a:spcPts val="1200"/>
              </a:spcBef>
              <a:spcAft>
                <a:spcPts val="0"/>
              </a:spcAft>
              <a:buClr>
                <a:schemeClr val="dk1"/>
              </a:buClr>
              <a:buSzPts val="1100"/>
              <a:buFont typeface="Arial"/>
              <a:buNone/>
            </a:pPr>
            <a:r>
              <a:rPr lang="en-IL"/>
              <a:t>וגישות שמשלבות את מאפייני החשבון עם הקשרים שלו ברשת.</a:t>
            </a:r>
            <a:endParaRPr/>
          </a:p>
          <a:p>
            <a:pPr marL="0" lvl="0" indent="0" algn="r" rtl="0">
              <a:lnSpc>
                <a:spcPct val="115000"/>
              </a:lnSpc>
              <a:spcBef>
                <a:spcPts val="1200"/>
              </a:spcBef>
              <a:spcAft>
                <a:spcPts val="0"/>
              </a:spcAft>
              <a:buClr>
                <a:schemeClr val="dk1"/>
              </a:buClr>
              <a:buSzPts val="1100"/>
              <a:buFont typeface="Arial"/>
              <a:buNone/>
            </a:pPr>
            <a:r>
              <a:rPr lang="en-IL"/>
              <a:t>אצלנו, אנחנו מתארים את המיקום של כל חשבון באמצעות מדדים בעלי משמעות ברורה: לכמה חשבונות הוא מחובר, האם הוא מחבר בין קבוצות, ועד כמה הוא משתייך לקבוצה שהחשבונות בה מחוברים זה לזה בצפיפות.</a:t>
            </a:r>
            <a:endParaRPr/>
          </a:p>
          <a:p>
            <a:pPr marL="0" lvl="0" indent="0" algn="r" rtl="0">
              <a:spcBef>
                <a:spcPts val="1200"/>
              </a:spcBef>
              <a:spcAft>
                <a:spcPts val="0"/>
              </a:spcAft>
              <a:buNone/>
            </a:pPr>
            <a:endParaRPr/>
          </a:p>
        </p:txBody>
      </p:sp>
      <p:sp>
        <p:nvSpPr>
          <p:cNvPr id="207" name="Google Shape;2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אנחנו מתמקדים בשני מרכיבים: זיהוי חשבונות באמצעות מדדים שאפשר לפרש, וניתוח קבוצות כדי להבין אילו מסרים הן מקדמות. אלה שני המרכיבים שהגישה שלנו משלבת.</a:t>
            </a:r>
            <a:endParaRPr/>
          </a:p>
          <a:p>
            <a:pPr marL="0" lvl="0" indent="0" algn="r" rtl="0">
              <a:spcBef>
                <a:spcPts val="1200"/>
              </a:spcBef>
              <a:spcAft>
                <a:spcPts val="0"/>
              </a:spcAft>
              <a:buNone/>
            </a:pPr>
            <a:endParaRPr/>
          </a:p>
        </p:txBody>
      </p:sp>
      <p:sp>
        <p:nvSpPr>
          <p:cNvPr id="214" name="Google Shape;2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אתחיל מהמדדים: איך אנחנו מתרגמים את הפעילות של החשבונות למאפיינים שאפשר למדוד ולהסביר.</a:t>
            </a:r>
            <a:endParaRPr/>
          </a:p>
          <a:p>
            <a:pPr marL="0" lvl="0" indent="0" algn="l" rtl="0">
              <a:spcBef>
                <a:spcPts val="1200"/>
              </a:spcBef>
              <a:spcAft>
                <a:spcPts val="0"/>
              </a:spcAft>
              <a:buNone/>
            </a:pPr>
            <a:endParaRPr/>
          </a:p>
        </p:txBody>
      </p:sp>
      <p:sp>
        <p:nvSpPr>
          <p:cNvPr id="221" name="Google Shape;22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אנחנו בונים גרף שבו כל צומת הוא חשבון, וקשת מייצגת פעילות דומה בין שני חשבונות, למשל שימוש באותו האשטג. הקשרים בגרף מבטאים דמיון התנהגותי, ולא בהכרח קשרי מעקב או היכרות. המבנה שנוצר מאפשר לבחון מי פועל באופן דומה למי.</a:t>
            </a:r>
            <a:endParaRPr/>
          </a:p>
          <a:p>
            <a:pPr marL="0" lvl="0" indent="0" algn="l" rtl="0">
              <a:spcBef>
                <a:spcPts val="1200"/>
              </a:spcBef>
              <a:spcAft>
                <a:spcPts val="0"/>
              </a:spcAft>
              <a:buNone/>
            </a:pPr>
            <a:endParaRPr/>
          </a:p>
        </p:txBody>
      </p:sp>
      <p:sp>
        <p:nvSpPr>
          <p:cNvPr id="229" name="Google Shape;22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IL"/>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100"/>
              <a:buFont typeface="Arial"/>
              <a:buNone/>
            </a:pPr>
            <a:r>
              <a:rPr lang="en-IL" sz="1100">
                <a:latin typeface="Arial"/>
                <a:ea typeface="Arial"/>
                <a:cs typeface="Arial"/>
                <a:sym typeface="Arial"/>
              </a:rPr>
              <a:t>לכל חשבון מחשבים מדדים שמתארים את תפקידו ברשת הפעילות המשותפת.</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מיקום ברשת:</a:t>
            </a:r>
            <a:r>
              <a:rPr lang="en-IL" sz="1100">
                <a:latin typeface="Arial"/>
                <a:ea typeface="Arial"/>
                <a:cs typeface="Arial"/>
                <a:sym typeface="Arial"/>
              </a:rPr>
              <a:t> מספר הקשרים, הקרבה לאחרים, החיבור לחשבונות מרכזיים והתפקיד כגשר ברשת.</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לכידות:</a:t>
            </a:r>
            <a:r>
              <a:rPr lang="en-IL" sz="1100">
                <a:latin typeface="Arial"/>
                <a:ea typeface="Arial"/>
                <a:cs typeface="Arial"/>
                <a:sym typeface="Arial"/>
              </a:rPr>
              <a:t> הליבה הגבוהה ביותר שהחשבון שייך אליה, ועד כמה שכניו מחוברים זה לזה.</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קהילה:</a:t>
            </a:r>
            <a:r>
              <a:rPr lang="en-IL" sz="1100">
                <a:latin typeface="Arial"/>
                <a:ea typeface="Arial"/>
                <a:cs typeface="Arial"/>
                <a:sym typeface="Arial"/>
              </a:rPr>
              <a:t> הקהילה ברשת שהחשבון משתייך אליה.</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a:latin typeface="Arial"/>
                <a:ea typeface="Arial"/>
                <a:cs typeface="Arial"/>
                <a:sym typeface="Arial"/>
              </a:rPr>
              <a:t>לכל מדד יש משמעות ברורה, ולכן אפשר להבין מה הוא מתאר.</a:t>
            </a:r>
            <a:endParaRPr sz="1100">
              <a:latin typeface="Arial"/>
              <a:ea typeface="Arial"/>
              <a:cs typeface="Arial"/>
              <a:sym typeface="Arial"/>
            </a:endParaRPr>
          </a:p>
          <a:p>
            <a:pPr marL="0" lvl="0" indent="0" algn="r" rtl="0">
              <a:spcBef>
                <a:spcPts val="0"/>
              </a:spcBef>
              <a:spcAft>
                <a:spcPts val="0"/>
              </a:spcAft>
              <a:buNone/>
            </a:pPr>
            <a:endParaRPr/>
          </a:p>
        </p:txBody>
      </p:sp>
      <p:sp>
        <p:nvSpPr>
          <p:cNvPr id="237" name="Google Shape;2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1">
              <a:spcBef>
                <a:spcPts val="0"/>
              </a:spcBef>
              <a:spcAft>
                <a:spcPts val="0"/>
              </a:spcAft>
              <a:buNone/>
            </a:pPr>
            <a:r>
              <a:rPr lang="en-IL"/>
              <a:t>מודד עד כמה מונח מאפיין נושא בהשוואה לנושאים אחרים/</a:t>
            </a:r>
            <a:endParaRPr/>
          </a:p>
          <a:p>
            <a:pPr marL="0" lvl="0" indent="0" algn="r" rtl="1">
              <a:spcBef>
                <a:spcPts val="0"/>
              </a:spcBef>
              <a:spcAft>
                <a:spcPts val="0"/>
              </a:spcAft>
              <a:buNone/>
            </a:pPr>
            <a:r>
              <a:rPr lang="en-IL">
                <a:latin typeface="Arial"/>
                <a:ea typeface="Arial"/>
                <a:cs typeface="Arial"/>
                <a:sym typeface="Arial"/>
              </a:rPr>
              <a:t>אצלנו כל נושא מיוצג באמצעות אוסף הפרסומים שמשויכים אליו.</a:t>
            </a:r>
            <a:endParaRPr>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a:latin typeface="Arial"/>
                <a:ea typeface="Arial"/>
                <a:cs typeface="Arial"/>
                <a:sym typeface="Arial"/>
              </a:rPr>
              <a:t>נניח שאנחנו מנתחים פרסומים על חיסונים ועל מוזיקה. המילה „חיסון” נפוצה בנושא החיסונים, אבל נדירה בנושא המוזיקה. לכן היא עוזרת לזהות תוכן שקשור לחיסונים. לעומת זאת, מילה כמו „היום” מופיעה בשני הנושאים ותורמת פחות לזיהוי.</a:t>
            </a:r>
            <a:endParaRPr>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a:latin typeface="Arial"/>
                <a:ea typeface="Arial"/>
                <a:cs typeface="Arial"/>
                <a:sym typeface="Arial"/>
              </a:rPr>
              <a:t>TF-IDF מתרגם את ההבדל הזה למשקל: מונחים שנפוצים בנושא מסוים ונדירים בנושאים אחרים מקבלים משקל גבוה יותר.</a:t>
            </a:r>
            <a:endParaRPr>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a:latin typeface="Arial"/>
                <a:ea typeface="Arial"/>
                <a:cs typeface="Arial"/>
                <a:sym typeface="Arial"/>
              </a:rPr>
              <a:t>אחר כך אנחנו בודקים באילו מונחים כל חשבון משתמש. השימוש במונחים האלה מצטבר לציון שמבטא את הקשר של החשבון לכל נושא. אנחנו גם מפחיתים את הציון לחשבונות שפעילים בנושאים רבים, כדי לתת ביטוי למידת ההתמקדות שלהם.</a:t>
            </a:r>
            <a:endParaRPr>
              <a:latin typeface="Arial"/>
              <a:ea typeface="Arial"/>
              <a:cs typeface="Arial"/>
              <a:sym typeface="Arial"/>
            </a:endParaRPr>
          </a:p>
          <a:p>
            <a:pPr marL="0" lvl="0" indent="0" algn="r" rtl="1">
              <a:spcBef>
                <a:spcPts val="1200"/>
              </a:spcBef>
              <a:spcAft>
                <a:spcPts val="0"/>
              </a:spcAft>
              <a:buNone/>
            </a:pPr>
            <a:endParaRPr>
              <a:latin typeface="Arial"/>
              <a:ea typeface="Arial"/>
              <a:cs typeface="Arial"/>
              <a:sym typeface="Arial"/>
            </a:endParaRPr>
          </a:p>
        </p:txBody>
      </p:sp>
      <p:sp>
        <p:nvSpPr>
          <p:cNvPr id="244" name="Google Shape;24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12 — Topic-Based Indicators</a:t>
            </a:r>
            <a:endParaRPr sz="1100" b="1">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a:latin typeface="Arial"/>
                <a:ea typeface="Arial"/>
                <a:cs typeface="Arial"/>
                <a:sym typeface="Arial"/>
              </a:rPr>
              <a:t>המדדים האלה מתארים באילו נושאים החשבון עוסק ועד כמה הוא מתמקד בהם.</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a:latin typeface="Arial"/>
                <a:ea typeface="Arial"/>
                <a:cs typeface="Arial"/>
                <a:sym typeface="Arial"/>
              </a:rPr>
              <a:t>נתחיל ממספר הפרסומים. נניח שחשבון פרסם 100 פרסומים: 80 על חיסונים ו־20 על מוזיקה.</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Top Topic</a:t>
            </a:r>
            <a:r>
              <a:rPr lang="en-IL" sz="1100">
                <a:latin typeface="Arial"/>
                <a:ea typeface="Arial"/>
                <a:cs typeface="Arial"/>
                <a:sym typeface="Arial"/>
              </a:rPr>
              <a:t> הוא הנושא שעליו החשבון מפרסם הכי הרבה. בדוגמה הזאת: חיסונים.</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Posting Dominance</a:t>
            </a:r>
            <a:r>
              <a:rPr lang="en-IL" sz="1100">
                <a:latin typeface="Arial"/>
                <a:ea typeface="Arial"/>
                <a:cs typeface="Arial"/>
                <a:sym typeface="Arial"/>
              </a:rPr>
              <a:t> הוא החלק של הפרסומים שעוסק בנושא הזה. כאן: 80 מתוך 100, כלומר 80%.</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a:latin typeface="Arial"/>
                <a:ea typeface="Arial"/>
                <a:cs typeface="Arial"/>
                <a:sym typeface="Arial"/>
              </a:rPr>
              <a:t>עכשיו נעבור לציונים המבוססים על המונחים שבתוכן, כפי שהסברנו בשקופית הקודמת.</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Key Score</a:t>
            </a:r>
            <a:r>
              <a:rPr lang="en-IL" sz="1100">
                <a:latin typeface="Arial"/>
                <a:ea typeface="Arial"/>
                <a:cs typeface="Arial"/>
                <a:sym typeface="Arial"/>
              </a:rPr>
              <a:t> הוא ציון רלוונטיות של החשבון לכל נושא. החשבון צובר ציון לפי השימוש שלו במונחים שמאפיינים את הנושא.</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a:latin typeface="Arial"/>
                <a:ea typeface="Arial"/>
                <a:cs typeface="Arial"/>
                <a:sym typeface="Arial"/>
              </a:rPr>
              <a:t>נניח, לצורך הדוגמה, שהחשבון קיבל ציון 6 בנושא החיסונים וציון 4 בנושא המוזיקה.</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Key Score Sum</a:t>
            </a:r>
            <a:r>
              <a:rPr lang="en-IL" sz="1100">
                <a:latin typeface="Arial"/>
                <a:ea typeface="Arial"/>
                <a:cs typeface="Arial"/>
                <a:sym typeface="Arial"/>
              </a:rPr>
              <a:t> הוא סכום הציונים בכל הנושאים. כאן: 6 ועוד 4, כלומר 10.</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Key Score Dominance</a:t>
            </a:r>
            <a:r>
              <a:rPr lang="en-IL" sz="1100">
                <a:latin typeface="Arial"/>
                <a:ea typeface="Arial"/>
                <a:cs typeface="Arial"/>
                <a:sym typeface="Arial"/>
              </a:rPr>
              <a:t> הוא החלק מהציון הכולל ששייך לנושא בעל הציון הגבוה ביותר. כאן: 6 מתוך 10, כלומר 60%.</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a:latin typeface="Arial"/>
                <a:ea typeface="Arial"/>
                <a:cs typeface="Arial"/>
                <a:sym typeface="Arial"/>
              </a:rPr>
              <a:t>לכן בדוגמה הזאת, 80% מהפרסומים עוסקים בחיסונים, אבל נושא החיסונים מרכז 60% מציון הרלוונטיות הכולל.</a:t>
            </a:r>
            <a:endParaRPr sz="1100">
              <a:latin typeface="Arial"/>
              <a:ea typeface="Arial"/>
              <a:cs typeface="Arial"/>
              <a:sym typeface="Arial"/>
            </a:endParaRPr>
          </a:p>
          <a:p>
            <a:pPr marL="0" lvl="0" indent="0" algn="r" rtl="0">
              <a:spcBef>
                <a:spcPts val="1200"/>
              </a:spcBef>
              <a:spcAft>
                <a:spcPts val="0"/>
              </a:spcAft>
              <a:buNone/>
            </a:pPr>
            <a:endParaRPr/>
          </a:p>
        </p:txBody>
      </p:sp>
      <p:sp>
        <p:nvSpPr>
          <p:cNvPr id="253" name="Google Shape;2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100"/>
              <a:buFont typeface="Arial"/>
              <a:buNone/>
            </a:pPr>
            <a:endParaRPr sz="1100" b="1">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a:t>זה התהליך המלא: בונים את גרף הפעילות המשותפת, מחשבים את מדדי הגרף ואת מדדי התוכן, ומרכזים אותם בווקטור מאפיינים לכל חשבון. הווקטור הזה נכנס למודל שמסווג את החשבון כמשתתף במבצע השפעה או כחשבון שאינו משתתף בו. מימין מוצגת דוגמה למאפיינים של חשבון אחד.</a:t>
            </a:r>
            <a:endParaRPr/>
          </a:p>
          <a:p>
            <a:pPr marL="0" lvl="0" indent="0" algn="r" rtl="0">
              <a:spcBef>
                <a:spcPts val="1200"/>
              </a:spcBef>
              <a:spcAft>
                <a:spcPts val="0"/>
              </a:spcAft>
              <a:buNone/>
            </a:pPr>
            <a:endParaRPr/>
          </a:p>
        </p:txBody>
      </p:sp>
      <p:sp>
        <p:nvSpPr>
          <p:cNvPr id="260" name="Google Shape;26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אחרי שהצגתי איך אנחנו מאפיינים חשבונות, אעבור לניתוח של קבוצות ולתוכן שהן מקדמות יחד.</a:t>
            </a:r>
            <a:endParaRPr/>
          </a:p>
          <a:p>
            <a:pPr marL="0" lvl="0" indent="0" algn="l" rtl="0">
              <a:spcBef>
                <a:spcPts val="1200"/>
              </a:spcBef>
              <a:spcAft>
                <a:spcPts val="0"/>
              </a:spcAft>
              <a:buNone/>
            </a:pPr>
            <a:endParaRPr/>
          </a:p>
        </p:txBody>
      </p:sp>
      <p:sp>
        <p:nvSpPr>
          <p:cNvPr id="293" name="Google Shape;29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ברמת הקבוצה אפשר לזהות דפוסים שקשה לראות כשבוחנים כל חשבון בנפרד. אנחנו רוצים להבין איך החשבונות פועלים יחד, ובאילו נושאים ומסרים הפעילות שלהם מתרכזת. לפני שאציג את הדרכים להגדרת קבוצות, אסביר מהי ליבה בגרף.</a:t>
            </a:r>
            <a:endParaRPr/>
          </a:p>
          <a:p>
            <a:pPr marL="0" lvl="0" indent="0" algn="l" rtl="0">
              <a:spcBef>
                <a:spcPts val="1200"/>
              </a:spcBef>
              <a:spcAft>
                <a:spcPts val="0"/>
              </a:spcAft>
              <a:buNone/>
            </a:pPr>
            <a:endParaRPr/>
          </a:p>
        </p:txBody>
      </p:sp>
      <p:sp>
        <p:nvSpPr>
          <p:cNvPr id="300" name="Google Shape;30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ליבת k היא תת־גרף שבו לכל חשבון יש לפחות k שכנים בתוך אותו תת־גרף. למשל, בליבת 3 לכל חשבון יש לפחות שלושה קשרים לחשבונות אחרים שנמצאים בליבה. מספר הליבה של חשבון הוא ה־k הגבוה ביותר של ליבה שאליה הוא שייך.</a:t>
            </a:r>
            <a:endParaRPr/>
          </a:p>
          <a:p>
            <a:pPr marL="0" lvl="0" indent="0" algn="l" rtl="0">
              <a:spcBef>
                <a:spcPts val="1200"/>
              </a:spcBef>
              <a:spcAft>
                <a:spcPts val="0"/>
              </a:spcAft>
              <a:buNone/>
            </a:pPr>
            <a:endParaRPr/>
          </a:p>
        </p:txBody>
      </p:sp>
      <p:sp>
        <p:nvSpPr>
          <p:cNvPr id="308" name="Google Shape;30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בדוגמה כאן, ארבעת החשבונות בוורוד מחוברים זה לזה, כך שלכל אחד יש שלושה שכנים בתוך הקבוצה. לכן הם שייכים לליבת 3. החשבונות בכחול ובצהוב נמצאים בליבות נמוכות יותר. הדוגמה ממחישה איך מספר הליבה משקף את ההשתייכות למבנה שבו החשבונות מחוברים זה לזה בצפיפות.</a:t>
            </a:r>
            <a:endParaRPr/>
          </a:p>
          <a:p>
            <a:pPr marL="0" lvl="0" indent="0" algn="l" rtl="0">
              <a:spcBef>
                <a:spcPts val="1200"/>
              </a:spcBef>
              <a:spcAft>
                <a:spcPts val="0"/>
              </a:spcAft>
              <a:buNone/>
            </a:pPr>
            <a:endParaRPr/>
          </a:p>
        </p:txBody>
      </p:sp>
      <p:sp>
        <p:nvSpPr>
          <p:cNvPr id="315" name="Google Shape;31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אחרי שהסברנו מהי ליבה, נבחן כמה דרכים להגדרת קבוצות.</a:t>
            </a:r>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קבוצת הליבה:</a:t>
            </a:r>
            <a:r>
              <a:rPr lang="en-IL" sz="1100">
                <a:latin typeface="Arial"/>
                <a:ea typeface="Arial"/>
                <a:cs typeface="Arial"/>
                <a:sym typeface="Arial"/>
              </a:rPr>
              <a:t> החשבונות באותו רכיב קשיר בליבה הגבוהה ביותר של החשבון.</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שכנים ישירים:</a:t>
            </a:r>
            <a:r>
              <a:rPr lang="en-IL" sz="1100">
                <a:latin typeface="Arial"/>
                <a:ea typeface="Arial"/>
                <a:cs typeface="Arial"/>
                <a:sym typeface="Arial"/>
              </a:rPr>
              <a:t> חשבונות עם קשר ישיר לחשבון.</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קהילה:</a:t>
            </a:r>
            <a:r>
              <a:rPr lang="en-IL" sz="1100">
                <a:latin typeface="Arial"/>
                <a:ea typeface="Arial"/>
                <a:cs typeface="Arial"/>
                <a:sym typeface="Arial"/>
              </a:rPr>
              <a:t> חשבונות שהאלגוריתם שייך לאותה קהילה ברשת.</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נושא מוביל משותף:</a:t>
            </a:r>
            <a:r>
              <a:rPr lang="en-IL" sz="1100">
                <a:latin typeface="Arial"/>
                <a:ea typeface="Arial"/>
                <a:cs typeface="Arial"/>
                <a:sym typeface="Arial"/>
              </a:rPr>
              <a:t> חשבונות שעיקר פעילותם באותו נושא.</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זיהוי באמצעות יער אקראי:</a:t>
            </a:r>
            <a:r>
              <a:rPr lang="en-IL" sz="1100">
                <a:latin typeface="Arial"/>
                <a:ea typeface="Arial"/>
                <a:cs typeface="Arial"/>
                <a:sym typeface="Arial"/>
              </a:rPr>
              <a:t> חשבונות שהמודל זיהה כמשתתפים במבצעי השפעה.</a:t>
            </a:r>
            <a:endParaRPr sz="1100">
              <a:latin typeface="Arial"/>
              <a:ea typeface="Arial"/>
              <a:cs typeface="Arial"/>
              <a:sym typeface="Arial"/>
            </a:endParaRPr>
          </a:p>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זיהוי באמצעות הגברת עצים:</a:t>
            </a:r>
            <a:r>
              <a:rPr lang="en-IL" sz="1100">
                <a:latin typeface="Arial"/>
                <a:ea typeface="Arial"/>
                <a:cs typeface="Arial"/>
                <a:sym typeface="Arial"/>
              </a:rPr>
              <a:t> חשבונות שהמודל זיהה כמשתתפים במבצעי השפעה.</a:t>
            </a:r>
            <a:endParaRPr/>
          </a:p>
          <a:p>
            <a:pPr marL="0" lvl="0" indent="0" algn="r" rtl="0">
              <a:lnSpc>
                <a:spcPct val="115000"/>
              </a:lnSpc>
              <a:spcBef>
                <a:spcPts val="1200"/>
              </a:spcBef>
              <a:spcAft>
                <a:spcPts val="0"/>
              </a:spcAft>
              <a:buClr>
                <a:schemeClr val="dk1"/>
              </a:buClr>
              <a:buSzPts val="1100"/>
              <a:buFont typeface="Arial"/>
              <a:buNone/>
            </a:pPr>
            <a:r>
              <a:rPr lang="en-IL"/>
              <a:t>. בהמשך נשווה מה מתקבל בכל אחת מהאפשרויות.</a:t>
            </a:r>
            <a:endParaRPr/>
          </a:p>
          <a:p>
            <a:pPr marL="0" lvl="0" indent="0" algn="r" rtl="0">
              <a:spcBef>
                <a:spcPts val="1200"/>
              </a:spcBef>
              <a:spcAft>
                <a:spcPts val="0"/>
              </a:spcAft>
              <a:buNone/>
            </a:pPr>
            <a:endParaRPr/>
          </a:p>
        </p:txBody>
      </p:sp>
      <p:sp>
        <p:nvSpPr>
          <p:cNvPr id="344" name="Google Shape;34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h2e08d342f2b398b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None/>
            </a:pPr>
            <a:r>
              <a:rPr lang="en-IL"/>
              <a:t>אנחנו משווים את הקבוצות לפי שני מדדים. הראשון הוא שיעור החשבונות בקבוצה שמתויגים כמשתתפים במבצע השפעה. השני הוא מידת ההתאמה בנושא הפעילות שלהם. </a:t>
            </a:r>
            <a:r>
              <a:rPr lang="en-IL" b="1"/>
              <a:t>המטרה היא למצוא קבוצות שמשלבות ריכוז של חשבונות מבצע השפעה עם פעילות בנושא משותף</a:t>
            </a:r>
            <a:r>
              <a:rPr lang="en-IL"/>
              <a:t>.</a:t>
            </a:r>
            <a:endParaRPr/>
          </a:p>
          <a:p>
            <a:pPr marL="0" lvl="0" indent="0" algn="r" rtl="1">
              <a:spcBef>
                <a:spcPts val="1200"/>
              </a:spcBef>
              <a:spcAft>
                <a:spcPts val="0"/>
              </a:spcAft>
              <a:buNone/>
            </a:pPr>
            <a:r>
              <a:rPr lang="en-IL"/>
              <a:t>אנו בוחרים רכיבים קשירים מסוג k-core לצורך ניתוח מעמיק יותר, שכן הם מספקים איזון מיטבי בין ריכוזיות IO לבין התאמה נושאית.</a:t>
            </a:r>
            <a:endParaRPr/>
          </a:p>
        </p:txBody>
      </p:sp>
      <p:sp>
        <p:nvSpPr>
          <p:cNvPr id="351" name="Google Shape;351;h2e08d342f2b398b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sz="1100" b="1">
                <a:latin typeface="Arial"/>
                <a:ea typeface="Arial"/>
                <a:cs typeface="Arial"/>
                <a:sym typeface="Arial"/>
              </a:rPr>
              <a:t>הקשרים בגרף שלנו מבטאים דמיון בפעילות. לכן ליבה גבוהה יכולה להצביע על קבוצה שבה חשבונות רבים חולקים דפוסי פעילות. אנחנו משתמשים במבנה הזה כדי לבחור קבוצה לחקירה, ואז בוחנים את הפרסומים שלה כדי להבין מה היא מקדמת. את המסרים עצמם צריך להסיק מהתוכן.</a:t>
            </a:r>
            <a:endParaRPr sz="1100" b="1">
              <a:latin typeface="Arial"/>
              <a:ea typeface="Arial"/>
              <a:cs typeface="Arial"/>
              <a:sym typeface="Arial"/>
            </a:endParaRPr>
          </a:p>
          <a:p>
            <a:pPr marL="0" lvl="0" indent="0" algn="r" rtl="0">
              <a:spcBef>
                <a:spcPts val="1200"/>
              </a:spcBef>
              <a:spcAft>
                <a:spcPts val="0"/>
              </a:spcAft>
              <a:buNone/>
            </a:pPr>
            <a:endParaRPr sz="1100" b="1">
              <a:latin typeface="Arial"/>
              <a:ea typeface="Arial"/>
              <a:cs typeface="Arial"/>
              <a:sym typeface="Arial"/>
            </a:endParaRPr>
          </a:p>
        </p:txBody>
      </p:sp>
      <p:sp>
        <p:nvSpPr>
          <p:cNvPr id="358" name="Google Shape;35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המאגר כולל חשבונות מקמפיינים מאומתים של מבצעי השפעה, לצד חשבונות ביקורת שעסקו בנושאים דומים ובתקופות דומות. לכל חשבון יש תווית, ולכן אנחנו יכולים לבדוק את ביצועי הזיהוי מול התיוג הקיים. המאגר המלא כולל 26 קמפיינים ויותר מ־303 אלף חשבונות.</a:t>
            </a:r>
            <a:endParaRPr/>
          </a:p>
          <a:p>
            <a:pPr marL="0" lvl="0" indent="0" algn="l" rtl="0">
              <a:spcBef>
                <a:spcPts val="1200"/>
              </a:spcBef>
              <a:spcAft>
                <a:spcPts val="0"/>
              </a:spcAft>
              <a:buNone/>
            </a:pPr>
            <a:endParaRPr/>
          </a:p>
        </p:txBody>
      </p:sp>
      <p:sp>
        <p:nvSpPr>
          <p:cNvPr id="376" name="Google Shape;3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a:t>בדקנו שני תרחישים. בראשון, האימון והבדיקה מתבצעים על חשבונות מאותו קמפיין. בשני, אנחנו מאמנים על קמפיינים אחרים ובודקים על קמפיין שלא השתתף באימון. התרחיש השני בוחן עד כמה הדפוסים שהמודל למד עוברים בין קמפיינים.</a:t>
            </a:r>
            <a:endParaRPr/>
          </a:p>
          <a:p>
            <a:pPr marL="0" lvl="0" indent="0" algn="l" rtl="0">
              <a:spcBef>
                <a:spcPts val="1200"/>
              </a:spcBef>
              <a:spcAft>
                <a:spcPts val="0"/>
              </a:spcAft>
              <a:buNone/>
            </a:pPr>
            <a:endParaRPr/>
          </a:p>
        </p:txBody>
      </p:sp>
      <p:sp>
        <p:nvSpPr>
          <p:cNvPr id="383" name="Google Shape;38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b="1"/>
              <a:t>כל תרשים מציג את חשיבות המדדים בקמפיין אחר. ככל שהעמודה ארוכה יותר, התרומה הממוצעת של המדד לתחזיות גדולה יותר.</a:t>
            </a:r>
            <a:endParaRPr b="1"/>
          </a:p>
          <a:p>
            <a:pPr marL="0" lvl="0" indent="0" algn="r" rtl="0">
              <a:lnSpc>
                <a:spcPct val="115000"/>
              </a:lnSpc>
              <a:spcBef>
                <a:spcPts val="1200"/>
              </a:spcBef>
              <a:spcAft>
                <a:spcPts val="0"/>
              </a:spcAft>
              <a:buClr>
                <a:schemeClr val="dk1"/>
              </a:buClr>
              <a:buSzPts val="1100"/>
              <a:buFont typeface="Arial"/>
              <a:buNone/>
            </a:pPr>
            <a:r>
              <a:rPr lang="en-IL" b="1"/>
              <a:t>המדד המוביל משתנה בין הקמפיינים: בחלקם בולטת הקהילה, ובאחרים הנושא המוביל או מדדי מרכזיות. זה תומך בשימוש בכמה מדדים משלימים. החשיבות כאן מתארת את התנהגות המודל, ולא קשר סיבתי.</a:t>
            </a:r>
            <a:endParaRPr b="1"/>
          </a:p>
          <a:p>
            <a:pPr marL="0" lvl="0" indent="0" algn="r" rtl="0">
              <a:spcBef>
                <a:spcPts val="1200"/>
              </a:spcBef>
              <a:spcAft>
                <a:spcPts val="0"/>
              </a:spcAft>
              <a:buClr>
                <a:schemeClr val="dk1"/>
              </a:buClr>
              <a:buSzPts val="1200"/>
              <a:buFont typeface="Calibri"/>
              <a:buNone/>
            </a:pPr>
            <a:endParaRPr b="1"/>
          </a:p>
        </p:txBody>
      </p:sp>
      <p:sp>
        <p:nvSpPr>
          <p:cNvPr id="400" name="Google Shape;40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b="1"/>
              <a:t>בתוך אותו קמפיין קיבלנו ROC-AUC ממוצע של 0.990, ובבדיקה על קמפיין שלא השתתף באימון קיבלנו 0.933. אלה תוצאות טובות של יכולת ההבחנה, אבל הן אינן אחוזי דיוק.</a:t>
            </a:r>
            <a:endParaRPr b="1"/>
          </a:p>
          <a:p>
            <a:pPr marL="0" lvl="0" indent="0" algn="r" rtl="0">
              <a:lnSpc>
                <a:spcPct val="115000"/>
              </a:lnSpc>
              <a:spcBef>
                <a:spcPts val="1200"/>
              </a:spcBef>
              <a:spcAft>
                <a:spcPts val="0"/>
              </a:spcAft>
              <a:buClr>
                <a:schemeClr val="dk1"/>
              </a:buClr>
              <a:buSzPts val="1100"/>
              <a:buFont typeface="Arial"/>
              <a:buNone/>
            </a:pPr>
            <a:r>
              <a:rPr lang="en-IL" b="1"/>
              <a:t>יש גם שונות משמעותית בין הקמפיינים. למשל, בסין ה־PR-AUC בבדיקה בין קמפיינים יורד ל־0.072. לכן התוצאה הממוצעת מעודדת, אבל ההכללה לקמפיינים חדשים עדיין דורשת שיפור. ההשוואה ל־IOHunter בתחתית נעשתה בהיקפי אימון שונים, ולכן צריך לפרש אותה בזהירות.</a:t>
            </a:r>
            <a:endParaRPr b="1"/>
          </a:p>
          <a:p>
            <a:pPr marL="0" lvl="0" indent="0" algn="r" rtl="0">
              <a:spcBef>
                <a:spcPts val="1200"/>
              </a:spcBef>
              <a:spcAft>
                <a:spcPts val="0"/>
              </a:spcAft>
              <a:buNone/>
            </a:pPr>
            <a:endParaRPr b="1"/>
          </a:p>
        </p:txBody>
      </p:sp>
      <p:sp>
        <p:nvSpPr>
          <p:cNvPr id="410" name="Google Shape;410;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 name="Google Shape;42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spcBef>
                <a:spcPts val="0"/>
              </a:spcBef>
              <a:spcAft>
                <a:spcPts val="0"/>
              </a:spcAft>
              <a:buNone/>
            </a:pPr>
            <a:r>
              <a:rPr lang="en-IL"/>
              <a:t>הסבר להצגה:</a:t>
            </a:r>
            <a:endParaRPr/>
          </a:p>
          <a:p>
            <a:pPr marL="0" lvl="0" indent="0" algn="r" rtl="1">
              <a:spcBef>
                <a:spcPts val="0"/>
              </a:spcBef>
              <a:spcAft>
                <a:spcPts val="0"/>
              </a:spcAft>
              <a:buNone/>
            </a:pPr>
            <a:r>
              <a:rPr lang="en-IL"/>
              <a:t>שקופית 12 מציגה את התוצאות של ההשוואה שהסברנו בשקופית 11: מה מתקבל כשמגדירים קבוצות בדרכים שונות.</a:t>
            </a:r>
            <a:endParaRPr/>
          </a:p>
          <a:p>
            <a:pPr marL="0" lvl="0" indent="0" algn="r" rtl="1">
              <a:spcBef>
                <a:spcPts val="0"/>
              </a:spcBef>
              <a:spcAft>
                <a:spcPts val="0"/>
              </a:spcAft>
              <a:buNone/>
            </a:pPr>
            <a:r>
              <a:rPr lang="en-IL"/>
              <a:t>כך קוראים את הגרף:</a:t>
            </a:r>
            <a:endParaRPr/>
          </a:p>
          <a:p>
            <a:pPr marL="0" lvl="0" indent="0" algn="r" rtl="1">
              <a:spcBef>
                <a:spcPts val="0"/>
              </a:spcBef>
              <a:spcAft>
                <a:spcPts val="0"/>
              </a:spcAft>
              <a:buNone/>
            </a:pPr>
            <a:r>
              <a:rPr lang="en-IL"/>
              <a:t>• כל עמודה היא קמפיין אחר, וכל צבע מייצג שיטה להגדרת קבוצה. כל נקודה מציגה את הממוצע של אותה שיטה.</a:t>
            </a:r>
            <a:endParaRPr/>
          </a:p>
          <a:p>
            <a:pPr marL="0" lvl="0" indent="0" algn="r" rtl="1">
              <a:spcBef>
                <a:spcPts val="0"/>
              </a:spcBef>
              <a:spcAft>
                <a:spcPts val="0"/>
              </a:spcAft>
              <a:buNone/>
            </a:pPr>
            <a:r>
              <a:rPr lang="en-IL"/>
              <a:t>• ככל שהנקודה ימינה, שיעור החשבונות של מבצע ההשפעה בקבוצות גבוה יותר.</a:t>
            </a:r>
            <a:endParaRPr/>
          </a:p>
          <a:p>
            <a:pPr marL="0" lvl="0" indent="0" algn="r" rtl="1">
              <a:spcBef>
                <a:spcPts val="0"/>
              </a:spcBef>
              <a:spcAft>
                <a:spcPts val="0"/>
              </a:spcAft>
              <a:buNone/>
            </a:pPr>
            <a:r>
              <a:rPr lang="en-IL"/>
              <a:t>• ככל שהנקודה למעלה, יותר חשבונות בקבוצות חולקים את הנושא המוביל של החשבון שבוחנים.</a:t>
            </a:r>
            <a:endParaRPr/>
          </a:p>
          <a:p>
            <a:pPr marL="0" lvl="0" indent="0" algn="r" rtl="1">
              <a:spcBef>
                <a:spcPts val="0"/>
              </a:spcBef>
              <a:spcAft>
                <a:spcPts val="0"/>
              </a:spcAft>
              <a:buNone/>
            </a:pPr>
            <a:r>
              <a:rPr lang="en-IL"/>
              <a:t>• לכן מחפשים שילוב של ימינה ולמעלה.</a:t>
            </a:r>
            <a:endParaRPr/>
          </a:p>
          <a:p>
            <a:pPr marL="0" lvl="0" indent="0" algn="r" rtl="1">
              <a:spcBef>
                <a:spcPts val="0"/>
              </a:spcBef>
              <a:spcAft>
                <a:spcPts val="0"/>
              </a:spcAft>
              <a:buNone/>
            </a:pPr>
            <a:r>
              <a:rPr lang="en-IL"/>
              <a:t>• בשורה התחתונה הניתוח כולל את כלל החשבונות. בשורה העליונה מגבילים את בניית הקבוצות לחשבונות שהמודל סיווג כחשבונות של מבצע השפעה.</a:t>
            </a:r>
            <a:endParaRPr/>
          </a:p>
          <a:p>
            <a:pPr marL="0" lvl="0" indent="0" algn="r" rtl="1">
              <a:spcBef>
                <a:spcPts val="0"/>
              </a:spcBef>
              <a:spcAft>
                <a:spcPts val="0"/>
              </a:spcAft>
              <a:buNone/>
            </a:pPr>
            <a:r>
              <a:rPr lang="en-IL"/>
              <a:t>מה לומדים?</a:t>
            </a:r>
            <a:endParaRPr/>
          </a:p>
          <a:p>
            <a:pPr marL="0" lvl="0" indent="0" algn="r" rtl="1">
              <a:spcBef>
                <a:spcPts val="0"/>
              </a:spcBef>
              <a:spcAft>
                <a:spcPts val="0"/>
              </a:spcAft>
              <a:buNone/>
            </a:pPr>
            <a:r>
              <a:rPr lang="en-IL"/>
              <a:t>• קבוצות לפי נושא משותף נמצאות למעלה, כי זו ההגדרה שלהן, אבל הן עשויות לכלול הרבה חשבונות שאינם חלק ממבצע השפעה.</a:t>
            </a:r>
            <a:endParaRPr/>
          </a:p>
          <a:p>
            <a:pPr marL="0" lvl="0" indent="0" algn="r" rtl="1">
              <a:spcBef>
                <a:spcPts val="0"/>
              </a:spcBef>
              <a:spcAft>
                <a:spcPts val="0"/>
              </a:spcAft>
              <a:buNone/>
            </a:pPr>
            <a:r>
              <a:rPr lang="en-IL"/>
              <a:t>• קבוצות המבוססות על ליבה ושכנים ישירים מציעות שילוב מועיל של ריכוז חשבונות מבצע השפעה והתאמה בנושא. האיזון משתנה בין הקמפיינים.</a:t>
            </a:r>
            <a:endParaRPr/>
          </a:p>
          <a:p>
            <a:pPr marL="0" lvl="0" indent="0" algn="r" rtl="1">
              <a:spcBef>
                <a:spcPts val="0"/>
              </a:spcBef>
              <a:spcAft>
                <a:spcPts val="0"/>
              </a:spcAft>
              <a:buNone/>
            </a:pPr>
            <a:r>
              <a:rPr lang="en-IL"/>
              <a:t>אפשר לומר בהצגה: בדקנו אילו קבוצות מרכזות גם חשבונות של מבצע השפעה וגם פעילות בנושא משותף. קבוצות המבוססות על ליבה ושכנים ישירים סיפקו בסיס מועיל להמשך החקירה.</a:t>
            </a:r>
            <a:endParaRPr/>
          </a:p>
          <a:p>
            <a:pPr marL="0" lvl="0" indent="0" algn="r" rtl="1">
              <a:spcBef>
                <a:spcPts val="0"/>
              </a:spcBef>
              <a:spcAft>
                <a:spcPts val="0"/>
              </a:spcAft>
              <a:buNone/>
            </a:pPr>
            <a:endParaRPr/>
          </a:p>
        </p:txBody>
      </p:sp>
      <p:sp>
        <p:nvSpPr>
          <p:cNvPr id="425" name="Google Shape;425;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b="1"/>
              <a:t>בשני האיורים מוצגת אותה רשת ובאותם מיקומים. משמאל הצבע מייצג את מספר הליבה, ומימין הוא מייצג את התיוג הידוע של החשבונות.</a:t>
            </a:r>
            <a:endParaRPr b="1"/>
          </a:p>
          <a:p>
            <a:pPr marL="0" lvl="0" indent="0" algn="r" rtl="0">
              <a:lnSpc>
                <a:spcPct val="115000"/>
              </a:lnSpc>
              <a:spcBef>
                <a:spcPts val="1200"/>
              </a:spcBef>
              <a:spcAft>
                <a:spcPts val="0"/>
              </a:spcAft>
              <a:buClr>
                <a:schemeClr val="dk1"/>
              </a:buClr>
              <a:buSzPts val="1100"/>
              <a:buFont typeface="Arial"/>
              <a:buNone/>
            </a:pPr>
            <a:r>
              <a:rPr lang="en-IL" b="1"/>
              <a:t>אפשר לראות חפיפה בין אזורים בעלי מספר ליבה גבוה לבין ריכוזים של חשבונות מבצע השפעה. זו המחשה לתפקיד של המבנה, אבל היא לא אומרת שכל חשבון בליבה הוא חשבון מבצע השפעה. עכשיו נראה איך בחרנו קבוצה מתוך הרשת הזאת ובחנו את פעילותה.</a:t>
            </a:r>
            <a:endParaRPr b="1"/>
          </a:p>
          <a:p>
            <a:pPr marL="0" lvl="0" indent="0" algn="r" rtl="0">
              <a:spcBef>
                <a:spcPts val="1200"/>
              </a:spcBef>
              <a:spcAft>
                <a:spcPts val="0"/>
              </a:spcAft>
              <a:buClr>
                <a:schemeClr val="dk1"/>
              </a:buClr>
              <a:buSzPts val="1200"/>
              <a:buFont typeface="Calibri"/>
              <a:buNone/>
            </a:pPr>
            <a:endParaRPr b="1"/>
          </a:p>
        </p:txBody>
      </p:sp>
      <p:sp>
        <p:nvSpPr>
          <p:cNvPr id="435" name="Google Shape;43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h44a970ce36d02707_0_59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בחירת הקבוצה:</a:t>
            </a:r>
            <a:r>
              <a:rPr lang="en-IL" sz="1100">
                <a:latin typeface="Arial"/>
                <a:ea typeface="Arial"/>
                <a:cs typeface="Arial"/>
                <a:sym typeface="Arial"/>
              </a:rPr>
              <a:t> בחרנו רכיב קשיר של 312 חשבונות בליבה הגבוהה ביותר ברשת.</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בחירת חלון הזמן:</a:t>
            </a:r>
            <a:r>
              <a:rPr lang="en-IL" sz="1100">
                <a:latin typeface="Arial"/>
                <a:ea typeface="Arial"/>
                <a:cs typeface="Arial"/>
                <a:sym typeface="Arial"/>
              </a:rPr>
              <a:t> בחרנו 15 דקות עם המספר הגבוה ביותר של זוגות חשבונות שהשתמשו באותם האשטגים.</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ניתוח הפעילות:</a:t>
            </a:r>
            <a:r>
              <a:rPr lang="en-IL" sz="1100">
                <a:latin typeface="Arial"/>
                <a:ea typeface="Arial"/>
                <a:cs typeface="Arial"/>
                <a:sym typeface="Arial"/>
              </a:rPr>
              <a:t> בדקנו כמה פרסמו, מה שיתפו ובאילו האשטגים השתמשו.</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ניתוח התוכן:</a:t>
            </a:r>
            <a:r>
              <a:rPr lang="en-IL" sz="1100">
                <a:latin typeface="Arial"/>
                <a:ea typeface="Arial"/>
                <a:cs typeface="Arial"/>
                <a:sym typeface="Arial"/>
              </a:rPr>
              <a:t> בדקנו אילו מסרים פוליטיים הקבוצה הפיצה וקידמה.</a:t>
            </a:r>
            <a:endParaRPr sz="1100">
              <a:latin typeface="Arial"/>
              <a:ea typeface="Arial"/>
              <a:cs typeface="Arial"/>
              <a:sym typeface="Arial"/>
            </a:endParaRPr>
          </a:p>
          <a:p>
            <a:pPr marL="0" lvl="0" indent="0" algn="r" rtl="0">
              <a:spcBef>
                <a:spcPts val="0"/>
              </a:spcBef>
              <a:spcAft>
                <a:spcPts val="0"/>
              </a:spcAft>
              <a:buNone/>
            </a:pPr>
            <a:endParaRPr/>
          </a:p>
        </p:txBody>
      </p:sp>
      <p:sp>
        <p:nvSpPr>
          <p:cNvPr id="445" name="Google Shape;445;h44a970ce36d02707_0_5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lnSpc>
                <a:spcPct val="115000"/>
              </a:lnSpc>
              <a:spcBef>
                <a:spcPts val="1200"/>
              </a:spcBef>
              <a:spcAft>
                <a:spcPts val="0"/>
              </a:spcAft>
              <a:buClr>
                <a:schemeClr val="dk1"/>
              </a:buClr>
              <a:buSzPts val="1100"/>
              <a:buFont typeface="Arial"/>
              <a:buNone/>
            </a:pPr>
            <a:r>
              <a:rPr lang="en-IL" sz="1100">
                <a:latin typeface="Arial"/>
                <a:ea typeface="Arial"/>
                <a:cs typeface="Arial"/>
                <a:sym typeface="Arial"/>
              </a:rPr>
              <a:t>ב־15 הדקות שנבחרו:</a:t>
            </a:r>
            <a:endParaRPr sz="1100">
              <a:latin typeface="Arial"/>
              <a:ea typeface="Arial"/>
              <a:cs typeface="Arial"/>
              <a:sym typeface="Arial"/>
            </a:endParaRPr>
          </a:p>
          <a:p>
            <a:pPr marL="457200" lvl="0" indent="-298450" algn="r" rtl="0">
              <a:lnSpc>
                <a:spcPct val="115000"/>
              </a:lnSpc>
              <a:spcBef>
                <a:spcPts val="1200"/>
              </a:spcBef>
              <a:spcAft>
                <a:spcPts val="0"/>
              </a:spcAft>
              <a:buClr>
                <a:schemeClr val="dk1"/>
              </a:buClr>
              <a:buSzPts val="1100"/>
              <a:buChar char="●"/>
            </a:pPr>
            <a:r>
              <a:rPr lang="en-IL" sz="1100" b="1">
                <a:latin typeface="Arial"/>
                <a:ea typeface="Arial"/>
                <a:cs typeface="Arial"/>
                <a:sym typeface="Arial"/>
              </a:rPr>
              <a:t>פעילות:</a:t>
            </a:r>
            <a:r>
              <a:rPr lang="en-IL" sz="1100">
                <a:latin typeface="Arial"/>
                <a:ea typeface="Arial"/>
                <a:cs typeface="Arial"/>
                <a:sym typeface="Arial"/>
              </a:rPr>
              <a:t> 15 חשבונות פרסמו 244 פוסטים.</a:t>
            </a:r>
            <a:endParaRPr sz="1100">
              <a:latin typeface="Arial"/>
              <a:ea typeface="Arial"/>
              <a:cs typeface="Arial"/>
              <a:sym typeface="Arial"/>
            </a:endParaRPr>
          </a:p>
          <a:p>
            <a:pPr marL="457200" lvl="0" indent="-298450" algn="r" rtl="0">
              <a:lnSpc>
                <a:spcPct val="115000"/>
              </a:lnSpc>
              <a:spcBef>
                <a:spcPts val="0"/>
              </a:spcBef>
              <a:spcAft>
                <a:spcPts val="0"/>
              </a:spcAft>
              <a:buClr>
                <a:schemeClr val="dk1"/>
              </a:buClr>
              <a:buSzPts val="1100"/>
              <a:buChar char="●"/>
            </a:pPr>
            <a:r>
              <a:rPr lang="en-IL" sz="1100" b="1">
                <a:latin typeface="Arial"/>
                <a:ea typeface="Arial"/>
                <a:cs typeface="Arial"/>
                <a:sym typeface="Arial"/>
              </a:rPr>
              <a:t>שיתופים:</a:t>
            </a:r>
            <a:r>
              <a:rPr lang="en-IL" sz="1100">
                <a:latin typeface="Arial"/>
                <a:ea typeface="Arial"/>
                <a:cs typeface="Arial"/>
                <a:sym typeface="Arial"/>
              </a:rPr>
              <a:t> 242 מהפוסטים היו שיתופים חוזרים.</a:t>
            </a:r>
            <a:endParaRPr sz="1100">
              <a:latin typeface="Arial"/>
              <a:ea typeface="Arial"/>
              <a:cs typeface="Arial"/>
              <a:sym typeface="Arial"/>
            </a:endParaRPr>
          </a:p>
          <a:p>
            <a:pPr marL="457200" lvl="0" indent="-298450" algn="r" rtl="0">
              <a:lnSpc>
                <a:spcPct val="115000"/>
              </a:lnSpc>
              <a:spcBef>
                <a:spcPts val="0"/>
              </a:spcBef>
              <a:spcAft>
                <a:spcPts val="0"/>
              </a:spcAft>
              <a:buClr>
                <a:schemeClr val="dk1"/>
              </a:buClr>
              <a:buSzPts val="1100"/>
              <a:buChar char="●"/>
            </a:pPr>
            <a:r>
              <a:rPr lang="en-IL" sz="1100" b="1">
                <a:latin typeface="Arial"/>
                <a:ea typeface="Arial"/>
                <a:cs typeface="Arial"/>
                <a:sym typeface="Arial"/>
              </a:rPr>
              <a:t>האשטגים:</a:t>
            </a:r>
            <a:r>
              <a:rPr lang="en-IL" sz="1100">
                <a:latin typeface="Arial"/>
                <a:ea typeface="Arial"/>
                <a:cs typeface="Arial"/>
                <a:sym typeface="Arial"/>
              </a:rPr>
              <a:t> נעשה שימוש ב־30 האשטגים משותפים.</a:t>
            </a:r>
            <a:endParaRPr sz="1100">
              <a:latin typeface="Arial"/>
              <a:ea typeface="Arial"/>
              <a:cs typeface="Arial"/>
              <a:sym typeface="Arial"/>
            </a:endParaRPr>
          </a:p>
          <a:p>
            <a:pPr marL="457200" lvl="0" indent="-298450" algn="r" rtl="0">
              <a:lnSpc>
                <a:spcPct val="115000"/>
              </a:lnSpc>
              <a:spcBef>
                <a:spcPts val="0"/>
              </a:spcBef>
              <a:spcAft>
                <a:spcPts val="0"/>
              </a:spcAft>
              <a:buClr>
                <a:schemeClr val="dk1"/>
              </a:buClr>
              <a:buSzPts val="1100"/>
              <a:buChar char="●"/>
            </a:pPr>
            <a:r>
              <a:rPr lang="en-IL" sz="1100" b="1">
                <a:latin typeface="Arial"/>
                <a:ea typeface="Arial"/>
                <a:cs typeface="Arial"/>
                <a:sym typeface="Arial"/>
              </a:rPr>
              <a:t>תוכן:</a:t>
            </a:r>
            <a:r>
              <a:rPr lang="en-IL" sz="1100">
                <a:latin typeface="Arial"/>
                <a:ea typeface="Arial"/>
                <a:cs typeface="Arial"/>
                <a:sym typeface="Arial"/>
              </a:rPr>
              <a:t> 16 מתוך 19 פוסטי המקור ששותפו עסקו בפוליטיקה אמריקאית.</a:t>
            </a:r>
            <a:endParaRPr sz="1100">
              <a:latin typeface="Arial"/>
              <a:ea typeface="Arial"/>
              <a:cs typeface="Arial"/>
              <a:sym typeface="Arial"/>
            </a:endParaRPr>
          </a:p>
          <a:p>
            <a:pPr marL="457200" lvl="0" indent="-298450" algn="r" rtl="0">
              <a:lnSpc>
                <a:spcPct val="115000"/>
              </a:lnSpc>
              <a:spcBef>
                <a:spcPts val="0"/>
              </a:spcBef>
              <a:spcAft>
                <a:spcPts val="0"/>
              </a:spcAft>
              <a:buClr>
                <a:schemeClr val="dk1"/>
              </a:buClr>
              <a:buSzPts val="1100"/>
              <a:buChar char="●"/>
            </a:pPr>
            <a:r>
              <a:rPr lang="en-IL" sz="1100" b="1">
                <a:latin typeface="Arial"/>
                <a:ea typeface="Arial"/>
                <a:cs typeface="Arial"/>
                <a:sym typeface="Arial"/>
              </a:rPr>
              <a:t>המסר המרכזי:</a:t>
            </a:r>
            <a:r>
              <a:rPr lang="en-IL" sz="1100">
                <a:latin typeface="Arial"/>
                <a:ea typeface="Arial"/>
                <a:cs typeface="Arial"/>
                <a:sym typeface="Arial"/>
              </a:rPr>
              <a:t> ביקורת על טראמפ והתנגדות לחקיקת מס.</a:t>
            </a:r>
            <a:endParaRPr sz="1100">
              <a:latin typeface="Arial"/>
              <a:ea typeface="Arial"/>
              <a:cs typeface="Arial"/>
              <a:sym typeface="Arial"/>
            </a:endParaRPr>
          </a:p>
          <a:p>
            <a:pPr marL="457200" lvl="0" indent="-298450" algn="r" rtl="0">
              <a:lnSpc>
                <a:spcPct val="115000"/>
              </a:lnSpc>
              <a:spcBef>
                <a:spcPts val="0"/>
              </a:spcBef>
              <a:spcAft>
                <a:spcPts val="0"/>
              </a:spcAft>
              <a:buClr>
                <a:schemeClr val="dk1"/>
              </a:buClr>
              <a:buSzPts val="1100"/>
              <a:buChar char="●"/>
            </a:pPr>
            <a:r>
              <a:rPr lang="en-IL" sz="1100" b="1">
                <a:latin typeface="Arial"/>
                <a:ea typeface="Arial"/>
                <a:cs typeface="Arial"/>
                <a:sym typeface="Arial"/>
              </a:rPr>
              <a:t>הממצא:</a:t>
            </a:r>
            <a:r>
              <a:rPr lang="en-IL" sz="1100">
                <a:latin typeface="Arial"/>
                <a:ea typeface="Arial"/>
                <a:cs typeface="Arial"/>
                <a:sym typeface="Arial"/>
              </a:rPr>
              <a:t> הקבוצה הגבירה את הפצת המסרים באמצעות שיתופים חוזרים.</a:t>
            </a:r>
            <a:endParaRPr sz="1100">
              <a:latin typeface="Arial"/>
              <a:ea typeface="Arial"/>
              <a:cs typeface="Arial"/>
              <a:sym typeface="Arial"/>
            </a:endParaRPr>
          </a:p>
          <a:p>
            <a:pPr marL="0" lvl="0" indent="0" algn="r" rtl="0">
              <a:spcBef>
                <a:spcPts val="1200"/>
              </a:spcBef>
              <a:spcAft>
                <a:spcPts val="0"/>
              </a:spcAft>
              <a:buNone/>
            </a:pPr>
            <a:endParaRPr/>
          </a:p>
        </p:txBody>
      </p:sp>
      <p:sp>
        <p:nvSpPr>
          <p:cNvPr id="467" name="Google Shape;46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h2e08d342f2b398b2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h2e08d342f2b398b2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זיהוי חשבונות:</a:t>
            </a:r>
            <a:r>
              <a:rPr lang="en-IL" sz="1100">
                <a:latin typeface="Arial"/>
                <a:ea typeface="Arial"/>
                <a:cs typeface="Arial"/>
                <a:sym typeface="Arial"/>
              </a:rPr>
              <a:t> מדדים ניתנים לפרשנות, עם ביצועי זיהוי ממוצעים של 0.990 בתוך קמפיינים ו־0.933 בין קמפיינים.</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חשיבות המדדים:</a:t>
            </a:r>
            <a:r>
              <a:rPr lang="en-IL" sz="1100">
                <a:latin typeface="Arial"/>
                <a:ea typeface="Arial"/>
                <a:cs typeface="Arial"/>
                <a:sym typeface="Arial"/>
              </a:rPr>
              <a:t> השתנתה בין הקמפיינים.</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ניתוח קבוצות:</a:t>
            </a:r>
            <a:r>
              <a:rPr lang="en-IL" sz="1100">
                <a:latin typeface="Arial"/>
                <a:ea typeface="Arial"/>
                <a:cs typeface="Arial"/>
                <a:sym typeface="Arial"/>
              </a:rPr>
              <a:t> קבוצות הליבה שילבו ריכוז גבוה של חשבונות השפעה ודמיון בנושאי הפעילות.</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המקרה האיראני:</a:t>
            </a:r>
            <a:r>
              <a:rPr lang="en-IL" sz="1100">
                <a:latin typeface="Arial"/>
                <a:ea typeface="Arial"/>
                <a:cs typeface="Arial"/>
                <a:sym typeface="Arial"/>
              </a:rPr>
              <a:t> 15 חשבונות פרסמו 244 פוסטים ב־15 דקות, מהם 242 שיתופים חוזרים.</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המסרים:</a:t>
            </a:r>
            <a:r>
              <a:rPr lang="en-IL" sz="1100">
                <a:latin typeface="Arial"/>
                <a:ea typeface="Arial"/>
                <a:cs typeface="Arial"/>
                <a:sym typeface="Arial"/>
              </a:rPr>
              <a:t> 16 מתוך 19 פוסטי המקור ששותפו עסקו בפוליטיקה אמריקאית.</a:t>
            </a:r>
            <a:endParaRPr sz="1100">
              <a:latin typeface="Arial"/>
              <a:ea typeface="Arial"/>
              <a:cs typeface="Arial"/>
              <a:sym typeface="Arial"/>
            </a:endParaRPr>
          </a:p>
          <a:p>
            <a:pPr marL="0" lvl="0" indent="0" algn="r" rtl="0">
              <a:spcBef>
                <a:spcPts val="0"/>
              </a:spcBef>
              <a:spcAft>
                <a:spcPts val="0"/>
              </a:spcAft>
              <a:buClr>
                <a:schemeClr val="dk1"/>
              </a:buClr>
              <a:buSzPts val="1100"/>
              <a:buFont typeface="Arial"/>
              <a:buNone/>
            </a:pPr>
            <a:r>
              <a:rPr lang="en-IL" sz="1100" b="1">
                <a:latin typeface="Arial"/>
                <a:ea typeface="Arial"/>
                <a:cs typeface="Arial"/>
                <a:sym typeface="Arial"/>
              </a:rPr>
              <a:t>התרומה:</a:t>
            </a:r>
            <a:r>
              <a:rPr lang="en-IL" sz="1100">
                <a:latin typeface="Arial"/>
                <a:ea typeface="Arial"/>
                <a:cs typeface="Arial"/>
                <a:sym typeface="Arial"/>
              </a:rPr>
              <a:t> חשיפת המסר המשותף שמאחורי הפעילות המתואמת.</a:t>
            </a:r>
            <a:endParaRPr sz="1100">
              <a:latin typeface="Arial"/>
              <a:ea typeface="Arial"/>
              <a:cs typeface="Arial"/>
              <a:sym typeface="Arial"/>
            </a:endParaRPr>
          </a:p>
          <a:p>
            <a:pPr marL="0" lvl="0" indent="0" algn="r" rtl="0">
              <a:spcBef>
                <a:spcPts val="0"/>
              </a:spcBef>
              <a:spcAft>
                <a:spcPts val="0"/>
              </a:spcAft>
              <a:buNone/>
            </a:pPr>
            <a:endParaRPr/>
          </a:p>
        </p:txBody>
      </p:sp>
      <p:sp>
        <p:nvSpPr>
          <p:cNvPr id="481" name="Google Shape;48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2"/>
          <p:cNvSpPr txBox="1">
            <a:spLocks noGrp="1"/>
          </p:cNvSpPr>
          <p:nvPr>
            <p:ph type="ctrTitle"/>
          </p:nvPr>
        </p:nvSpPr>
        <p:spPr>
          <a:xfrm>
            <a:off x="1865376" y="1354011"/>
            <a:ext cx="9144000"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9DBB"/>
              </a:buClr>
              <a:buSzPts val="4800"/>
              <a:buFont typeface="Calibri"/>
              <a:buNone/>
              <a:defRPr sz="4800">
                <a:solidFill>
                  <a:srgbClr val="009DBB"/>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2"/>
          <p:cNvSpPr txBox="1">
            <a:spLocks noGrp="1"/>
          </p:cNvSpPr>
          <p:nvPr>
            <p:ph type="subTitle" idx="1"/>
          </p:nvPr>
        </p:nvSpPr>
        <p:spPr>
          <a:xfrm>
            <a:off x="1865376" y="4218431"/>
            <a:ext cx="9144000" cy="1374013"/>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888888"/>
              </a:buClr>
              <a:buSzPts val="2000"/>
              <a:buNone/>
              <a:defRPr sz="2000">
                <a:solidFill>
                  <a:srgbClr val="888888"/>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32"/>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2"/>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2"/>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33"/>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3"/>
          <p:cNvSpPr txBox="1">
            <a:spLocks noGrp="1"/>
          </p:cNvSpPr>
          <p:nvPr>
            <p:ph type="body" idx="1"/>
          </p:nvPr>
        </p:nvSpPr>
        <p:spPr>
          <a:xfrm>
            <a:off x="1236991" y="1821101"/>
            <a:ext cx="5181600" cy="435133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3"/>
          <p:cNvSpPr txBox="1">
            <a:spLocks noGrp="1"/>
          </p:cNvSpPr>
          <p:nvPr>
            <p:ph type="body" idx="2"/>
          </p:nvPr>
        </p:nvSpPr>
        <p:spPr>
          <a:xfrm>
            <a:off x="6570991" y="1821101"/>
            <a:ext cx="5181600" cy="435133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3"/>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3"/>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3"/>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34"/>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34"/>
          <p:cNvSpPr txBox="1">
            <a:spLocks noGrp="1"/>
          </p:cNvSpPr>
          <p:nvPr>
            <p:ph type="body" idx="1"/>
          </p:nvPr>
        </p:nvSpPr>
        <p:spPr>
          <a:xfrm>
            <a:off x="1243087" y="1825625"/>
            <a:ext cx="10582656" cy="4351338"/>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Font typeface="Courier New"/>
              <a:buChar char="o"/>
              <a:defRPr sz="2000"/>
            </a:lvl2pPr>
            <a:lvl3pPr marL="1371600" lvl="2" indent="-342900" algn="l">
              <a:lnSpc>
                <a:spcPct val="90000"/>
              </a:lnSpc>
              <a:spcBef>
                <a:spcPts val="500"/>
              </a:spcBef>
              <a:spcAft>
                <a:spcPts val="0"/>
              </a:spcAft>
              <a:buClr>
                <a:schemeClr val="dk1"/>
              </a:buClr>
              <a:buSzPts val="1800"/>
              <a:buFont typeface="Noto Sans Symbols"/>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4"/>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4"/>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4"/>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35"/>
          <p:cNvSpPr txBox="1">
            <a:spLocks noGrp="1"/>
          </p:cNvSpPr>
          <p:nvPr>
            <p:ph type="title"/>
          </p:nvPr>
        </p:nvSpPr>
        <p:spPr>
          <a:xfrm>
            <a:off x="1479550" y="1709738"/>
            <a:ext cx="7852146"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9DBB"/>
              </a:buClr>
              <a:buSzPts val="5400"/>
              <a:buFont typeface="Calibri"/>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5"/>
          <p:cNvSpPr txBox="1">
            <a:spLocks noGrp="1"/>
          </p:cNvSpPr>
          <p:nvPr>
            <p:ph type="body" idx="1"/>
          </p:nvPr>
        </p:nvSpPr>
        <p:spPr>
          <a:xfrm>
            <a:off x="14795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35"/>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5"/>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5"/>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36"/>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36"/>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36"/>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6"/>
          <p:cNvSpPr txBox="1">
            <a:spLocks noGrp="1"/>
          </p:cNvSpPr>
          <p:nvPr>
            <p:ph type="sldNum" idx="12"/>
          </p:nvPr>
        </p:nvSpPr>
        <p:spPr>
          <a:xfrm>
            <a:off x="11728704" y="6452457"/>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37"/>
          <p:cNvSpPr txBox="1">
            <a:spLocks noGrp="1"/>
          </p:cNvSpPr>
          <p:nvPr>
            <p:ph type="title"/>
          </p:nvPr>
        </p:nvSpPr>
        <p:spPr>
          <a:xfrm>
            <a:off x="3083117" y="355600"/>
            <a:ext cx="874312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4400"/>
              <a:buFont typeface="Calibri"/>
              <a:buNone/>
              <a:defRPr sz="4400">
                <a:solidFill>
                  <a:srgbClr val="009DBB"/>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37"/>
          <p:cNvSpPr txBox="1">
            <a:spLocks noGrp="1"/>
          </p:cNvSpPr>
          <p:nvPr>
            <p:ph type="body" idx="1"/>
          </p:nvPr>
        </p:nvSpPr>
        <p:spPr>
          <a:xfrm>
            <a:off x="1053148" y="1717419"/>
            <a:ext cx="5157787" cy="823912"/>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rgbClr val="009DBB"/>
              </a:buClr>
              <a:buSzPts val="2400"/>
              <a:buNone/>
              <a:defRPr sz="2400">
                <a:solidFill>
                  <a:srgbClr val="009DBB"/>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37"/>
          <p:cNvSpPr txBox="1">
            <a:spLocks noGrp="1"/>
          </p:cNvSpPr>
          <p:nvPr>
            <p:ph type="body" idx="2"/>
          </p:nvPr>
        </p:nvSpPr>
        <p:spPr>
          <a:xfrm>
            <a:off x="1053148" y="2511171"/>
            <a:ext cx="5157787" cy="368458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37"/>
          <p:cNvSpPr txBox="1">
            <a:spLocks noGrp="1"/>
          </p:cNvSpPr>
          <p:nvPr>
            <p:ph type="body" idx="3"/>
          </p:nvPr>
        </p:nvSpPr>
        <p:spPr>
          <a:xfrm>
            <a:off x="6641752" y="1717419"/>
            <a:ext cx="5183188" cy="823912"/>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rgbClr val="009DBB"/>
              </a:buClr>
              <a:buSzPts val="2400"/>
              <a:buNone/>
              <a:defRPr sz="2400">
                <a:solidFill>
                  <a:srgbClr val="009DBB"/>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37"/>
          <p:cNvSpPr txBox="1">
            <a:spLocks noGrp="1"/>
          </p:cNvSpPr>
          <p:nvPr>
            <p:ph type="body" idx="4"/>
          </p:nvPr>
        </p:nvSpPr>
        <p:spPr>
          <a:xfrm>
            <a:off x="6641752" y="2517267"/>
            <a:ext cx="5183188" cy="368458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37"/>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37"/>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7"/>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38"/>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8"/>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8"/>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39"/>
          <p:cNvSpPr txBox="1">
            <a:spLocks noGrp="1"/>
          </p:cNvSpPr>
          <p:nvPr>
            <p:ph type="title"/>
          </p:nvPr>
        </p:nvSpPr>
        <p:spPr>
          <a:xfrm>
            <a:off x="1912684" y="981329"/>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9DBB"/>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39"/>
          <p:cNvSpPr txBox="1">
            <a:spLocks noGrp="1"/>
          </p:cNvSpPr>
          <p:nvPr>
            <p:ph type="body" idx="1"/>
          </p:nvPr>
        </p:nvSpPr>
        <p:spPr>
          <a:xfrm>
            <a:off x="5920804" y="987425"/>
            <a:ext cx="617220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39"/>
          <p:cNvSpPr txBox="1">
            <a:spLocks noGrp="1"/>
          </p:cNvSpPr>
          <p:nvPr>
            <p:ph type="body" idx="2"/>
          </p:nvPr>
        </p:nvSpPr>
        <p:spPr>
          <a:xfrm>
            <a:off x="1912684" y="2581529"/>
            <a:ext cx="3932237" cy="329514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39"/>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9"/>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40"/>
          <p:cNvSpPr txBox="1">
            <a:spLocks noGrp="1"/>
          </p:cNvSpPr>
          <p:nvPr>
            <p:ph type="title"/>
          </p:nvPr>
        </p:nvSpPr>
        <p:spPr>
          <a:xfrm>
            <a:off x="2127173"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9DBB"/>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40"/>
          <p:cNvSpPr>
            <a:spLocks noGrp="1"/>
          </p:cNvSpPr>
          <p:nvPr>
            <p:ph type="pic" idx="2"/>
          </p:nvPr>
        </p:nvSpPr>
        <p:spPr>
          <a:xfrm>
            <a:off x="6096000" y="987425"/>
            <a:ext cx="5259387" cy="4873625"/>
          </a:xfrm>
          <a:prstGeom prst="rect">
            <a:avLst/>
          </a:prstGeom>
          <a:noFill/>
          <a:ln>
            <a:noFill/>
          </a:ln>
        </p:spPr>
      </p:sp>
      <p:sp>
        <p:nvSpPr>
          <p:cNvPr id="70" name="Google Shape;70;p40"/>
          <p:cNvSpPr txBox="1">
            <a:spLocks noGrp="1"/>
          </p:cNvSpPr>
          <p:nvPr>
            <p:ph type="body" idx="1"/>
          </p:nvPr>
        </p:nvSpPr>
        <p:spPr>
          <a:xfrm>
            <a:off x="2127173"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40"/>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0"/>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txBox="1">
            <a:spLocks noGrp="1"/>
          </p:cNvSpPr>
          <p:nvPr>
            <p:ph type="body" idx="1"/>
          </p:nvPr>
        </p:nvSpPr>
        <p:spPr>
          <a:xfrm rot="5400000">
            <a:off x="4392274" y="-1256506"/>
            <a:ext cx="4351338" cy="105156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1"/>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1"/>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4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42"/>
          <p:cNvSpPr txBox="1">
            <a:spLocks noGrp="1"/>
          </p:cNvSpPr>
          <p:nvPr>
            <p:ph type="body" idx="1"/>
          </p:nvPr>
        </p:nvSpPr>
        <p:spPr>
          <a:xfrm rot="5400000">
            <a:off x="2035402" y="-360135"/>
            <a:ext cx="5811838" cy="7262357"/>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2"/>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42"/>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42"/>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Workflow">
  <p:cSld name="Workflow">
    <p:spTree>
      <p:nvGrpSpPr>
        <p:cNvPr id="1" name="Shape 86"/>
        <p:cNvGrpSpPr/>
        <p:nvPr/>
      </p:nvGrpSpPr>
      <p:grpSpPr>
        <a:xfrm>
          <a:off x="0" y="0"/>
          <a:ext cx="0" cy="0"/>
          <a:chOff x="0" y="0"/>
          <a:chExt cx="0" cy="0"/>
        </a:xfrm>
      </p:grpSpPr>
      <p:sp>
        <p:nvSpPr>
          <p:cNvPr id="87" name="Google Shape;87;p43"/>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3"/>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43"/>
          <p:cNvSpPr txBox="1">
            <a:spLocks noGrp="1"/>
          </p:cNvSpPr>
          <p:nvPr>
            <p:ph type="sldNum" idx="12"/>
          </p:nvPr>
        </p:nvSpPr>
        <p:spPr>
          <a:xfrm>
            <a:off x="11728704" y="6476841"/>
            <a:ext cx="452233"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pic>
        <p:nvPicPr>
          <p:cNvPr id="90" name="Google Shape;90;p43" descr="A document with text on it&#10;&#10;AI-generated content may be incorrect."/>
          <p:cNvPicPr preferRelativeResize="0"/>
          <p:nvPr/>
        </p:nvPicPr>
        <p:blipFill rotWithShape="1">
          <a:blip r:embed="rId2">
            <a:alphaModFix/>
          </a:blip>
          <a:srcRect l="11606" t="8664" r="8034" b="78094"/>
          <a:stretch/>
        </p:blipFill>
        <p:spPr>
          <a:xfrm>
            <a:off x="1038256" y="2478278"/>
            <a:ext cx="10821413" cy="2294289"/>
          </a:xfrm>
          <a:prstGeom prst="rect">
            <a:avLst/>
          </a:prstGeom>
          <a:noFill/>
          <a:ln>
            <a:noFill/>
          </a:ln>
        </p:spPr>
      </p:pic>
      <p:sp>
        <p:nvSpPr>
          <p:cNvPr id="91" name="Google Shape;91;p43"/>
          <p:cNvSpPr txBox="1"/>
          <p:nvPr/>
        </p:nvSpPr>
        <p:spPr>
          <a:xfrm>
            <a:off x="3072268" y="679697"/>
            <a:ext cx="8753475"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L" sz="4400" b="0">
                <a:solidFill>
                  <a:srgbClr val="009DBB"/>
                </a:solidFill>
                <a:latin typeface="Calibri"/>
                <a:ea typeface="Calibri"/>
                <a:cs typeface="Calibri"/>
                <a:sym typeface="Calibri"/>
              </a:rPr>
              <a:t>Workflow</a:t>
            </a:r>
            <a:endParaRPr sz="4400" b="0">
              <a:solidFill>
                <a:srgbClr val="009DBB"/>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0"/>
        <p:cNvGrpSpPr/>
        <p:nvPr/>
      </p:nvGrpSpPr>
      <p:grpSpPr>
        <a:xfrm>
          <a:off x="0" y="0"/>
          <a:ext cx="0" cy="0"/>
          <a:chOff x="0" y="0"/>
          <a:chExt cx="0" cy="0"/>
        </a:xfrm>
      </p:grpSpPr>
      <p:sp>
        <p:nvSpPr>
          <p:cNvPr id="101" name="Google Shape;101;h44a970ce36d02707_0_820"/>
          <p:cNvSpPr txBox="1">
            <a:spLocks noGrp="1"/>
          </p:cNvSpPr>
          <p:nvPr>
            <p:ph type="ctrTitle"/>
          </p:nvPr>
        </p:nvSpPr>
        <p:spPr>
          <a:xfrm>
            <a:off x="1865376" y="1354011"/>
            <a:ext cx="9144000" cy="2387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9DBB"/>
              </a:buClr>
              <a:buSzPts val="4800"/>
              <a:buFont typeface="Calibri"/>
              <a:buNone/>
              <a:defRPr sz="4800">
                <a:solidFill>
                  <a:srgbClr val="009DBB"/>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h44a970ce36d02707_0_820"/>
          <p:cNvSpPr txBox="1">
            <a:spLocks noGrp="1"/>
          </p:cNvSpPr>
          <p:nvPr>
            <p:ph type="subTitle" idx="1"/>
          </p:nvPr>
        </p:nvSpPr>
        <p:spPr>
          <a:xfrm>
            <a:off x="1865376" y="4218431"/>
            <a:ext cx="9144000" cy="1374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888888"/>
              </a:buClr>
              <a:buSzPts val="2000"/>
              <a:buNone/>
              <a:defRPr sz="2000">
                <a:solidFill>
                  <a:srgbClr val="888888"/>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3" name="Google Shape;103;h44a970ce36d02707_0_820"/>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h44a970ce36d02707_0_820"/>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h44a970ce36d02707_0_820"/>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6"/>
        <p:cNvGrpSpPr/>
        <p:nvPr/>
      </p:nvGrpSpPr>
      <p:grpSpPr>
        <a:xfrm>
          <a:off x="0" y="0"/>
          <a:ext cx="0" cy="0"/>
          <a:chOff x="0" y="0"/>
          <a:chExt cx="0" cy="0"/>
        </a:xfrm>
      </p:grpSpPr>
      <p:sp>
        <p:nvSpPr>
          <p:cNvPr id="107" name="Google Shape;107;h44a970ce36d02707_0_826"/>
          <p:cNvSpPr txBox="1">
            <a:spLocks noGrp="1"/>
          </p:cNvSpPr>
          <p:nvPr>
            <p:ph type="title"/>
          </p:nvPr>
        </p:nvSpPr>
        <p:spPr>
          <a:xfrm>
            <a:off x="3072268" y="401637"/>
            <a:ext cx="87534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h44a970ce36d02707_0_826"/>
          <p:cNvSpPr txBox="1">
            <a:spLocks noGrp="1"/>
          </p:cNvSpPr>
          <p:nvPr>
            <p:ph type="body" idx="1"/>
          </p:nvPr>
        </p:nvSpPr>
        <p:spPr>
          <a:xfrm>
            <a:off x="1236991" y="1821101"/>
            <a:ext cx="5181600" cy="4351200"/>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h44a970ce36d02707_0_826"/>
          <p:cNvSpPr txBox="1">
            <a:spLocks noGrp="1"/>
          </p:cNvSpPr>
          <p:nvPr>
            <p:ph type="body" idx="2"/>
          </p:nvPr>
        </p:nvSpPr>
        <p:spPr>
          <a:xfrm>
            <a:off x="6570991" y="1821101"/>
            <a:ext cx="5181600" cy="4351200"/>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h44a970ce36d02707_0_826"/>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h44a970ce36d02707_0_826"/>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h44a970ce36d02707_0_826"/>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3"/>
        <p:cNvGrpSpPr/>
        <p:nvPr/>
      </p:nvGrpSpPr>
      <p:grpSpPr>
        <a:xfrm>
          <a:off x="0" y="0"/>
          <a:ext cx="0" cy="0"/>
          <a:chOff x="0" y="0"/>
          <a:chExt cx="0" cy="0"/>
        </a:xfrm>
      </p:grpSpPr>
      <p:sp>
        <p:nvSpPr>
          <p:cNvPr id="114" name="Google Shape;114;h44a970ce36d02707_0_833"/>
          <p:cNvSpPr txBox="1">
            <a:spLocks noGrp="1"/>
          </p:cNvSpPr>
          <p:nvPr>
            <p:ph type="title"/>
          </p:nvPr>
        </p:nvSpPr>
        <p:spPr>
          <a:xfrm>
            <a:off x="3072268" y="401637"/>
            <a:ext cx="87534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h44a970ce36d02707_0_833"/>
          <p:cNvSpPr txBox="1">
            <a:spLocks noGrp="1"/>
          </p:cNvSpPr>
          <p:nvPr>
            <p:ph type="body" idx="1"/>
          </p:nvPr>
        </p:nvSpPr>
        <p:spPr>
          <a:xfrm>
            <a:off x="1243087" y="1825625"/>
            <a:ext cx="10582800" cy="43512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Font typeface="Courier New"/>
              <a:buChar char="o"/>
              <a:defRPr sz="2000"/>
            </a:lvl2pPr>
            <a:lvl3pPr marL="1371600" lvl="2" indent="-342900" algn="l">
              <a:lnSpc>
                <a:spcPct val="90000"/>
              </a:lnSpc>
              <a:spcBef>
                <a:spcPts val="500"/>
              </a:spcBef>
              <a:spcAft>
                <a:spcPts val="0"/>
              </a:spcAft>
              <a:buClr>
                <a:schemeClr val="dk1"/>
              </a:buClr>
              <a:buSzPts val="1800"/>
              <a:buFont typeface="Noto Sans Symbols"/>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h44a970ce36d02707_0_833"/>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h44a970ce36d02707_0_833"/>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h44a970ce36d02707_0_833"/>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9"/>
        <p:cNvGrpSpPr/>
        <p:nvPr/>
      </p:nvGrpSpPr>
      <p:grpSpPr>
        <a:xfrm>
          <a:off x="0" y="0"/>
          <a:ext cx="0" cy="0"/>
          <a:chOff x="0" y="0"/>
          <a:chExt cx="0" cy="0"/>
        </a:xfrm>
      </p:grpSpPr>
      <p:sp>
        <p:nvSpPr>
          <p:cNvPr id="120" name="Google Shape;120;h44a970ce36d02707_0_839"/>
          <p:cNvSpPr txBox="1">
            <a:spLocks noGrp="1"/>
          </p:cNvSpPr>
          <p:nvPr>
            <p:ph type="title"/>
          </p:nvPr>
        </p:nvSpPr>
        <p:spPr>
          <a:xfrm>
            <a:off x="1479550" y="1709738"/>
            <a:ext cx="78522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9DBB"/>
              </a:buClr>
              <a:buSzPts val="5400"/>
              <a:buFont typeface="Calibri"/>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h44a970ce36d02707_0_839"/>
          <p:cNvSpPr txBox="1">
            <a:spLocks noGrp="1"/>
          </p:cNvSpPr>
          <p:nvPr>
            <p:ph type="body" idx="1"/>
          </p:nvPr>
        </p:nvSpPr>
        <p:spPr>
          <a:xfrm>
            <a:off x="14795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22" name="Google Shape;122;h44a970ce36d02707_0_839"/>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h44a970ce36d02707_0_839"/>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h44a970ce36d02707_0_839"/>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5"/>
        <p:cNvGrpSpPr/>
        <p:nvPr/>
      </p:nvGrpSpPr>
      <p:grpSpPr>
        <a:xfrm>
          <a:off x="0" y="0"/>
          <a:ext cx="0" cy="0"/>
          <a:chOff x="0" y="0"/>
          <a:chExt cx="0" cy="0"/>
        </a:xfrm>
      </p:grpSpPr>
      <p:sp>
        <p:nvSpPr>
          <p:cNvPr id="126" name="Google Shape;126;h44a970ce36d02707_0_845"/>
          <p:cNvSpPr txBox="1">
            <a:spLocks noGrp="1"/>
          </p:cNvSpPr>
          <p:nvPr>
            <p:ph type="title"/>
          </p:nvPr>
        </p:nvSpPr>
        <p:spPr>
          <a:xfrm>
            <a:off x="3072268" y="401637"/>
            <a:ext cx="87534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h44a970ce36d02707_0_845"/>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h44a970ce36d02707_0_845"/>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h44a970ce36d02707_0_845"/>
          <p:cNvSpPr txBox="1">
            <a:spLocks noGrp="1"/>
          </p:cNvSpPr>
          <p:nvPr>
            <p:ph type="sldNum" idx="12"/>
          </p:nvPr>
        </p:nvSpPr>
        <p:spPr>
          <a:xfrm>
            <a:off x="11728704" y="6452457"/>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0"/>
        <p:cNvGrpSpPr/>
        <p:nvPr/>
      </p:nvGrpSpPr>
      <p:grpSpPr>
        <a:xfrm>
          <a:off x="0" y="0"/>
          <a:ext cx="0" cy="0"/>
          <a:chOff x="0" y="0"/>
          <a:chExt cx="0" cy="0"/>
        </a:xfrm>
      </p:grpSpPr>
      <p:sp>
        <p:nvSpPr>
          <p:cNvPr id="131" name="Google Shape;131;h44a970ce36d02707_0_850"/>
          <p:cNvSpPr txBox="1">
            <a:spLocks noGrp="1"/>
          </p:cNvSpPr>
          <p:nvPr>
            <p:ph type="title"/>
          </p:nvPr>
        </p:nvSpPr>
        <p:spPr>
          <a:xfrm>
            <a:off x="3083117" y="355600"/>
            <a:ext cx="87432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4400"/>
              <a:buFont typeface="Calibri"/>
              <a:buNone/>
              <a:defRPr sz="4400">
                <a:solidFill>
                  <a:srgbClr val="009DBB"/>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h44a970ce36d02707_0_850"/>
          <p:cNvSpPr txBox="1">
            <a:spLocks noGrp="1"/>
          </p:cNvSpPr>
          <p:nvPr>
            <p:ph type="body" idx="1"/>
          </p:nvPr>
        </p:nvSpPr>
        <p:spPr>
          <a:xfrm>
            <a:off x="1053148" y="1717419"/>
            <a:ext cx="5157900" cy="8238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rgbClr val="009DBB"/>
              </a:buClr>
              <a:buSzPts val="2400"/>
              <a:buNone/>
              <a:defRPr sz="2400">
                <a:solidFill>
                  <a:srgbClr val="009DBB"/>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3" name="Google Shape;133;h44a970ce36d02707_0_850"/>
          <p:cNvSpPr txBox="1">
            <a:spLocks noGrp="1"/>
          </p:cNvSpPr>
          <p:nvPr>
            <p:ph type="body" idx="2"/>
          </p:nvPr>
        </p:nvSpPr>
        <p:spPr>
          <a:xfrm>
            <a:off x="1053148" y="2511171"/>
            <a:ext cx="5157900" cy="3684600"/>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h44a970ce36d02707_0_850"/>
          <p:cNvSpPr txBox="1">
            <a:spLocks noGrp="1"/>
          </p:cNvSpPr>
          <p:nvPr>
            <p:ph type="body" idx="3"/>
          </p:nvPr>
        </p:nvSpPr>
        <p:spPr>
          <a:xfrm>
            <a:off x="6641752" y="1717419"/>
            <a:ext cx="5183100" cy="823800"/>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rgbClr val="009DBB"/>
              </a:buClr>
              <a:buSzPts val="2400"/>
              <a:buNone/>
              <a:defRPr sz="2400">
                <a:solidFill>
                  <a:srgbClr val="009DBB"/>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5" name="Google Shape;135;h44a970ce36d02707_0_850"/>
          <p:cNvSpPr txBox="1">
            <a:spLocks noGrp="1"/>
          </p:cNvSpPr>
          <p:nvPr>
            <p:ph type="body" idx="4"/>
          </p:nvPr>
        </p:nvSpPr>
        <p:spPr>
          <a:xfrm>
            <a:off x="6641752" y="2517267"/>
            <a:ext cx="5183100" cy="3684600"/>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h44a970ce36d02707_0_850"/>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h44a970ce36d02707_0_850"/>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h44a970ce36d02707_0_850"/>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9"/>
        <p:cNvGrpSpPr/>
        <p:nvPr/>
      </p:nvGrpSpPr>
      <p:grpSpPr>
        <a:xfrm>
          <a:off x="0" y="0"/>
          <a:ext cx="0" cy="0"/>
          <a:chOff x="0" y="0"/>
          <a:chExt cx="0" cy="0"/>
        </a:xfrm>
      </p:grpSpPr>
      <p:sp>
        <p:nvSpPr>
          <p:cNvPr id="140" name="Google Shape;140;h44a970ce36d02707_0_859"/>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h44a970ce36d02707_0_859"/>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h44a970ce36d02707_0_859"/>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3"/>
        <p:cNvGrpSpPr/>
        <p:nvPr/>
      </p:nvGrpSpPr>
      <p:grpSpPr>
        <a:xfrm>
          <a:off x="0" y="0"/>
          <a:ext cx="0" cy="0"/>
          <a:chOff x="0" y="0"/>
          <a:chExt cx="0" cy="0"/>
        </a:xfrm>
      </p:grpSpPr>
      <p:sp>
        <p:nvSpPr>
          <p:cNvPr id="144" name="Google Shape;144;h44a970ce36d02707_0_863"/>
          <p:cNvSpPr txBox="1">
            <a:spLocks noGrp="1"/>
          </p:cNvSpPr>
          <p:nvPr>
            <p:ph type="title"/>
          </p:nvPr>
        </p:nvSpPr>
        <p:spPr>
          <a:xfrm>
            <a:off x="1912684" y="981329"/>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9DBB"/>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h44a970ce36d02707_0_863"/>
          <p:cNvSpPr txBox="1">
            <a:spLocks noGrp="1"/>
          </p:cNvSpPr>
          <p:nvPr>
            <p:ph type="body" idx="1"/>
          </p:nvPr>
        </p:nvSpPr>
        <p:spPr>
          <a:xfrm>
            <a:off x="5920804" y="987425"/>
            <a:ext cx="61722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6" name="Google Shape;146;h44a970ce36d02707_0_863"/>
          <p:cNvSpPr txBox="1">
            <a:spLocks noGrp="1"/>
          </p:cNvSpPr>
          <p:nvPr>
            <p:ph type="body" idx="2"/>
          </p:nvPr>
        </p:nvSpPr>
        <p:spPr>
          <a:xfrm>
            <a:off x="1912684" y="2581529"/>
            <a:ext cx="3932100" cy="3295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7" name="Google Shape;147;h44a970ce36d02707_0_863"/>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h44a970ce36d02707_0_863"/>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h44a970ce36d02707_0_863"/>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0"/>
        <p:cNvGrpSpPr/>
        <p:nvPr/>
      </p:nvGrpSpPr>
      <p:grpSpPr>
        <a:xfrm>
          <a:off x="0" y="0"/>
          <a:ext cx="0" cy="0"/>
          <a:chOff x="0" y="0"/>
          <a:chExt cx="0" cy="0"/>
        </a:xfrm>
      </p:grpSpPr>
      <p:sp>
        <p:nvSpPr>
          <p:cNvPr id="151" name="Google Shape;151;h44a970ce36d02707_0_870"/>
          <p:cNvSpPr txBox="1">
            <a:spLocks noGrp="1"/>
          </p:cNvSpPr>
          <p:nvPr>
            <p:ph type="title"/>
          </p:nvPr>
        </p:nvSpPr>
        <p:spPr>
          <a:xfrm>
            <a:off x="2127173" y="987424"/>
            <a:ext cx="3932100" cy="10701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9DBB"/>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h44a970ce36d02707_0_870"/>
          <p:cNvSpPr>
            <a:spLocks noGrp="1"/>
          </p:cNvSpPr>
          <p:nvPr>
            <p:ph type="pic" idx="2"/>
          </p:nvPr>
        </p:nvSpPr>
        <p:spPr>
          <a:xfrm>
            <a:off x="6096000" y="987425"/>
            <a:ext cx="5259300" cy="4873500"/>
          </a:xfrm>
          <a:prstGeom prst="rect">
            <a:avLst/>
          </a:prstGeom>
          <a:noFill/>
          <a:ln>
            <a:noFill/>
          </a:ln>
        </p:spPr>
      </p:sp>
      <p:sp>
        <p:nvSpPr>
          <p:cNvPr id="153" name="Google Shape;153;h44a970ce36d02707_0_870"/>
          <p:cNvSpPr txBox="1">
            <a:spLocks noGrp="1"/>
          </p:cNvSpPr>
          <p:nvPr>
            <p:ph type="body" idx="1"/>
          </p:nvPr>
        </p:nvSpPr>
        <p:spPr>
          <a:xfrm>
            <a:off x="2127173"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4" name="Google Shape;154;h44a970ce36d02707_0_870"/>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h44a970ce36d02707_0_870"/>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h44a970ce36d02707_0_870"/>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7"/>
        <p:cNvGrpSpPr/>
        <p:nvPr/>
      </p:nvGrpSpPr>
      <p:grpSpPr>
        <a:xfrm>
          <a:off x="0" y="0"/>
          <a:ext cx="0" cy="0"/>
          <a:chOff x="0" y="0"/>
          <a:chExt cx="0" cy="0"/>
        </a:xfrm>
      </p:grpSpPr>
      <p:sp>
        <p:nvSpPr>
          <p:cNvPr id="158" name="Google Shape;158;h44a970ce36d02707_0_877"/>
          <p:cNvSpPr txBox="1">
            <a:spLocks noGrp="1"/>
          </p:cNvSpPr>
          <p:nvPr>
            <p:ph type="title"/>
          </p:nvPr>
        </p:nvSpPr>
        <p:spPr>
          <a:xfrm>
            <a:off x="3072268" y="401637"/>
            <a:ext cx="87534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h44a970ce36d02707_0_877"/>
          <p:cNvSpPr txBox="1">
            <a:spLocks noGrp="1"/>
          </p:cNvSpPr>
          <p:nvPr>
            <p:ph type="body" idx="1"/>
          </p:nvPr>
        </p:nvSpPr>
        <p:spPr>
          <a:xfrm rot="5400000">
            <a:off x="4392343" y="-1256575"/>
            <a:ext cx="4351200" cy="105156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h44a970ce36d02707_0_877"/>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h44a970ce36d02707_0_877"/>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h44a970ce36d02707_0_877"/>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3"/>
        <p:cNvGrpSpPr/>
        <p:nvPr/>
      </p:nvGrpSpPr>
      <p:grpSpPr>
        <a:xfrm>
          <a:off x="0" y="0"/>
          <a:ext cx="0" cy="0"/>
          <a:chOff x="0" y="0"/>
          <a:chExt cx="0" cy="0"/>
        </a:xfrm>
      </p:grpSpPr>
      <p:sp>
        <p:nvSpPr>
          <p:cNvPr id="164" name="Google Shape;164;h44a970ce36d02707_0_883"/>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9DB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h44a970ce36d02707_0_883"/>
          <p:cNvSpPr txBox="1">
            <a:spLocks noGrp="1"/>
          </p:cNvSpPr>
          <p:nvPr>
            <p:ph type="body" idx="1"/>
          </p:nvPr>
        </p:nvSpPr>
        <p:spPr>
          <a:xfrm rot="5400000">
            <a:off x="2035349" y="-360125"/>
            <a:ext cx="5811900" cy="72624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6" name="Google Shape;166;h44a970ce36d02707_0_883"/>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h44a970ce36d02707_0_883"/>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h44a970ce36d02707_0_883"/>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Workflow">
  <p:cSld name="Workflow">
    <p:spTree>
      <p:nvGrpSpPr>
        <p:cNvPr id="1" name="Shape 169"/>
        <p:cNvGrpSpPr/>
        <p:nvPr/>
      </p:nvGrpSpPr>
      <p:grpSpPr>
        <a:xfrm>
          <a:off x="0" y="0"/>
          <a:ext cx="0" cy="0"/>
          <a:chOff x="0" y="0"/>
          <a:chExt cx="0" cy="0"/>
        </a:xfrm>
      </p:grpSpPr>
      <p:sp>
        <p:nvSpPr>
          <p:cNvPr id="170" name="Google Shape;170;h44a970ce36d02707_0_889"/>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1" name="Google Shape;171;h44a970ce36d02707_0_889"/>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2" name="Google Shape;172;h44a970ce36d02707_0_889"/>
          <p:cNvSpPr txBox="1">
            <a:spLocks noGrp="1"/>
          </p:cNvSpPr>
          <p:nvPr>
            <p:ph type="sldNum" idx="12"/>
          </p:nvPr>
        </p:nvSpPr>
        <p:spPr>
          <a:xfrm>
            <a:off x="11728704" y="6476841"/>
            <a:ext cx="452100" cy="3651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L"/>
              <a:t>‹#›</a:t>
            </a:fld>
            <a:endParaRPr/>
          </a:p>
        </p:txBody>
      </p:sp>
      <p:pic>
        <p:nvPicPr>
          <p:cNvPr id="173" name="Google Shape;173;h44a970ce36d02707_0_889" descr="A document with text on it&#10;&#10;AI-generated content may be incorrect."/>
          <p:cNvPicPr preferRelativeResize="0"/>
          <p:nvPr/>
        </p:nvPicPr>
        <p:blipFill rotWithShape="1">
          <a:blip r:embed="rId2">
            <a:alphaModFix/>
          </a:blip>
          <a:srcRect l="11606" t="8664" r="8034" b="78094"/>
          <a:stretch/>
        </p:blipFill>
        <p:spPr>
          <a:xfrm>
            <a:off x="1038256" y="2478278"/>
            <a:ext cx="10821413" cy="2294288"/>
          </a:xfrm>
          <a:prstGeom prst="rect">
            <a:avLst/>
          </a:prstGeom>
          <a:noFill/>
          <a:ln>
            <a:noFill/>
          </a:ln>
        </p:spPr>
      </p:pic>
      <p:sp>
        <p:nvSpPr>
          <p:cNvPr id="174" name="Google Shape;174;h44a970ce36d02707_0_889"/>
          <p:cNvSpPr txBox="1"/>
          <p:nvPr/>
        </p:nvSpPr>
        <p:spPr>
          <a:xfrm>
            <a:off x="3072268" y="679697"/>
            <a:ext cx="8753400" cy="76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L" sz="4400" b="0">
                <a:solidFill>
                  <a:srgbClr val="009DBB"/>
                </a:solidFill>
                <a:latin typeface="Calibri"/>
                <a:ea typeface="Calibri"/>
                <a:cs typeface="Calibri"/>
                <a:sym typeface="Calibri"/>
              </a:rPr>
              <a:t>Workflow</a:t>
            </a:r>
            <a:endParaRPr sz="4400" b="0">
              <a:solidFill>
                <a:srgbClr val="009DBB"/>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31"/>
          <p:cNvPicPr preferRelativeResize="0"/>
          <p:nvPr/>
        </p:nvPicPr>
        <p:blipFill rotWithShape="1">
          <a:blip r:embed="rId14">
            <a:alphaModFix/>
          </a:blip>
          <a:srcRect/>
          <a:stretch/>
        </p:blipFill>
        <p:spPr>
          <a:xfrm>
            <a:off x="-333375" y="0"/>
            <a:ext cx="12192000" cy="6858000"/>
          </a:xfrm>
          <a:prstGeom prst="rect">
            <a:avLst/>
          </a:prstGeom>
          <a:noFill/>
          <a:ln>
            <a:noFill/>
          </a:ln>
        </p:spPr>
      </p:pic>
      <p:sp>
        <p:nvSpPr>
          <p:cNvPr id="11" name="Google Shape;11;p31"/>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9DBB"/>
              </a:buClr>
              <a:buSzPts val="4400"/>
              <a:buFont typeface="Calibri"/>
              <a:buNone/>
              <a:defRPr sz="4400" b="0" i="0" u="none" strike="noStrike" cap="none">
                <a:solidFill>
                  <a:srgbClr val="009DBB"/>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31"/>
          <p:cNvSpPr txBox="1">
            <a:spLocks noGrp="1"/>
          </p:cNvSpPr>
          <p:nvPr>
            <p:ph type="body" idx="1"/>
          </p:nvPr>
        </p:nvSpPr>
        <p:spPr>
          <a:xfrm>
            <a:off x="1310143"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 name="Google Shape;13;p31"/>
          <p:cNvSpPr txBox="1">
            <a:spLocks noGrp="1"/>
          </p:cNvSpPr>
          <p:nvPr>
            <p:ph type="dt" idx="10"/>
          </p:nvPr>
        </p:nvSpPr>
        <p:spPr>
          <a:xfrm>
            <a:off x="1310143" y="6356350"/>
            <a:ext cx="27432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1"/>
          <p:cNvSpPr txBox="1">
            <a:spLocks noGrp="1"/>
          </p:cNvSpPr>
          <p:nvPr>
            <p:ph type="ftr" idx="11"/>
          </p:nvPr>
        </p:nvSpPr>
        <p:spPr>
          <a:xfrm>
            <a:off x="4510543"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31"/>
          <p:cNvSpPr txBox="1">
            <a:spLocks noGrp="1"/>
          </p:cNvSpPr>
          <p:nvPr>
            <p:ph type="sldNum" idx="12"/>
          </p:nvPr>
        </p:nvSpPr>
        <p:spPr>
          <a:xfrm>
            <a:off x="11728704" y="6476841"/>
            <a:ext cx="452233"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0" marR="0" lvl="1" indent="0" algn="ctr" rtl="0">
              <a:spcBef>
                <a:spcPts val="0"/>
              </a:spcBef>
              <a:buNone/>
              <a:defRPr sz="1200" b="0" i="0" u="none" strike="noStrike" cap="none">
                <a:solidFill>
                  <a:srgbClr val="888888"/>
                </a:solidFill>
                <a:latin typeface="Calibri"/>
                <a:ea typeface="Calibri"/>
                <a:cs typeface="Calibri"/>
                <a:sym typeface="Calibri"/>
              </a:defRPr>
            </a:lvl2pPr>
            <a:lvl3pPr marL="0" marR="0" lvl="2" indent="0" algn="ctr" rtl="0">
              <a:spcBef>
                <a:spcPts val="0"/>
              </a:spcBef>
              <a:buNone/>
              <a:defRPr sz="1200" b="0" i="0" u="none" strike="noStrike" cap="none">
                <a:solidFill>
                  <a:srgbClr val="888888"/>
                </a:solidFill>
                <a:latin typeface="Calibri"/>
                <a:ea typeface="Calibri"/>
                <a:cs typeface="Calibri"/>
                <a:sym typeface="Calibri"/>
              </a:defRPr>
            </a:lvl3pPr>
            <a:lvl4pPr marL="0" marR="0" lvl="3" indent="0" algn="ctr" rtl="0">
              <a:spcBef>
                <a:spcPts val="0"/>
              </a:spcBef>
              <a:buNone/>
              <a:defRPr sz="1200" b="0" i="0" u="none" strike="noStrike" cap="none">
                <a:solidFill>
                  <a:srgbClr val="888888"/>
                </a:solidFill>
                <a:latin typeface="Calibri"/>
                <a:ea typeface="Calibri"/>
                <a:cs typeface="Calibri"/>
                <a:sym typeface="Calibri"/>
              </a:defRPr>
            </a:lvl4pPr>
            <a:lvl5pPr marL="0" marR="0" lvl="4" indent="0" algn="ctr" rtl="0">
              <a:spcBef>
                <a:spcPts val="0"/>
              </a:spcBef>
              <a:buNone/>
              <a:defRPr sz="1200" b="0" i="0" u="none" strike="noStrike" cap="none">
                <a:solidFill>
                  <a:srgbClr val="888888"/>
                </a:solidFill>
                <a:latin typeface="Calibri"/>
                <a:ea typeface="Calibri"/>
                <a:cs typeface="Calibri"/>
                <a:sym typeface="Calibri"/>
              </a:defRPr>
            </a:lvl5pPr>
            <a:lvl6pPr marL="0" marR="0" lvl="5" indent="0" algn="ctr" rtl="0">
              <a:spcBef>
                <a:spcPts val="0"/>
              </a:spcBef>
              <a:buNone/>
              <a:defRPr sz="1200" b="0" i="0" u="none" strike="noStrike" cap="none">
                <a:solidFill>
                  <a:srgbClr val="888888"/>
                </a:solidFill>
                <a:latin typeface="Calibri"/>
                <a:ea typeface="Calibri"/>
                <a:cs typeface="Calibri"/>
                <a:sym typeface="Calibri"/>
              </a:defRPr>
            </a:lvl6pPr>
            <a:lvl7pPr marL="0" marR="0" lvl="6" indent="0" algn="ctr" rtl="0">
              <a:spcBef>
                <a:spcPts val="0"/>
              </a:spcBef>
              <a:buNone/>
              <a:defRPr sz="1200" b="0" i="0" u="none" strike="noStrike" cap="none">
                <a:solidFill>
                  <a:srgbClr val="888888"/>
                </a:solidFill>
                <a:latin typeface="Calibri"/>
                <a:ea typeface="Calibri"/>
                <a:cs typeface="Calibri"/>
                <a:sym typeface="Calibri"/>
              </a:defRPr>
            </a:lvl7pPr>
            <a:lvl8pPr marL="0" marR="0" lvl="7" indent="0" algn="ctr" rtl="0">
              <a:spcBef>
                <a:spcPts val="0"/>
              </a:spcBef>
              <a:buNone/>
              <a:defRPr sz="1200" b="0" i="0" u="none" strike="noStrike" cap="none">
                <a:solidFill>
                  <a:srgbClr val="888888"/>
                </a:solidFill>
                <a:latin typeface="Calibri"/>
                <a:ea typeface="Calibri"/>
                <a:cs typeface="Calibri"/>
                <a:sym typeface="Calibri"/>
              </a:defRPr>
            </a:lvl8pPr>
            <a:lvl9pPr marL="0" marR="0" lvl="8" indent="0" algn="ctr" rtl="0">
              <a:spcBef>
                <a:spcPts val="0"/>
              </a:spcBef>
              <a:buNone/>
              <a:defRPr sz="1200" b="0" i="0" u="none" strike="noStrike" cap="none">
                <a:solidFill>
                  <a:srgbClr val="888888"/>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L"/>
              <a:t>‹#›</a:t>
            </a:fld>
            <a:endParaRPr/>
          </a:p>
        </p:txBody>
      </p:sp>
      <p:pic>
        <p:nvPicPr>
          <p:cNvPr id="16" name="Google Shape;16;p31"/>
          <p:cNvPicPr preferRelativeResize="0"/>
          <p:nvPr/>
        </p:nvPicPr>
        <p:blipFill rotWithShape="1">
          <a:blip r:embed="rId15">
            <a:alphaModFix/>
          </a:blip>
          <a:srcRect/>
          <a:stretch/>
        </p:blipFill>
        <p:spPr>
          <a:xfrm>
            <a:off x="9052957" y="6139952"/>
            <a:ext cx="2642865" cy="79791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pic>
        <p:nvPicPr>
          <p:cNvPr id="93" name="Google Shape;93;h44a970ce36d02707_0_812"/>
          <p:cNvPicPr preferRelativeResize="0"/>
          <p:nvPr/>
        </p:nvPicPr>
        <p:blipFill rotWithShape="1">
          <a:blip r:embed="rId14">
            <a:alphaModFix/>
          </a:blip>
          <a:srcRect/>
          <a:stretch/>
        </p:blipFill>
        <p:spPr>
          <a:xfrm>
            <a:off x="-333375" y="0"/>
            <a:ext cx="12192000" cy="6858000"/>
          </a:xfrm>
          <a:prstGeom prst="rect">
            <a:avLst/>
          </a:prstGeom>
          <a:noFill/>
          <a:ln>
            <a:noFill/>
          </a:ln>
        </p:spPr>
      </p:pic>
      <p:sp>
        <p:nvSpPr>
          <p:cNvPr id="94" name="Google Shape;94;h44a970ce36d02707_0_812"/>
          <p:cNvSpPr txBox="1">
            <a:spLocks noGrp="1"/>
          </p:cNvSpPr>
          <p:nvPr>
            <p:ph type="title"/>
          </p:nvPr>
        </p:nvSpPr>
        <p:spPr>
          <a:xfrm>
            <a:off x="3072268" y="401637"/>
            <a:ext cx="87534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9DBB"/>
              </a:buClr>
              <a:buSzPts val="4400"/>
              <a:buFont typeface="Calibri"/>
              <a:buNone/>
              <a:defRPr sz="4400" b="0" i="0" u="none" strike="noStrike" cap="none">
                <a:solidFill>
                  <a:srgbClr val="009DBB"/>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5" name="Google Shape;95;h44a970ce36d02707_0_812"/>
          <p:cNvSpPr txBox="1">
            <a:spLocks noGrp="1"/>
          </p:cNvSpPr>
          <p:nvPr>
            <p:ph type="body" idx="1"/>
          </p:nvPr>
        </p:nvSpPr>
        <p:spPr>
          <a:xfrm>
            <a:off x="1310143"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6" name="Google Shape;96;h44a970ce36d02707_0_812"/>
          <p:cNvSpPr txBox="1">
            <a:spLocks noGrp="1"/>
          </p:cNvSpPr>
          <p:nvPr>
            <p:ph type="dt" idx="10"/>
          </p:nvPr>
        </p:nvSpPr>
        <p:spPr>
          <a:xfrm>
            <a:off x="1310143" y="6356350"/>
            <a:ext cx="2743200" cy="3651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7" name="Google Shape;97;h44a970ce36d02707_0_812"/>
          <p:cNvSpPr txBox="1">
            <a:spLocks noGrp="1"/>
          </p:cNvSpPr>
          <p:nvPr>
            <p:ph type="ftr" idx="11"/>
          </p:nvPr>
        </p:nvSpPr>
        <p:spPr>
          <a:xfrm>
            <a:off x="4510543"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h44a970ce36d02707_0_812"/>
          <p:cNvSpPr txBox="1">
            <a:spLocks noGrp="1"/>
          </p:cNvSpPr>
          <p:nvPr>
            <p:ph type="sldNum" idx="12"/>
          </p:nvPr>
        </p:nvSpPr>
        <p:spPr>
          <a:xfrm>
            <a:off x="11728704" y="6476841"/>
            <a:ext cx="452100" cy="3651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0" marR="0" lvl="1" indent="0" algn="ctr" rtl="0">
              <a:spcBef>
                <a:spcPts val="0"/>
              </a:spcBef>
              <a:buNone/>
              <a:defRPr sz="1200" b="0" i="0" u="none" strike="noStrike" cap="none">
                <a:solidFill>
                  <a:srgbClr val="888888"/>
                </a:solidFill>
                <a:latin typeface="Calibri"/>
                <a:ea typeface="Calibri"/>
                <a:cs typeface="Calibri"/>
                <a:sym typeface="Calibri"/>
              </a:defRPr>
            </a:lvl2pPr>
            <a:lvl3pPr marL="0" marR="0" lvl="2" indent="0" algn="ctr" rtl="0">
              <a:spcBef>
                <a:spcPts val="0"/>
              </a:spcBef>
              <a:buNone/>
              <a:defRPr sz="1200" b="0" i="0" u="none" strike="noStrike" cap="none">
                <a:solidFill>
                  <a:srgbClr val="888888"/>
                </a:solidFill>
                <a:latin typeface="Calibri"/>
                <a:ea typeface="Calibri"/>
                <a:cs typeface="Calibri"/>
                <a:sym typeface="Calibri"/>
              </a:defRPr>
            </a:lvl3pPr>
            <a:lvl4pPr marL="0" marR="0" lvl="3" indent="0" algn="ctr" rtl="0">
              <a:spcBef>
                <a:spcPts val="0"/>
              </a:spcBef>
              <a:buNone/>
              <a:defRPr sz="1200" b="0" i="0" u="none" strike="noStrike" cap="none">
                <a:solidFill>
                  <a:srgbClr val="888888"/>
                </a:solidFill>
                <a:latin typeface="Calibri"/>
                <a:ea typeface="Calibri"/>
                <a:cs typeface="Calibri"/>
                <a:sym typeface="Calibri"/>
              </a:defRPr>
            </a:lvl4pPr>
            <a:lvl5pPr marL="0" marR="0" lvl="4" indent="0" algn="ctr" rtl="0">
              <a:spcBef>
                <a:spcPts val="0"/>
              </a:spcBef>
              <a:buNone/>
              <a:defRPr sz="1200" b="0" i="0" u="none" strike="noStrike" cap="none">
                <a:solidFill>
                  <a:srgbClr val="888888"/>
                </a:solidFill>
                <a:latin typeface="Calibri"/>
                <a:ea typeface="Calibri"/>
                <a:cs typeface="Calibri"/>
                <a:sym typeface="Calibri"/>
              </a:defRPr>
            </a:lvl5pPr>
            <a:lvl6pPr marL="0" marR="0" lvl="5" indent="0" algn="ctr" rtl="0">
              <a:spcBef>
                <a:spcPts val="0"/>
              </a:spcBef>
              <a:buNone/>
              <a:defRPr sz="1200" b="0" i="0" u="none" strike="noStrike" cap="none">
                <a:solidFill>
                  <a:srgbClr val="888888"/>
                </a:solidFill>
                <a:latin typeface="Calibri"/>
                <a:ea typeface="Calibri"/>
                <a:cs typeface="Calibri"/>
                <a:sym typeface="Calibri"/>
              </a:defRPr>
            </a:lvl6pPr>
            <a:lvl7pPr marL="0" marR="0" lvl="6" indent="0" algn="ctr" rtl="0">
              <a:spcBef>
                <a:spcPts val="0"/>
              </a:spcBef>
              <a:buNone/>
              <a:defRPr sz="1200" b="0" i="0" u="none" strike="noStrike" cap="none">
                <a:solidFill>
                  <a:srgbClr val="888888"/>
                </a:solidFill>
                <a:latin typeface="Calibri"/>
                <a:ea typeface="Calibri"/>
                <a:cs typeface="Calibri"/>
                <a:sym typeface="Calibri"/>
              </a:defRPr>
            </a:lvl7pPr>
            <a:lvl8pPr marL="0" marR="0" lvl="7" indent="0" algn="ctr" rtl="0">
              <a:spcBef>
                <a:spcPts val="0"/>
              </a:spcBef>
              <a:buNone/>
              <a:defRPr sz="1200" b="0" i="0" u="none" strike="noStrike" cap="none">
                <a:solidFill>
                  <a:srgbClr val="888888"/>
                </a:solidFill>
                <a:latin typeface="Calibri"/>
                <a:ea typeface="Calibri"/>
                <a:cs typeface="Calibri"/>
                <a:sym typeface="Calibri"/>
              </a:defRPr>
            </a:lvl8pPr>
            <a:lvl9pPr marL="0" marR="0" lvl="8" indent="0" algn="ctr" rtl="0">
              <a:spcBef>
                <a:spcPts val="0"/>
              </a:spcBef>
              <a:buNone/>
              <a:defRPr sz="1200" b="0" i="0" u="none" strike="noStrike" cap="none">
                <a:solidFill>
                  <a:srgbClr val="888888"/>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L"/>
              <a:t>‹#›</a:t>
            </a:fld>
            <a:endParaRPr/>
          </a:p>
        </p:txBody>
      </p:sp>
      <p:pic>
        <p:nvPicPr>
          <p:cNvPr id="99" name="Google Shape;99;h44a970ce36d02707_0_812"/>
          <p:cNvPicPr preferRelativeResize="0"/>
          <p:nvPr/>
        </p:nvPicPr>
        <p:blipFill rotWithShape="1">
          <a:blip r:embed="rId15">
            <a:alphaModFix/>
          </a:blip>
          <a:srcRect/>
          <a:stretch/>
        </p:blipFill>
        <p:spPr>
          <a:xfrm>
            <a:off x="9052957" y="6139952"/>
            <a:ext cx="2642864" cy="79791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8"/>
        <p:cNvGrpSpPr/>
        <p:nvPr/>
      </p:nvGrpSpPr>
      <p:grpSpPr>
        <a:xfrm>
          <a:off x="0" y="0"/>
          <a:ext cx="0" cy="0"/>
          <a:chOff x="0" y="0"/>
          <a:chExt cx="0" cy="0"/>
        </a:xfrm>
      </p:grpSpPr>
      <p:sp>
        <p:nvSpPr>
          <p:cNvPr id="179" name="Google Shape;179;p1"/>
          <p:cNvSpPr/>
          <p:nvPr/>
        </p:nvSpPr>
        <p:spPr>
          <a:xfrm>
            <a:off x="0" y="0"/>
            <a:ext cx="12192000" cy="6858000"/>
          </a:xfrm>
          <a:prstGeom prst="rect">
            <a:avLst/>
          </a:prstGeom>
          <a:solidFill>
            <a:srgbClr val="0C0C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80" name="Google Shape;180;p1" descr="A green object on a black surface&#10;&#10;Description automatically generated with low confidence"/>
          <p:cNvPicPr preferRelativeResize="0"/>
          <p:nvPr/>
        </p:nvPicPr>
        <p:blipFill rotWithShape="1">
          <a:blip r:embed="rId3">
            <a:alphaModFix/>
          </a:blip>
          <a:srcRect t="20416" r="11818" b="26261"/>
          <a:stretch/>
        </p:blipFill>
        <p:spPr>
          <a:xfrm>
            <a:off x="4547937" y="0"/>
            <a:ext cx="7644062" cy="3656797"/>
          </a:xfrm>
          <a:prstGeom prst="rect">
            <a:avLst/>
          </a:prstGeom>
          <a:noFill/>
          <a:ln>
            <a:noFill/>
          </a:ln>
        </p:spPr>
      </p:pic>
      <p:pic>
        <p:nvPicPr>
          <p:cNvPr id="181" name="Google Shape;181;p1"/>
          <p:cNvPicPr preferRelativeResize="0"/>
          <p:nvPr/>
        </p:nvPicPr>
        <p:blipFill rotWithShape="1">
          <a:blip r:embed="rId4">
            <a:alphaModFix/>
          </a:blip>
          <a:srcRect t="18830" r="-1" b="7292"/>
          <a:stretch/>
        </p:blipFill>
        <p:spPr>
          <a:xfrm>
            <a:off x="4547938" y="3681409"/>
            <a:ext cx="7644062" cy="3176595"/>
          </a:xfrm>
          <a:prstGeom prst="rect">
            <a:avLst/>
          </a:prstGeom>
          <a:noFill/>
          <a:ln>
            <a:noFill/>
          </a:ln>
        </p:spPr>
      </p:pic>
      <p:sp>
        <p:nvSpPr>
          <p:cNvPr id="182" name="Google Shape;182;p1"/>
          <p:cNvSpPr/>
          <p:nvPr/>
        </p:nvSpPr>
        <p:spPr>
          <a:xfrm>
            <a:off x="0" y="0"/>
            <a:ext cx="12192000" cy="6858000"/>
          </a:xfrm>
          <a:prstGeom prst="rect">
            <a:avLst/>
          </a:prstGeom>
          <a:gradFill>
            <a:gsLst>
              <a:gs pos="0">
                <a:srgbClr val="0C0C0C"/>
              </a:gs>
              <a:gs pos="36000">
                <a:srgbClr val="0C0C0C"/>
              </a:gs>
              <a:gs pos="81000">
                <a:srgbClr val="0C0C0C">
                  <a:alpha val="0"/>
                </a:srgbClr>
              </a:gs>
              <a:gs pos="100000">
                <a:srgbClr val="0C0C0C">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83" name="Google Shape;183;p1"/>
          <p:cNvSpPr txBox="1">
            <a:spLocks noGrp="1"/>
          </p:cNvSpPr>
          <p:nvPr>
            <p:ph type="ctrTitle"/>
          </p:nvPr>
        </p:nvSpPr>
        <p:spPr>
          <a:xfrm>
            <a:off x="838199" y="1956582"/>
            <a:ext cx="6234954" cy="1724819"/>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000"/>
              <a:buFont typeface="Calibri"/>
              <a:buNone/>
            </a:pPr>
            <a:r>
              <a:rPr lang="en-IL" sz="4000">
                <a:solidFill>
                  <a:schemeClr val="lt1"/>
                </a:solidFill>
              </a:rPr>
              <a:t>I Can See </a:t>
            </a:r>
            <a:r>
              <a:rPr lang="en-IL" sz="4000" b="1">
                <a:solidFill>
                  <a:srgbClr val="FF0000"/>
                </a:solidFill>
              </a:rPr>
              <a:t>U</a:t>
            </a:r>
            <a:r>
              <a:rPr lang="en-IL" sz="4000" b="1">
                <a:solidFill>
                  <a:schemeClr val="lt1"/>
                </a:solidFill>
              </a:rPr>
              <a:t>.</a:t>
            </a:r>
            <a:br>
              <a:rPr lang="en-IL" sz="4000">
                <a:solidFill>
                  <a:schemeClr val="lt1"/>
                </a:solidFill>
              </a:rPr>
            </a:br>
            <a:r>
              <a:rPr lang="en-IL" sz="2400">
                <a:solidFill>
                  <a:schemeClr val="lt1"/>
                </a:solidFill>
              </a:rPr>
              <a:t>Indicator-Based Information Operation Detection and Topic-Aware Group Analysis</a:t>
            </a:r>
            <a:endParaRPr sz="4000">
              <a:solidFill>
                <a:schemeClr val="lt1"/>
              </a:solidFill>
            </a:endParaRPr>
          </a:p>
        </p:txBody>
      </p:sp>
      <p:sp>
        <p:nvSpPr>
          <p:cNvPr id="184" name="Google Shape;184;p1"/>
          <p:cNvSpPr txBox="1">
            <a:spLocks noGrp="1"/>
          </p:cNvSpPr>
          <p:nvPr>
            <p:ph type="subTitle" idx="1"/>
          </p:nvPr>
        </p:nvSpPr>
        <p:spPr>
          <a:xfrm>
            <a:off x="838200" y="3824627"/>
            <a:ext cx="4361329" cy="191780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FFFFFF"/>
              </a:buClr>
              <a:buSzPts val="2000"/>
              <a:buNone/>
            </a:pPr>
            <a:r>
              <a:rPr lang="en-IL" b="1" dirty="0">
                <a:solidFill>
                  <a:srgbClr val="FFFFFF"/>
                </a:solidFill>
              </a:rPr>
              <a:t>23.09.2026</a:t>
            </a:r>
            <a:endParaRPr dirty="0"/>
          </a:p>
          <a:p>
            <a:pPr marL="0" lvl="0" indent="0"/>
            <a:r>
              <a:rPr lang="en-IL" dirty="0"/>
              <a:t>Amit Ner Gaon, Noa Tal</a:t>
            </a:r>
            <a:r>
              <a:rPr lang="en-GB" dirty="0"/>
              <a:t>, </a:t>
            </a:r>
            <a:r>
              <a:rPr lang="en-IL" dirty="0"/>
              <a:t>Idan Muallem</a:t>
            </a:r>
            <a:endParaRPr dirty="0"/>
          </a:p>
          <a:p>
            <a:pPr marL="0" lvl="0" indent="0" algn="l" rtl="0">
              <a:lnSpc>
                <a:spcPct val="90000"/>
              </a:lnSpc>
              <a:spcBef>
                <a:spcPts val="1000"/>
              </a:spcBef>
              <a:spcAft>
                <a:spcPts val="0"/>
              </a:spcAft>
              <a:buClr>
                <a:srgbClr val="888888"/>
              </a:buClr>
              <a:buSzPts val="2000"/>
              <a:buNone/>
            </a:pPr>
            <a:r>
              <a:rPr lang="en-IL" dirty="0"/>
              <a:t>Prof. Rami </a:t>
            </a:r>
            <a:r>
              <a:rPr lang="en-IL" dirty="0" err="1"/>
              <a:t>Puzis</a:t>
            </a:r>
            <a:endParaRPr dirty="0"/>
          </a:p>
          <a:p>
            <a:pPr marL="0" lvl="0" indent="0" algn="l" rtl="0">
              <a:lnSpc>
                <a:spcPct val="90000"/>
              </a:lnSpc>
              <a:spcBef>
                <a:spcPts val="1000"/>
              </a:spcBef>
              <a:spcAft>
                <a:spcPts val="0"/>
              </a:spcAft>
              <a:buClr>
                <a:srgbClr val="888888"/>
              </a:buClr>
              <a:buSzPts val="2000"/>
              <a:buNone/>
            </a:pPr>
            <a:endParaRPr b="1" dirty="0">
              <a:solidFill>
                <a:srgbClr val="FFFFFF"/>
              </a:solidFill>
            </a:endParaRPr>
          </a:p>
        </p:txBody>
      </p:sp>
      <p:cxnSp>
        <p:nvCxnSpPr>
          <p:cNvPr id="185" name="Google Shape;185;p1"/>
          <p:cNvCxnSpPr/>
          <p:nvPr/>
        </p:nvCxnSpPr>
        <p:spPr>
          <a:xfrm rot="10800000">
            <a:off x="838200" y="3681408"/>
            <a:ext cx="11353799" cy="0"/>
          </a:xfrm>
          <a:prstGeom prst="straightConnector1">
            <a:avLst/>
          </a:prstGeom>
          <a:noFill/>
          <a:ln w="12700" cap="flat" cmpd="sng">
            <a:solidFill>
              <a:schemeClr val="accent2"/>
            </a:solidFill>
            <a:prstDash val="solid"/>
            <a:miter lim="8000"/>
            <a:headEnd type="none" w="sm" len="sm"/>
            <a:tailEnd type="none" w="sm" len="sm"/>
          </a:ln>
        </p:spPr>
      </p:cxnSp>
      <p:sp>
        <p:nvSpPr>
          <p:cNvPr id="186" name="Google Shape;186;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FFFFFF"/>
              </a:buClr>
              <a:buSzPts val="1200"/>
              <a:buFont typeface="Calibri"/>
              <a:buNone/>
            </a:pPr>
            <a:fld id="{00000000-1234-1234-1234-123412341234}" type="slidenum">
              <a:rPr lang="en-IL" sz="1200" b="0" i="0" u="none" strike="noStrike" cap="none">
                <a:solidFill>
                  <a:srgbClr val="FFFFFF"/>
                </a:solidFill>
                <a:latin typeface="Calibri"/>
                <a:ea typeface="Calibri"/>
                <a:cs typeface="Calibri"/>
                <a:sym typeface="Calibri"/>
              </a:rPr>
              <a:t>1</a:t>
            </a:fld>
            <a:endParaRPr sz="1200" b="0" i="0" u="none" strike="noStrike" cap="none">
              <a:solidFill>
                <a:srgbClr val="FFFFFF"/>
              </a:solidFill>
              <a:latin typeface="Calibri"/>
              <a:ea typeface="Calibri"/>
              <a:cs typeface="Calibri"/>
              <a:sym typeface="Calibri"/>
            </a:endParaRPr>
          </a:p>
        </p:txBody>
      </p:sp>
      <p:sp>
        <p:nvSpPr>
          <p:cNvPr id="187" name="Google Shape;187;p1"/>
          <p:cNvSpPr txBox="1"/>
          <p:nvPr/>
        </p:nvSpPr>
        <p:spPr>
          <a:xfrm>
            <a:off x="838200" y="3706020"/>
            <a:ext cx="3138714" cy="625462"/>
          </a:xfrm>
          <a:prstGeom prst="rect">
            <a:avLst/>
          </a:prstGeom>
          <a:noFill/>
          <a:ln>
            <a:noFill/>
          </a:ln>
        </p:spPr>
        <p:txBody>
          <a:bodyPr spcFirstLastPara="1" wrap="square" lIns="91425" tIns="45700" rIns="91425" bIns="45700" anchor="b" anchorCtr="0">
            <a:normAutofit lnSpcReduction="10000"/>
          </a:bodyPr>
          <a:lstStyle/>
          <a:p>
            <a:pPr marL="0" marR="0" lvl="0" indent="0" algn="l" rtl="0">
              <a:lnSpc>
                <a:spcPct val="90000"/>
              </a:lnSpc>
              <a:spcBef>
                <a:spcPts val="0"/>
              </a:spcBef>
              <a:spcAft>
                <a:spcPts val="0"/>
              </a:spcAft>
              <a:buClr>
                <a:srgbClr val="009DBB"/>
              </a:buClr>
              <a:buSzPts val="4000"/>
              <a:buFont typeface="Calibri"/>
              <a:buNone/>
            </a:pPr>
            <a:endParaRPr sz="4000" b="0" i="0" u="none" strike="noStrike" cap="none" dirty="0">
              <a:solidFill>
                <a:srgbClr val="FFFFFF"/>
              </a:solidFill>
              <a:latin typeface="Calibri"/>
              <a:ea typeface="Calibri"/>
              <a:cs typeface="Calibri"/>
              <a:sym typeface="Calibri"/>
            </a:endParaRPr>
          </a:p>
        </p:txBody>
      </p:sp>
      <p:pic>
        <p:nvPicPr>
          <p:cNvPr id="188" name="Google Shape;188;p1"/>
          <p:cNvPicPr preferRelativeResize="0"/>
          <p:nvPr/>
        </p:nvPicPr>
        <p:blipFill rotWithShape="1">
          <a:blip r:embed="rId5">
            <a:alphaModFix/>
          </a:blip>
          <a:srcRect/>
          <a:stretch/>
        </p:blipFill>
        <p:spPr>
          <a:xfrm>
            <a:off x="50203" y="0"/>
            <a:ext cx="2642865" cy="7979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Motivation</a:t>
            </a:r>
            <a:endParaRPr/>
          </a:p>
        </p:txBody>
      </p:sp>
      <p:sp>
        <p:nvSpPr>
          <p:cNvPr id="194" name="Google Shape;194;p2"/>
          <p:cNvSpPr txBox="1">
            <a:spLocks noGrp="1"/>
          </p:cNvSpPr>
          <p:nvPr>
            <p:ph type="body" idx="1"/>
          </p:nvPr>
        </p:nvSpPr>
        <p:spPr>
          <a:xfrm>
            <a:off x="1236990" y="1821101"/>
            <a:ext cx="5944860" cy="474903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3000"/>
              <a:buChar char="•"/>
            </a:pPr>
            <a:r>
              <a:rPr lang="en-IL" sz="3000"/>
              <a:t>Social media platforms are central spaces for public discourse. </a:t>
            </a:r>
            <a:endParaRPr/>
          </a:p>
          <a:p>
            <a:pPr marL="0" lvl="0" indent="0" algn="l" rtl="0">
              <a:lnSpc>
                <a:spcPct val="90000"/>
              </a:lnSpc>
              <a:spcBef>
                <a:spcPts val="1000"/>
              </a:spcBef>
              <a:spcAft>
                <a:spcPts val="0"/>
              </a:spcAft>
              <a:buClr>
                <a:schemeClr val="dk1"/>
              </a:buClr>
              <a:buSzPts val="1400"/>
              <a:buNone/>
            </a:pPr>
            <a:r>
              <a:rPr lang="en-IL" sz="1400"/>
              <a:t>Seckin et al. (2025). “Sharing without clicking on news in social media.”</a:t>
            </a:r>
            <a:endParaRPr/>
          </a:p>
          <a:p>
            <a:pPr marL="228600" lvl="0" indent="-228600" algn="l" rtl="0">
              <a:lnSpc>
                <a:spcPct val="90000"/>
              </a:lnSpc>
              <a:spcBef>
                <a:spcPts val="1000"/>
              </a:spcBef>
              <a:spcAft>
                <a:spcPts val="0"/>
              </a:spcAft>
              <a:buClr>
                <a:srgbClr val="FF0000"/>
              </a:buClr>
              <a:buSzPts val="3000"/>
              <a:buChar char="•"/>
            </a:pPr>
            <a:r>
              <a:rPr lang="en-IL" sz="3000" b="1">
                <a:solidFill>
                  <a:srgbClr val="FF0000"/>
                </a:solidFill>
              </a:rPr>
              <a:t>Information operations (IOs) </a:t>
            </a:r>
            <a:r>
              <a:rPr lang="en-IL" sz="3000"/>
              <a:t>exploit the openness of social media to manipulate online discourse, threatening democratic processes, public trust, and societal cohesion.</a:t>
            </a:r>
            <a:endParaRPr/>
          </a:p>
          <a:p>
            <a:pPr marL="0" lvl="0" indent="0" algn="l" rtl="0">
              <a:lnSpc>
                <a:spcPct val="90000"/>
              </a:lnSpc>
              <a:spcBef>
                <a:spcPts val="1000"/>
              </a:spcBef>
              <a:spcAft>
                <a:spcPts val="0"/>
              </a:spcAft>
              <a:buClr>
                <a:schemeClr val="dk1"/>
              </a:buClr>
              <a:buSzPts val="1400"/>
              <a:buNone/>
            </a:pPr>
            <a:r>
              <a:rPr lang="en-IL" sz="1400"/>
              <a:t>Weedon et al. (2017), “Information Operations and Facebook”</a:t>
            </a:r>
            <a:endParaRPr/>
          </a:p>
        </p:txBody>
      </p:sp>
      <p:pic>
        <p:nvPicPr>
          <p:cNvPr id="195" name="Google Shape;195;p2"/>
          <p:cNvPicPr preferRelativeResize="0"/>
          <p:nvPr/>
        </p:nvPicPr>
        <p:blipFill rotWithShape="1">
          <a:blip r:embed="rId3">
            <a:alphaModFix/>
          </a:blip>
          <a:srcRect b="9582"/>
          <a:stretch/>
        </p:blipFill>
        <p:spPr>
          <a:xfrm>
            <a:off x="7001397" y="1546558"/>
            <a:ext cx="5181600" cy="4210775"/>
          </a:xfrm>
          <a:prstGeom prst="rect">
            <a:avLst/>
          </a:prstGeom>
          <a:noFill/>
          <a:ln>
            <a:noFill/>
          </a:ln>
        </p:spPr>
      </p:pic>
      <p:sp>
        <p:nvSpPr>
          <p:cNvPr id="196" name="Google Shape;196;p2"/>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IL"/>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IO &amp; Coordination</a:t>
            </a:r>
            <a:endParaRPr/>
          </a:p>
        </p:txBody>
      </p:sp>
      <p:sp>
        <p:nvSpPr>
          <p:cNvPr id="202" name="Google Shape;202;p3"/>
          <p:cNvSpPr txBox="1">
            <a:spLocks noGrp="1"/>
          </p:cNvSpPr>
          <p:nvPr>
            <p:ph type="body" idx="1"/>
          </p:nvPr>
        </p:nvSpPr>
        <p:spPr>
          <a:xfrm>
            <a:off x="1243087" y="1825625"/>
            <a:ext cx="10582656" cy="2987007"/>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IL" sz="3200"/>
              <a:t>IOs rely on fleets of coordinated accounts acting toward a shared objective. Coordination is what amplifies their influence. </a:t>
            </a:r>
            <a:endParaRPr/>
          </a:p>
          <a:p>
            <a:pPr marL="0" lvl="0" indent="0" algn="l" rtl="0">
              <a:lnSpc>
                <a:spcPct val="90000"/>
              </a:lnSpc>
              <a:spcBef>
                <a:spcPts val="1000"/>
              </a:spcBef>
              <a:spcAft>
                <a:spcPts val="0"/>
              </a:spcAft>
              <a:buClr>
                <a:schemeClr val="dk1"/>
              </a:buClr>
              <a:buSzPct val="100000"/>
              <a:buNone/>
            </a:pPr>
            <a:r>
              <a:rPr lang="en-IL" sz="1500"/>
              <a:t>Pacheco et al. “Uncovering Coordinated Networks on Social Media: Methods and Case Studies”</a:t>
            </a:r>
            <a:endParaRPr/>
          </a:p>
          <a:p>
            <a:pPr marL="228600" lvl="0" indent="-228600" algn="l" rtl="0">
              <a:lnSpc>
                <a:spcPct val="90000"/>
              </a:lnSpc>
              <a:spcBef>
                <a:spcPts val="1000"/>
              </a:spcBef>
              <a:spcAft>
                <a:spcPts val="0"/>
              </a:spcAft>
              <a:buClr>
                <a:schemeClr val="dk1"/>
              </a:buClr>
              <a:buSzPct val="100000"/>
              <a:buChar char="•"/>
            </a:pPr>
            <a:r>
              <a:rPr lang="en-IL" sz="3200"/>
              <a:t>Coordinated activity leaves observable traces of behavioural similarity. </a:t>
            </a:r>
            <a:endParaRPr sz="3200"/>
          </a:p>
          <a:p>
            <a:pPr marL="0" lvl="0" indent="0" algn="l" rtl="0">
              <a:lnSpc>
                <a:spcPct val="90000"/>
              </a:lnSpc>
              <a:spcBef>
                <a:spcPts val="1000"/>
              </a:spcBef>
              <a:spcAft>
                <a:spcPts val="0"/>
              </a:spcAft>
              <a:buClr>
                <a:schemeClr val="dk1"/>
              </a:buClr>
              <a:buSzPct val="100000"/>
              <a:buNone/>
            </a:pPr>
            <a:r>
              <a:rPr lang="en-IL" sz="1500"/>
              <a:t>Luceri et al. (2024), “Unmasking the Web of Deceit: Uncovering Coordinated Activity to Expose Information Operations on Twitter”</a:t>
            </a:r>
            <a:endParaRPr sz="1500"/>
          </a:p>
          <a:p>
            <a:pPr marL="228600" lvl="0" indent="-228600" algn="l" rtl="0">
              <a:lnSpc>
                <a:spcPct val="90000"/>
              </a:lnSpc>
              <a:spcBef>
                <a:spcPts val="1000"/>
              </a:spcBef>
              <a:spcAft>
                <a:spcPts val="0"/>
              </a:spcAft>
              <a:buClr>
                <a:schemeClr val="dk1"/>
              </a:buClr>
              <a:buSzPct val="100000"/>
              <a:buChar char="•"/>
            </a:pPr>
            <a:r>
              <a:rPr lang="en-IL" sz="3200"/>
              <a:t>Therefore, </a:t>
            </a:r>
            <a:r>
              <a:rPr lang="en-IL" sz="3200">
                <a:solidFill>
                  <a:schemeClr val="accent6"/>
                </a:solidFill>
              </a:rPr>
              <a:t>identifying coordination is a key step toward detecting IO drivers.</a:t>
            </a:r>
            <a:endParaRPr/>
          </a:p>
          <a:p>
            <a:pPr marL="228600" lvl="0" indent="-40640" algn="l" rtl="0">
              <a:lnSpc>
                <a:spcPct val="90000"/>
              </a:lnSpc>
              <a:spcBef>
                <a:spcPts val="1000"/>
              </a:spcBef>
              <a:spcAft>
                <a:spcPts val="0"/>
              </a:spcAft>
              <a:buClr>
                <a:schemeClr val="dk1"/>
              </a:buClr>
              <a:buSzPct val="100000"/>
              <a:buNone/>
            </a:pPr>
            <a:endParaRPr sz="3200"/>
          </a:p>
        </p:txBody>
      </p:sp>
      <p:sp>
        <p:nvSpPr>
          <p:cNvPr id="203" name="Google Shape;203;p3"/>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3</a:t>
            </a:fld>
            <a:endParaRPr/>
          </a:p>
        </p:txBody>
      </p:sp>
      <p:pic>
        <p:nvPicPr>
          <p:cNvPr id="204" name="Google Shape;204;p3"/>
          <p:cNvPicPr preferRelativeResize="0"/>
          <p:nvPr/>
        </p:nvPicPr>
        <p:blipFill rotWithShape="1">
          <a:blip r:embed="rId3">
            <a:alphaModFix/>
          </a:blip>
          <a:srcRect t="24253" b="2865"/>
          <a:stretch/>
        </p:blipFill>
        <p:spPr>
          <a:xfrm>
            <a:off x="3603428" y="4398614"/>
            <a:ext cx="4985144" cy="25562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4"/>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Related Work</a:t>
            </a:r>
            <a:endParaRPr/>
          </a:p>
        </p:txBody>
      </p:sp>
      <p:sp>
        <p:nvSpPr>
          <p:cNvPr id="210" name="Google Shape;210;p4"/>
          <p:cNvSpPr txBox="1">
            <a:spLocks noGrp="1"/>
          </p:cNvSpPr>
          <p:nvPr>
            <p:ph type="body" idx="1"/>
          </p:nvPr>
        </p:nvSpPr>
        <p:spPr>
          <a:xfrm>
            <a:off x="1243087" y="1825625"/>
            <a:ext cx="10582656" cy="453035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IL" b="1"/>
              <a:t>IO-Driver Detection Methods:</a:t>
            </a:r>
            <a:endParaRPr/>
          </a:p>
          <a:p>
            <a:pPr marL="228600" lvl="0" indent="-228600" algn="l" rtl="0">
              <a:lnSpc>
                <a:spcPct val="90000"/>
              </a:lnSpc>
              <a:spcBef>
                <a:spcPts val="900"/>
              </a:spcBef>
              <a:spcAft>
                <a:spcPts val="0"/>
              </a:spcAft>
              <a:buClr>
                <a:schemeClr val="dk1"/>
              </a:buClr>
              <a:buSzPts val="2400"/>
              <a:buChar char="•"/>
            </a:pPr>
            <a:r>
              <a:rPr lang="en-IL" b="1"/>
              <a:t>Node-Local: </a:t>
            </a:r>
            <a:r>
              <a:rPr lang="en-IL"/>
              <a:t>detect suspicious users from their individual content, activity, and behaviour.</a:t>
            </a:r>
            <a:endParaRPr/>
          </a:p>
          <a:p>
            <a:pPr marL="342900" lvl="0" indent="0" algn="l" rtl="0">
              <a:lnSpc>
                <a:spcPct val="90000"/>
              </a:lnSpc>
              <a:spcBef>
                <a:spcPts val="1000"/>
              </a:spcBef>
              <a:spcAft>
                <a:spcPts val="0"/>
              </a:spcAft>
              <a:buClr>
                <a:srgbClr val="7F7F7F"/>
              </a:buClr>
              <a:buSzPts val="1400"/>
              <a:buNone/>
            </a:pPr>
            <a:r>
              <a:rPr lang="en-IL" sz="1400" i="1">
                <a:solidFill>
                  <a:srgbClr val="7F7F7F"/>
                </a:solidFill>
              </a:rPr>
              <a:t>Tomaiuolo et al. (2020), A Survey on Troll Detection</a:t>
            </a:r>
            <a:endParaRPr/>
          </a:p>
          <a:p>
            <a:pPr marL="228600" lvl="0" indent="-228600" algn="l" rtl="0">
              <a:lnSpc>
                <a:spcPct val="90000"/>
              </a:lnSpc>
              <a:spcBef>
                <a:spcPts val="900"/>
              </a:spcBef>
              <a:spcAft>
                <a:spcPts val="0"/>
              </a:spcAft>
              <a:buClr>
                <a:schemeClr val="dk1"/>
              </a:buClr>
              <a:buSzPts val="2400"/>
              <a:buChar char="•"/>
            </a:pPr>
            <a:r>
              <a:rPr lang="en-IL" b="1"/>
              <a:t>Network-Based: </a:t>
            </a:r>
            <a:r>
              <a:rPr lang="en-IL"/>
              <a:t>detect coordinated groups from graph structure and behavioural similarity.</a:t>
            </a:r>
            <a:endParaRPr/>
          </a:p>
          <a:p>
            <a:pPr marL="342900" lvl="0" indent="0" algn="l" rtl="0">
              <a:lnSpc>
                <a:spcPct val="90000"/>
              </a:lnSpc>
              <a:spcBef>
                <a:spcPts val="1000"/>
              </a:spcBef>
              <a:spcAft>
                <a:spcPts val="0"/>
              </a:spcAft>
              <a:buClr>
                <a:srgbClr val="7F7F7F"/>
              </a:buClr>
              <a:buSzPts val="1400"/>
              <a:buNone/>
            </a:pPr>
            <a:r>
              <a:rPr lang="en-IL" sz="1400" i="1">
                <a:solidFill>
                  <a:srgbClr val="7F7F7F"/>
                </a:solidFill>
              </a:rPr>
              <a:t>Pacheco et al. (2021), Uncovering Coordinated Networks on Social Media: Methods and Case Studies</a:t>
            </a:r>
            <a:endParaRPr/>
          </a:p>
          <a:p>
            <a:pPr marL="228600" lvl="0" indent="-228600" algn="l" rtl="0">
              <a:lnSpc>
                <a:spcPct val="90000"/>
              </a:lnSpc>
              <a:spcBef>
                <a:spcPts val="900"/>
              </a:spcBef>
              <a:spcAft>
                <a:spcPts val="0"/>
              </a:spcAft>
              <a:buClr>
                <a:schemeClr val="dk1"/>
              </a:buClr>
              <a:buSzPts val="2400"/>
              <a:buChar char="•"/>
            </a:pPr>
            <a:r>
              <a:rPr lang="en-IL" b="1"/>
              <a:t>Hybrid: </a:t>
            </a:r>
            <a:r>
              <a:rPr lang="en-IL"/>
              <a:t>combine user content with network information to detect IO drivers.</a:t>
            </a:r>
            <a:endParaRPr/>
          </a:p>
          <a:p>
            <a:pPr marL="342900" lvl="0" indent="0" algn="l" rtl="0">
              <a:lnSpc>
                <a:spcPct val="90000"/>
              </a:lnSpc>
              <a:spcBef>
                <a:spcPts val="1000"/>
              </a:spcBef>
              <a:spcAft>
                <a:spcPts val="0"/>
              </a:spcAft>
              <a:buClr>
                <a:srgbClr val="7F7F7F"/>
              </a:buClr>
              <a:buSzPts val="1400"/>
              <a:buNone/>
            </a:pPr>
            <a:r>
              <a:rPr lang="en-IL" sz="1400" i="1">
                <a:solidFill>
                  <a:srgbClr val="7F7F7F"/>
                </a:solidFill>
              </a:rPr>
              <a:t>Minici et al. (2025), IOHunter: Graph Foundation Model to Uncover Online Information Operations</a:t>
            </a:r>
            <a:endParaRPr/>
          </a:p>
          <a:p>
            <a:pPr marL="0" lvl="0" indent="0" algn="ctr" rtl="0">
              <a:lnSpc>
                <a:spcPct val="90000"/>
              </a:lnSpc>
              <a:spcBef>
                <a:spcPts val="1000"/>
              </a:spcBef>
              <a:spcAft>
                <a:spcPts val="0"/>
              </a:spcAft>
              <a:buClr>
                <a:schemeClr val="dk1"/>
              </a:buClr>
              <a:buSzPts val="2000"/>
              <a:buNone/>
            </a:pPr>
            <a:r>
              <a:rPr lang="en-IL" sz="2000" b="1"/>
              <a:t>The gap: existing approaches either detect coordinated groups without quantifying each account’s depth of involvement, or implicitly encode structural embeddedness within black-box models. None provides an explicit, interpretable, account-level measure of coordination depth.</a:t>
            </a:r>
            <a:endParaRPr/>
          </a:p>
        </p:txBody>
      </p:sp>
      <p:sp>
        <p:nvSpPr>
          <p:cNvPr id="211" name="Google Shape;211;p4"/>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5"/>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The missing blocks</a:t>
            </a:r>
            <a:endParaRPr/>
          </a:p>
        </p:txBody>
      </p:sp>
      <p:sp>
        <p:nvSpPr>
          <p:cNvPr id="217" name="Google Shape;217;p5"/>
          <p:cNvSpPr txBox="1">
            <a:spLocks noGrp="1"/>
          </p:cNvSpPr>
          <p:nvPr>
            <p:ph type="body" idx="1"/>
          </p:nvPr>
        </p:nvSpPr>
        <p:spPr>
          <a:xfrm>
            <a:off x="1243087" y="1825625"/>
            <a:ext cx="10582656" cy="4769728"/>
          </a:xfrm>
          <a:prstGeom prst="rect">
            <a:avLst/>
          </a:prstGeom>
          <a:noFill/>
          <a:ln>
            <a:noFill/>
          </a:ln>
        </p:spPr>
        <p:txBody>
          <a:bodyPr spcFirstLastPara="1" wrap="square" lIns="91425" tIns="45700" rIns="91425" bIns="45700" anchor="t" anchorCtr="0">
            <a:normAutofit/>
          </a:bodyPr>
          <a:lstStyle/>
          <a:p>
            <a:pPr marL="228600" lvl="0" indent="-254000" algn="l" rtl="0">
              <a:lnSpc>
                <a:spcPct val="90000"/>
              </a:lnSpc>
              <a:spcBef>
                <a:spcPts val="0"/>
              </a:spcBef>
              <a:spcAft>
                <a:spcPts val="0"/>
              </a:spcAft>
              <a:buClr>
                <a:schemeClr val="dk1"/>
              </a:buClr>
              <a:buSzPts val="4000"/>
              <a:buChar char="•"/>
            </a:pPr>
            <a:r>
              <a:rPr lang="en-IL" sz="4000"/>
              <a:t>An interpretable, indicator-based approach for account-level IO detection.</a:t>
            </a:r>
            <a:endParaRPr sz="4000"/>
          </a:p>
          <a:p>
            <a:pPr marL="228600" lvl="0" indent="0" algn="l" rtl="0">
              <a:lnSpc>
                <a:spcPct val="90000"/>
              </a:lnSpc>
              <a:spcBef>
                <a:spcPts val="1000"/>
              </a:spcBef>
              <a:spcAft>
                <a:spcPts val="0"/>
              </a:spcAft>
              <a:buClr>
                <a:schemeClr val="dk1"/>
              </a:buClr>
              <a:buSzPts val="4000"/>
              <a:buNone/>
            </a:pPr>
            <a:endParaRPr sz="4000"/>
          </a:p>
          <a:p>
            <a:pPr marL="228600" lvl="0" indent="-254000" algn="l" rtl="0">
              <a:lnSpc>
                <a:spcPct val="90000"/>
              </a:lnSpc>
              <a:spcBef>
                <a:spcPts val="1000"/>
              </a:spcBef>
              <a:spcAft>
                <a:spcPts val="0"/>
              </a:spcAft>
              <a:buClr>
                <a:schemeClr val="dk1"/>
              </a:buClr>
              <a:buSzPts val="4000"/>
              <a:buChar char="•"/>
            </a:pPr>
            <a:r>
              <a:rPr lang="en-IL" sz="4000"/>
              <a:t>Topic-aware Group analysis to reveal the campaign’s agenda.</a:t>
            </a:r>
            <a:endParaRPr/>
          </a:p>
        </p:txBody>
      </p:sp>
      <p:sp>
        <p:nvSpPr>
          <p:cNvPr id="218" name="Google Shape;218;p5"/>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6"/>
          <p:cNvSpPr txBox="1">
            <a:spLocks noGrp="1"/>
          </p:cNvSpPr>
          <p:nvPr>
            <p:ph type="title"/>
          </p:nvPr>
        </p:nvSpPr>
        <p:spPr>
          <a:xfrm>
            <a:off x="1479549" y="1709738"/>
            <a:ext cx="9914592"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9DBB"/>
              </a:buClr>
              <a:buSzPts val="5400"/>
              <a:buFont typeface="Calibri"/>
              <a:buNone/>
            </a:pPr>
            <a:br>
              <a:rPr lang="en-IL"/>
            </a:br>
            <a:r>
              <a:rPr lang="en-IL"/>
              <a:t>Interpretable Indicators</a:t>
            </a:r>
            <a:endParaRPr/>
          </a:p>
        </p:txBody>
      </p:sp>
      <p:sp>
        <p:nvSpPr>
          <p:cNvPr id="224" name="Google Shape;224;p6"/>
          <p:cNvSpPr txBox="1">
            <a:spLocks noGrp="1"/>
          </p:cNvSpPr>
          <p:nvPr>
            <p:ph type="body" idx="1"/>
          </p:nvPr>
        </p:nvSpPr>
        <p:spPr>
          <a:xfrm>
            <a:off x="14795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
        <p:nvSpPr>
          <p:cNvPr id="225" name="Google Shape;225;p6"/>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9"/>
          <p:cNvSpPr txBox="1">
            <a:spLocks noGrp="1"/>
          </p:cNvSpPr>
          <p:nvPr>
            <p:ph type="title"/>
          </p:nvPr>
        </p:nvSpPr>
        <p:spPr>
          <a:xfrm>
            <a:off x="3072268" y="401637"/>
            <a:ext cx="8949044"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Co-Action Graph</a:t>
            </a:r>
            <a:endParaRPr/>
          </a:p>
        </p:txBody>
      </p:sp>
      <p:sp>
        <p:nvSpPr>
          <p:cNvPr id="232" name="Google Shape;232;p9"/>
          <p:cNvSpPr txBox="1">
            <a:spLocks noGrp="1"/>
          </p:cNvSpPr>
          <p:nvPr>
            <p:ph type="body" idx="1"/>
          </p:nvPr>
        </p:nvSpPr>
        <p:spPr>
          <a:xfrm>
            <a:off x="1243087" y="1825624"/>
            <a:ext cx="10582656" cy="44418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pPr>
            <a:r>
              <a:rPr lang="en-IL" sz="3200" b="1"/>
              <a:t>Nodes:</a:t>
            </a:r>
            <a:r>
              <a:rPr lang="en-IL" sz="3200"/>
              <a:t> authors in the discourse.</a:t>
            </a:r>
            <a:endParaRPr/>
          </a:p>
          <a:p>
            <a:pPr marL="228600" lvl="0" indent="-228600" algn="l" rtl="0">
              <a:lnSpc>
                <a:spcPct val="90000"/>
              </a:lnSpc>
              <a:spcBef>
                <a:spcPts val="1000"/>
              </a:spcBef>
              <a:spcAft>
                <a:spcPts val="0"/>
              </a:spcAft>
              <a:buClr>
                <a:schemeClr val="dk1"/>
              </a:buClr>
              <a:buSzPts val="3200"/>
              <a:buChar char="•"/>
            </a:pPr>
            <a:r>
              <a:rPr lang="en-IL" sz="3200" b="1"/>
              <a:t>Edges: </a:t>
            </a:r>
            <a:r>
              <a:rPr lang="en-IL" sz="3200"/>
              <a:t>co-action relations between a pair of authors (e.g., posting the same hashtag). Represents </a:t>
            </a:r>
            <a:r>
              <a:rPr lang="en-IL" sz="3200" b="1"/>
              <a:t>behavioral similarity </a:t>
            </a:r>
            <a:r>
              <a:rPr lang="en-IL" sz="3200"/>
              <a:t>between the authors.</a:t>
            </a:r>
            <a:endParaRPr/>
          </a:p>
          <a:p>
            <a:pPr marL="228600" lvl="0" indent="-228600" algn="l" rtl="0">
              <a:lnSpc>
                <a:spcPct val="90000"/>
              </a:lnSpc>
              <a:spcBef>
                <a:spcPts val="1000"/>
              </a:spcBef>
              <a:spcAft>
                <a:spcPts val="0"/>
              </a:spcAft>
              <a:buClr>
                <a:schemeClr val="dk1"/>
              </a:buClr>
              <a:buSzPts val="3200"/>
              <a:buChar char="•"/>
            </a:pPr>
            <a:r>
              <a:rPr lang="en-IL" sz="3200" b="1"/>
              <a:t>Purpose</a:t>
            </a:r>
            <a:r>
              <a:rPr lang="en-IL" sz="3200"/>
              <a:t>: expose coordinated behaviour for IO detection.</a:t>
            </a:r>
            <a:endParaRPr/>
          </a:p>
          <a:p>
            <a:pPr marL="228600" lvl="0" indent="-50800" algn="l" rtl="0">
              <a:lnSpc>
                <a:spcPct val="90000"/>
              </a:lnSpc>
              <a:spcBef>
                <a:spcPts val="1000"/>
              </a:spcBef>
              <a:spcAft>
                <a:spcPts val="0"/>
              </a:spcAft>
              <a:buClr>
                <a:schemeClr val="dk1"/>
              </a:buClr>
              <a:buSzPts val="2800"/>
              <a:buNone/>
            </a:pPr>
            <a:endParaRPr sz="2800"/>
          </a:p>
          <a:p>
            <a:pPr marL="228600" lvl="0" indent="-50800" algn="l" rtl="0">
              <a:lnSpc>
                <a:spcPct val="90000"/>
              </a:lnSpc>
              <a:spcBef>
                <a:spcPts val="1000"/>
              </a:spcBef>
              <a:spcAft>
                <a:spcPts val="0"/>
              </a:spcAft>
              <a:buClr>
                <a:schemeClr val="dk1"/>
              </a:buClr>
              <a:buSzPts val="2800"/>
              <a:buNone/>
            </a:pPr>
            <a:endParaRPr sz="2800"/>
          </a:p>
          <a:p>
            <a:pPr marL="457200" lvl="1" indent="0" algn="l" rtl="0">
              <a:lnSpc>
                <a:spcPct val="90000"/>
              </a:lnSpc>
              <a:spcBef>
                <a:spcPts val="500"/>
              </a:spcBef>
              <a:spcAft>
                <a:spcPts val="0"/>
              </a:spcAft>
              <a:buClr>
                <a:schemeClr val="dk1"/>
              </a:buClr>
              <a:buSzPts val="4000"/>
              <a:buNone/>
            </a:pPr>
            <a:endParaRPr sz="4000"/>
          </a:p>
        </p:txBody>
      </p:sp>
      <p:sp>
        <p:nvSpPr>
          <p:cNvPr id="233" name="Google Shape;233;p9"/>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7</a:t>
            </a:fld>
            <a:endParaRPr/>
          </a:p>
        </p:txBody>
      </p:sp>
      <p:pic>
        <p:nvPicPr>
          <p:cNvPr id="234" name="Google Shape;234;p9"/>
          <p:cNvPicPr preferRelativeResize="0"/>
          <p:nvPr/>
        </p:nvPicPr>
        <p:blipFill rotWithShape="1">
          <a:blip r:embed="rId3">
            <a:alphaModFix/>
          </a:blip>
          <a:srcRect t="41062" b="10900"/>
          <a:stretch/>
        </p:blipFill>
        <p:spPr>
          <a:xfrm>
            <a:off x="1243087" y="4439118"/>
            <a:ext cx="9585434" cy="212367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0"/>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Graph-Based Indicators</a:t>
            </a:r>
            <a:endParaRPr/>
          </a:p>
        </p:txBody>
      </p:sp>
      <p:sp>
        <p:nvSpPr>
          <p:cNvPr id="240" name="Google Shape;240;p10"/>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8</a:t>
            </a:fld>
            <a:endParaRPr/>
          </a:p>
        </p:txBody>
      </p:sp>
      <p:sp>
        <p:nvSpPr>
          <p:cNvPr id="241" name="Google Shape;241;p10"/>
          <p:cNvSpPr txBox="1">
            <a:spLocks noGrp="1"/>
          </p:cNvSpPr>
          <p:nvPr>
            <p:ph type="body" idx="1"/>
          </p:nvPr>
        </p:nvSpPr>
        <p:spPr>
          <a:xfrm>
            <a:off x="1243087" y="1825625"/>
            <a:ext cx="10582656"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pPr>
            <a:r>
              <a:rPr lang="en-IL" sz="3200"/>
              <a:t>Using the Co-Action Graph, we calculate well-established graph indicators for each author (node) to characterize their structural role.</a:t>
            </a:r>
            <a:endParaRPr sz="3200"/>
          </a:p>
          <a:p>
            <a:pPr marL="685800" lvl="1" indent="-279400" algn="l" rtl="0">
              <a:lnSpc>
                <a:spcPct val="115000"/>
              </a:lnSpc>
              <a:spcBef>
                <a:spcPts val="0"/>
              </a:spcBef>
              <a:spcAft>
                <a:spcPts val="0"/>
              </a:spcAft>
              <a:buSzPts val="2800"/>
              <a:buChar char="o"/>
            </a:pPr>
            <a:r>
              <a:rPr lang="en-IL" sz="2800" b="1"/>
              <a:t>Network Position:</a:t>
            </a:r>
            <a:r>
              <a:rPr lang="en-IL" sz="2800"/>
              <a:t> Degree, Harmonic, Eigenvector, Betweenness, PageRank </a:t>
            </a:r>
            <a:endParaRPr/>
          </a:p>
          <a:p>
            <a:pPr marL="685800" lvl="1" indent="-228600" algn="l" rtl="0">
              <a:lnSpc>
                <a:spcPct val="90000"/>
              </a:lnSpc>
              <a:spcBef>
                <a:spcPts val="500"/>
              </a:spcBef>
              <a:spcAft>
                <a:spcPts val="0"/>
              </a:spcAft>
              <a:buClr>
                <a:schemeClr val="dk1"/>
              </a:buClr>
              <a:buSzPts val="2800"/>
              <a:buChar char="o"/>
            </a:pPr>
            <a:r>
              <a:rPr lang="en-IL" sz="2800" b="1"/>
              <a:t>Cohesion:</a:t>
            </a:r>
            <a:r>
              <a:rPr lang="en-IL" sz="2800"/>
              <a:t> Core Number, Clustering Coefficient </a:t>
            </a:r>
            <a:endParaRPr/>
          </a:p>
          <a:p>
            <a:pPr marL="685800" lvl="1" indent="-228600" algn="l" rtl="0">
              <a:lnSpc>
                <a:spcPct val="90000"/>
              </a:lnSpc>
              <a:spcBef>
                <a:spcPts val="500"/>
              </a:spcBef>
              <a:spcAft>
                <a:spcPts val="0"/>
              </a:spcAft>
              <a:buClr>
                <a:schemeClr val="dk1"/>
              </a:buClr>
              <a:buSzPts val="2800"/>
              <a:buChar char="o"/>
            </a:pPr>
            <a:r>
              <a:rPr lang="en-IL" sz="2800" b="1"/>
              <a:t>Community:</a:t>
            </a:r>
            <a:r>
              <a:rPr lang="en-IL" sz="2800"/>
              <a:t> Louvain Community ID</a:t>
            </a:r>
            <a:endParaRPr/>
          </a:p>
          <a:p>
            <a:pPr marL="228600" lvl="0" indent="-228600" algn="l" rtl="0">
              <a:lnSpc>
                <a:spcPct val="90000"/>
              </a:lnSpc>
              <a:spcBef>
                <a:spcPts val="1000"/>
              </a:spcBef>
              <a:spcAft>
                <a:spcPts val="0"/>
              </a:spcAft>
              <a:buClr>
                <a:schemeClr val="dk1"/>
              </a:buClr>
              <a:buSzPts val="3200"/>
              <a:buChar char="•"/>
            </a:pPr>
            <a:r>
              <a:rPr lang="en-IL" sz="3200"/>
              <a:t>These indicators provide </a:t>
            </a:r>
            <a:r>
              <a:rPr lang="en-IL" sz="3200" b="1"/>
              <a:t>interpretable structural features.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2"/>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TF-IDF and Account Relevance</a:t>
            </a:r>
            <a:endParaRPr/>
          </a:p>
        </p:txBody>
      </p:sp>
      <p:sp>
        <p:nvSpPr>
          <p:cNvPr id="247" name="Google Shape;247;p12"/>
          <p:cNvSpPr txBox="1">
            <a:spLocks noGrp="1"/>
          </p:cNvSpPr>
          <p:nvPr>
            <p:ph type="body" idx="1"/>
          </p:nvPr>
        </p:nvSpPr>
        <p:spPr>
          <a:xfrm>
            <a:off x="1243087" y="1825625"/>
            <a:ext cx="10582656" cy="4769728"/>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1200"/>
              </a:spcBef>
              <a:spcAft>
                <a:spcPts val="0"/>
              </a:spcAft>
              <a:buSzPts val="605"/>
              <a:buNone/>
            </a:pPr>
            <a:r>
              <a:rPr lang="en-IL" sz="2060"/>
              <a:t>TF-IDF measures how characteristic a term is of a topic compared with other topics. We use these term weights to calculate each account’s relevance to a topic based on the entities it uses.</a:t>
            </a:r>
            <a:endParaRPr sz="1840"/>
          </a:p>
          <a:p>
            <a:pPr marL="228600" lvl="0" indent="-173386" algn="l" rtl="0">
              <a:lnSpc>
                <a:spcPct val="150000"/>
              </a:lnSpc>
              <a:spcBef>
                <a:spcPts val="1200"/>
              </a:spcBef>
              <a:spcAft>
                <a:spcPts val="0"/>
              </a:spcAft>
              <a:buSzPts val="1530"/>
              <a:buChar char="•"/>
            </a:pPr>
            <a:r>
              <a:rPr lang="en-IL" sz="1530" b="1">
                <a:latin typeface="Arial"/>
                <a:ea typeface="Arial"/>
                <a:cs typeface="Arial"/>
                <a:sym typeface="Arial"/>
              </a:rPr>
              <a:t>Topic representation:</a:t>
            </a:r>
            <a:r>
              <a:rPr lang="en-IL" sz="1530">
                <a:latin typeface="Arial"/>
                <a:ea typeface="Arial"/>
                <a:cs typeface="Arial"/>
                <a:sym typeface="Arial"/>
              </a:rPr>
              <a:t> Treat each topic as a collection of its associated posts.</a:t>
            </a:r>
            <a:endParaRPr sz="1530">
              <a:latin typeface="Arial"/>
              <a:ea typeface="Arial"/>
              <a:cs typeface="Arial"/>
              <a:sym typeface="Arial"/>
            </a:endParaRPr>
          </a:p>
          <a:p>
            <a:pPr marL="228600" lvl="0" indent="-173386" algn="l" rtl="0">
              <a:lnSpc>
                <a:spcPct val="150000"/>
              </a:lnSpc>
              <a:spcBef>
                <a:spcPts val="0"/>
              </a:spcBef>
              <a:spcAft>
                <a:spcPts val="0"/>
              </a:spcAft>
              <a:buSzPts val="1530"/>
              <a:buChar char="•"/>
            </a:pPr>
            <a:r>
              <a:rPr lang="en-IL" sz="1530" b="1">
                <a:latin typeface="Arial"/>
                <a:ea typeface="Arial"/>
                <a:cs typeface="Arial"/>
                <a:sym typeface="Arial"/>
              </a:rPr>
              <a:t>Entity weighting:</a:t>
            </a:r>
            <a:r>
              <a:rPr lang="en-IL" sz="1530">
                <a:latin typeface="Arial"/>
                <a:ea typeface="Arial"/>
                <a:cs typeface="Arial"/>
                <a:sym typeface="Arial"/>
              </a:rPr>
              <a:t> Use TF-IDF to assign higher weights to entities that are frequent within a topic but uncommon across other topics.</a:t>
            </a:r>
            <a:endParaRPr sz="1530">
              <a:latin typeface="Arial"/>
              <a:ea typeface="Arial"/>
              <a:cs typeface="Arial"/>
              <a:sym typeface="Arial"/>
            </a:endParaRPr>
          </a:p>
          <a:p>
            <a:pPr marL="228600" lvl="0" indent="-173386" algn="l" rtl="0">
              <a:lnSpc>
                <a:spcPct val="150000"/>
              </a:lnSpc>
              <a:spcBef>
                <a:spcPts val="0"/>
              </a:spcBef>
              <a:spcAft>
                <a:spcPts val="0"/>
              </a:spcAft>
              <a:buSzPts val="1530"/>
              <a:buChar char="•"/>
            </a:pPr>
            <a:r>
              <a:rPr lang="en-IL" sz="1530" b="1">
                <a:latin typeface="Arial"/>
                <a:ea typeface="Arial"/>
                <a:cs typeface="Arial"/>
                <a:sym typeface="Arial"/>
              </a:rPr>
              <a:t>Account relevance:</a:t>
            </a:r>
            <a:r>
              <a:rPr lang="en-IL" sz="1530">
                <a:latin typeface="Arial"/>
                <a:ea typeface="Arial"/>
                <a:cs typeface="Arial"/>
                <a:sym typeface="Arial"/>
              </a:rPr>
              <a:t> Aggregate the TF-IDF scores of the entities an account uses within a topic to calculate its Key Score, with a penalty for activity across multiple topics.</a:t>
            </a:r>
            <a:endParaRPr sz="1530">
              <a:latin typeface="Arial"/>
              <a:ea typeface="Arial"/>
              <a:cs typeface="Arial"/>
              <a:sym typeface="Arial"/>
            </a:endParaRPr>
          </a:p>
          <a:p>
            <a:pPr marL="228600" lvl="0" indent="-173386" algn="l" rtl="0">
              <a:lnSpc>
                <a:spcPct val="150000"/>
              </a:lnSpc>
              <a:spcBef>
                <a:spcPts val="0"/>
              </a:spcBef>
              <a:spcAft>
                <a:spcPts val="0"/>
              </a:spcAft>
              <a:buSzPts val="1530"/>
              <a:buChar char="•"/>
            </a:pPr>
            <a:r>
              <a:rPr lang="en-IL" sz="1530" b="1">
                <a:latin typeface="Arial"/>
                <a:ea typeface="Arial"/>
                <a:cs typeface="Arial"/>
                <a:sym typeface="Arial"/>
              </a:rPr>
              <a:t>Account indicators:</a:t>
            </a:r>
            <a:r>
              <a:rPr lang="en-IL" sz="1530">
                <a:latin typeface="Arial"/>
                <a:ea typeface="Arial"/>
                <a:cs typeface="Arial"/>
                <a:sym typeface="Arial"/>
              </a:rPr>
              <a:t> Summarize these scores using Key Score Sum and Key Score Dominance.</a:t>
            </a:r>
            <a:endParaRPr sz="2245"/>
          </a:p>
          <a:p>
            <a:pPr marL="228600" lvl="0" indent="-87630" algn="l" rtl="0">
              <a:lnSpc>
                <a:spcPct val="150000"/>
              </a:lnSpc>
              <a:spcBef>
                <a:spcPts val="1200"/>
              </a:spcBef>
              <a:spcAft>
                <a:spcPts val="0"/>
              </a:spcAft>
              <a:buClr>
                <a:schemeClr val="dk1"/>
              </a:buClr>
              <a:buSzPts val="1320"/>
              <a:buNone/>
            </a:pPr>
            <a:endParaRPr sz="1420"/>
          </a:p>
          <a:p>
            <a:pPr marL="228600" lvl="0" indent="-87630" algn="l" rtl="0">
              <a:lnSpc>
                <a:spcPct val="150000"/>
              </a:lnSpc>
              <a:spcBef>
                <a:spcPts val="1000"/>
              </a:spcBef>
              <a:spcAft>
                <a:spcPts val="0"/>
              </a:spcAft>
              <a:buClr>
                <a:schemeClr val="dk1"/>
              </a:buClr>
              <a:buSzPts val="1320"/>
              <a:buNone/>
            </a:pPr>
            <a:endParaRPr sz="1420"/>
          </a:p>
          <a:p>
            <a:pPr marL="228600" lvl="0" indent="-87630" algn="l" rtl="0">
              <a:lnSpc>
                <a:spcPct val="150000"/>
              </a:lnSpc>
              <a:spcBef>
                <a:spcPts val="1000"/>
              </a:spcBef>
              <a:spcAft>
                <a:spcPts val="0"/>
              </a:spcAft>
              <a:buClr>
                <a:schemeClr val="dk1"/>
              </a:buClr>
              <a:buSzPts val="1320"/>
              <a:buNone/>
            </a:pPr>
            <a:endParaRPr sz="1420"/>
          </a:p>
          <a:p>
            <a:pPr marL="228600" lvl="0" indent="-87630" algn="l" rtl="0">
              <a:lnSpc>
                <a:spcPct val="150000"/>
              </a:lnSpc>
              <a:spcBef>
                <a:spcPts val="1000"/>
              </a:spcBef>
              <a:spcAft>
                <a:spcPts val="0"/>
              </a:spcAft>
              <a:buClr>
                <a:schemeClr val="dk1"/>
              </a:buClr>
              <a:buSzPts val="1320"/>
              <a:buNone/>
            </a:pPr>
            <a:endParaRPr sz="1420"/>
          </a:p>
          <a:p>
            <a:pPr marL="0" lvl="0" indent="0" algn="l" rtl="0">
              <a:lnSpc>
                <a:spcPct val="150000"/>
              </a:lnSpc>
              <a:spcBef>
                <a:spcPts val="1000"/>
              </a:spcBef>
              <a:spcAft>
                <a:spcPts val="0"/>
              </a:spcAft>
              <a:buSzPts val="605"/>
              <a:buNone/>
            </a:pPr>
            <a:endParaRPr sz="1420"/>
          </a:p>
        </p:txBody>
      </p:sp>
      <p:sp>
        <p:nvSpPr>
          <p:cNvPr id="248" name="Google Shape;248;p12"/>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9</a:t>
            </a:fld>
            <a:endParaRPr/>
          </a:p>
        </p:txBody>
      </p:sp>
      <p:pic>
        <p:nvPicPr>
          <p:cNvPr id="249" name="Google Shape;249;p12" descr="idf_formula"/>
          <p:cNvPicPr preferRelativeResize="0"/>
          <p:nvPr/>
        </p:nvPicPr>
        <p:blipFill rotWithShape="1">
          <a:blip r:embed="rId3">
            <a:alphaModFix/>
          </a:blip>
          <a:srcRect/>
          <a:stretch/>
        </p:blipFill>
        <p:spPr>
          <a:xfrm>
            <a:off x="3531169" y="5259566"/>
            <a:ext cx="5569130" cy="891061"/>
          </a:xfrm>
          <a:prstGeom prst="rect">
            <a:avLst/>
          </a:prstGeom>
          <a:noFill/>
          <a:ln>
            <a:noFill/>
          </a:ln>
        </p:spPr>
      </p:pic>
      <p:sp>
        <p:nvSpPr>
          <p:cNvPr id="250" name="Google Shape;250;p12"/>
          <p:cNvSpPr txBox="1"/>
          <p:nvPr/>
        </p:nvSpPr>
        <p:spPr>
          <a:xfrm>
            <a:off x="1329674" y="6598942"/>
            <a:ext cx="626296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L" sz="900" b="0" i="0" u="none" strike="noStrike" cap="none">
                <a:solidFill>
                  <a:schemeClr val="dk1"/>
                </a:solidFill>
                <a:latin typeface="Calibri"/>
                <a:ea typeface="Calibri"/>
                <a:cs typeface="Calibri"/>
                <a:sym typeface="Calibri"/>
              </a:rPr>
              <a:t>https://www.geeksforgeeks.org/machine-learning/understanding-tf-idf-term-frequency-inverse-document-frequency/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1"/>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Topic-Based Indicators</a:t>
            </a:r>
            <a:endParaRPr/>
          </a:p>
        </p:txBody>
      </p:sp>
      <p:sp>
        <p:nvSpPr>
          <p:cNvPr id="256" name="Google Shape;256;p11"/>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10</a:t>
            </a:fld>
            <a:endParaRPr/>
          </a:p>
        </p:txBody>
      </p:sp>
      <p:sp>
        <p:nvSpPr>
          <p:cNvPr id="257" name="Google Shape;257;p11"/>
          <p:cNvSpPr txBox="1">
            <a:spLocks noGrp="1"/>
          </p:cNvSpPr>
          <p:nvPr>
            <p:ph type="body" idx="1"/>
          </p:nvPr>
        </p:nvSpPr>
        <p:spPr>
          <a:xfrm>
            <a:off x="1243087" y="1825624"/>
            <a:ext cx="10582656" cy="454660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IL"/>
              <a:t>Calculated from each </a:t>
            </a:r>
            <a:r>
              <a:rPr lang="en-IL" b="1"/>
              <a:t>author’s posts and hashtags</a:t>
            </a:r>
            <a:r>
              <a:rPr lang="en-IL"/>
              <a:t> to capture their thematic activity.</a:t>
            </a:r>
            <a:endParaRPr/>
          </a:p>
          <a:p>
            <a:pPr marL="228600" lvl="0" indent="-228600" algn="l" rtl="0">
              <a:lnSpc>
                <a:spcPct val="90000"/>
              </a:lnSpc>
              <a:spcBef>
                <a:spcPts val="1000"/>
              </a:spcBef>
              <a:spcAft>
                <a:spcPts val="0"/>
              </a:spcAft>
              <a:buClr>
                <a:schemeClr val="dk1"/>
              </a:buClr>
              <a:buSzPct val="100000"/>
              <a:buChar char="•"/>
            </a:pPr>
            <a:r>
              <a:rPr lang="en-IL"/>
              <a:t>Activity-Based Indicators</a:t>
            </a:r>
            <a:endParaRPr/>
          </a:p>
          <a:p>
            <a:pPr marL="685800" lvl="1" indent="-228600" algn="l" rtl="0">
              <a:lnSpc>
                <a:spcPct val="90000"/>
              </a:lnSpc>
              <a:spcBef>
                <a:spcPts val="500"/>
              </a:spcBef>
              <a:spcAft>
                <a:spcPts val="0"/>
              </a:spcAft>
              <a:buClr>
                <a:schemeClr val="dk1"/>
              </a:buClr>
              <a:buSzPct val="100000"/>
              <a:buChar char="o"/>
            </a:pPr>
            <a:r>
              <a:rPr lang="en-IL" sz="2400" b="1"/>
              <a:t>Posting Dominance </a:t>
            </a:r>
            <a:r>
              <a:rPr lang="en-IL" sz="2400"/>
              <a:t>- proportion of an author’s posts assigned to their most frequent topic. </a:t>
            </a:r>
            <a:endParaRPr/>
          </a:p>
          <a:p>
            <a:pPr marL="685800" lvl="1" indent="-228600" algn="l" rtl="0">
              <a:lnSpc>
                <a:spcPct val="90000"/>
              </a:lnSpc>
              <a:spcBef>
                <a:spcPts val="500"/>
              </a:spcBef>
              <a:spcAft>
                <a:spcPts val="0"/>
              </a:spcAft>
              <a:buClr>
                <a:schemeClr val="dk1"/>
              </a:buClr>
              <a:buSzPct val="100000"/>
              <a:buChar char="o"/>
            </a:pPr>
            <a:r>
              <a:rPr lang="en-IL" sz="2400" b="1"/>
              <a:t>Top Topic</a:t>
            </a:r>
            <a:r>
              <a:rPr lang="en-IL" sz="2400"/>
              <a:t> - the author’s dominant topic. </a:t>
            </a:r>
            <a:endParaRPr/>
          </a:p>
          <a:p>
            <a:pPr marL="228600" lvl="0" indent="-228600" algn="l" rtl="0">
              <a:lnSpc>
                <a:spcPct val="90000"/>
              </a:lnSpc>
              <a:spcBef>
                <a:spcPts val="1000"/>
              </a:spcBef>
              <a:spcAft>
                <a:spcPts val="0"/>
              </a:spcAft>
              <a:buClr>
                <a:schemeClr val="dk1"/>
              </a:buClr>
              <a:buSzPct val="126316"/>
              <a:buChar char="•"/>
            </a:pPr>
            <a:r>
              <a:rPr lang="en-IL"/>
              <a:t>TF-IDF-Based Indicators</a:t>
            </a:r>
            <a:endParaRPr sz="1900"/>
          </a:p>
          <a:p>
            <a:pPr marL="685800" lvl="1" indent="-228600" algn="l" rtl="0">
              <a:lnSpc>
                <a:spcPct val="90000"/>
              </a:lnSpc>
              <a:spcBef>
                <a:spcPts val="500"/>
              </a:spcBef>
              <a:spcAft>
                <a:spcPts val="0"/>
              </a:spcAft>
              <a:buClr>
                <a:schemeClr val="dk1"/>
              </a:buClr>
              <a:buSzPct val="100000"/>
              <a:buChar char="o"/>
            </a:pPr>
            <a:r>
              <a:rPr lang="en-IL" sz="2400" b="1"/>
              <a:t>Key Score (Topic)</a:t>
            </a:r>
            <a:r>
              <a:rPr lang="en-IL" sz="2400"/>
              <a:t> - author’s relevance to a specific topic, calculated by aggregating the TF-IDF scores of the entities used by the author in that topic, with a penalty for activity across multiple topics. </a:t>
            </a:r>
            <a:endParaRPr/>
          </a:p>
          <a:p>
            <a:pPr marL="685800" lvl="1" indent="-228600" algn="l" rtl="0">
              <a:lnSpc>
                <a:spcPct val="90000"/>
              </a:lnSpc>
              <a:spcBef>
                <a:spcPts val="500"/>
              </a:spcBef>
              <a:spcAft>
                <a:spcPts val="0"/>
              </a:spcAft>
              <a:buClr>
                <a:schemeClr val="dk1"/>
              </a:buClr>
              <a:buSzPct val="100000"/>
              <a:buChar char="o"/>
            </a:pPr>
            <a:r>
              <a:rPr lang="en-IL" sz="2400" b="1"/>
              <a:t>Key Score Sum </a:t>
            </a:r>
            <a:r>
              <a:rPr lang="en-IL" sz="2400"/>
              <a:t>- sum of the author’s key scores across all topics. </a:t>
            </a:r>
            <a:endParaRPr/>
          </a:p>
          <a:p>
            <a:pPr marL="685800" lvl="1" indent="-228600" algn="l" rtl="0">
              <a:lnSpc>
                <a:spcPct val="90000"/>
              </a:lnSpc>
              <a:spcBef>
                <a:spcPts val="500"/>
              </a:spcBef>
              <a:spcAft>
                <a:spcPts val="0"/>
              </a:spcAft>
              <a:buClr>
                <a:schemeClr val="dk1"/>
              </a:buClr>
              <a:buSzPct val="100000"/>
              <a:buChar char="o"/>
            </a:pPr>
            <a:r>
              <a:rPr lang="en-IL" sz="2400" b="1"/>
              <a:t>Key Score Dominance </a:t>
            </a:r>
            <a:r>
              <a:rPr lang="en-IL" sz="2400"/>
              <a:t>- proportion of the total key score concentrated in the author’s strongest topic.</a:t>
            </a:r>
            <a:endParaRPr/>
          </a:p>
          <a:p>
            <a:pPr marL="228600" lvl="0" indent="-228600" algn="l" rtl="0">
              <a:lnSpc>
                <a:spcPct val="90000"/>
              </a:lnSpc>
              <a:spcBef>
                <a:spcPts val="1000"/>
              </a:spcBef>
              <a:spcAft>
                <a:spcPts val="0"/>
              </a:spcAft>
              <a:buClr>
                <a:schemeClr val="dk1"/>
              </a:buClr>
              <a:buSzPct val="100000"/>
              <a:buChar char="•"/>
            </a:pPr>
            <a:r>
              <a:rPr lang="en-IL"/>
              <a:t>Together, these indicators capture the </a:t>
            </a:r>
            <a:r>
              <a:rPr lang="en-IL" b="1"/>
              <a:t>author’s narrative focus and thematic behaviour</a:t>
            </a:r>
            <a:r>
              <a:rPr lang="en-IL"/>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8"/>
          <p:cNvSpPr txBox="1">
            <a:spLocks noGrp="1"/>
          </p:cNvSpPr>
          <p:nvPr>
            <p:ph type="title"/>
          </p:nvPr>
        </p:nvSpPr>
        <p:spPr>
          <a:xfrm>
            <a:off x="2509858" y="867800"/>
            <a:ext cx="10477500" cy="666900"/>
          </a:xfrm>
          <a:prstGeom prst="rect">
            <a:avLst/>
          </a:prstGeom>
          <a:solidFill>
            <a:srgbClr val="000000">
              <a:alpha val="0"/>
            </a:srgbClr>
          </a:solidFill>
          <a:ln>
            <a:noFill/>
          </a:ln>
        </p:spPr>
        <p:txBody>
          <a:bodyPr spcFirstLastPara="1" wrap="square" lIns="0" tIns="0" rIns="0" bIns="0" anchor="ctr" anchorCtr="0">
            <a:normAutofit/>
          </a:bodyPr>
          <a:lstStyle/>
          <a:p>
            <a:pPr marL="0" lvl="0" indent="0" algn="l" rtl="0">
              <a:spcBef>
                <a:spcPts val="0"/>
              </a:spcBef>
              <a:spcAft>
                <a:spcPts val="0"/>
              </a:spcAft>
              <a:buNone/>
            </a:pPr>
            <a:r>
              <a:rPr lang="en-IL" sz="3800" b="1">
                <a:solidFill>
                  <a:srgbClr val="009DBB"/>
                </a:solidFill>
                <a:latin typeface="Calibri"/>
                <a:ea typeface="Calibri"/>
                <a:cs typeface="Calibri"/>
                <a:sym typeface="Calibri"/>
              </a:rPr>
              <a:t>Indicators Workflow</a:t>
            </a:r>
            <a:endParaRPr sz="3800" b="1">
              <a:solidFill>
                <a:srgbClr val="009DBB"/>
              </a:solidFill>
              <a:latin typeface="Calibri"/>
              <a:ea typeface="Calibri"/>
              <a:cs typeface="Calibri"/>
              <a:sym typeface="Calibri"/>
            </a:endParaRPr>
          </a:p>
        </p:txBody>
      </p:sp>
      <p:pic>
        <p:nvPicPr>
          <p:cNvPr id="263" name="Google Shape;263;p8"/>
          <p:cNvPicPr preferRelativeResize="0"/>
          <p:nvPr/>
        </p:nvPicPr>
        <p:blipFill rotWithShape="1">
          <a:blip r:embed="rId3">
            <a:alphaModFix/>
          </a:blip>
          <a:srcRect/>
          <a:stretch/>
        </p:blipFill>
        <p:spPr>
          <a:xfrm>
            <a:off x="1652588" y="2418531"/>
            <a:ext cx="28500" cy="647700"/>
          </a:xfrm>
          <a:prstGeom prst="rect">
            <a:avLst/>
          </a:prstGeom>
          <a:noFill/>
          <a:ln>
            <a:noFill/>
          </a:ln>
        </p:spPr>
      </p:pic>
      <p:pic>
        <p:nvPicPr>
          <p:cNvPr id="264" name="Google Shape;264;p8"/>
          <p:cNvPicPr preferRelativeResize="0"/>
          <p:nvPr/>
        </p:nvPicPr>
        <p:blipFill rotWithShape="1">
          <a:blip r:embed="rId4">
            <a:alphaModFix/>
          </a:blip>
          <a:srcRect/>
          <a:stretch/>
        </p:blipFill>
        <p:spPr>
          <a:xfrm>
            <a:off x="1652588" y="3561531"/>
            <a:ext cx="28500" cy="647700"/>
          </a:xfrm>
          <a:prstGeom prst="rect">
            <a:avLst/>
          </a:prstGeom>
          <a:noFill/>
          <a:ln>
            <a:noFill/>
          </a:ln>
        </p:spPr>
      </p:pic>
      <p:pic>
        <p:nvPicPr>
          <p:cNvPr id="265" name="Google Shape;265;p8"/>
          <p:cNvPicPr preferRelativeResize="0"/>
          <p:nvPr/>
        </p:nvPicPr>
        <p:blipFill rotWithShape="1">
          <a:blip r:embed="rId5">
            <a:alphaModFix/>
          </a:blip>
          <a:srcRect/>
          <a:stretch/>
        </p:blipFill>
        <p:spPr>
          <a:xfrm>
            <a:off x="1652588" y="4704531"/>
            <a:ext cx="28500" cy="647700"/>
          </a:xfrm>
          <a:prstGeom prst="rect">
            <a:avLst/>
          </a:prstGeom>
          <a:noFill/>
          <a:ln>
            <a:noFill/>
          </a:ln>
        </p:spPr>
      </p:pic>
      <p:grpSp>
        <p:nvGrpSpPr>
          <p:cNvPr id="266" name="Google Shape;266;p8"/>
          <p:cNvGrpSpPr/>
          <p:nvPr/>
        </p:nvGrpSpPr>
        <p:grpSpPr>
          <a:xfrm>
            <a:off x="7810500" y="1713681"/>
            <a:ext cx="4000500" cy="4572000"/>
            <a:chOff x="0" y="0"/>
            <a:chExt cx="4000500" cy="4572000"/>
          </a:xfrm>
        </p:grpSpPr>
        <p:sp>
          <p:nvSpPr>
            <p:cNvPr id="267" name="Google Shape;267;p8"/>
            <p:cNvSpPr/>
            <p:nvPr/>
          </p:nvSpPr>
          <p:spPr>
            <a:xfrm>
              <a:off x="0" y="0"/>
              <a:ext cx="4000500" cy="4572000"/>
            </a:xfrm>
            <a:prstGeom prst="roundRect">
              <a:avLst>
                <a:gd name="adj" fmla="val 2857"/>
              </a:avLst>
            </a:prstGeom>
            <a:solidFill>
              <a:srgbClr val="FFFFFF"/>
            </a:solidFill>
            <a:ln w="14300"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8" name="Google Shape;268;p8"/>
            <p:cNvSpPr txBox="1"/>
            <p:nvPr/>
          </p:nvSpPr>
          <p:spPr>
            <a:xfrm>
              <a:off x="142875" y="114300"/>
              <a:ext cx="3714900" cy="33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IL" sz="1600" b="1">
                  <a:solidFill>
                    <a:srgbClr val="0F172A"/>
                  </a:solidFill>
                  <a:latin typeface="Calibri"/>
                  <a:ea typeface="Calibri"/>
                  <a:cs typeface="Calibri"/>
                  <a:sym typeface="Calibri"/>
                </a:rPr>
                <a:t>Author Feature Vector (Example)</a:t>
              </a:r>
              <a:endParaRPr sz="1600" b="1">
                <a:solidFill>
                  <a:srgbClr val="0F172A"/>
                </a:solidFill>
                <a:latin typeface="Calibri"/>
                <a:ea typeface="Calibri"/>
                <a:cs typeface="Calibri"/>
                <a:sym typeface="Calibri"/>
              </a:endParaRPr>
            </a:p>
          </p:txBody>
        </p:sp>
      </p:grpSp>
      <p:sp>
        <p:nvSpPr>
          <p:cNvPr id="269" name="Google Shape;269;p8"/>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11</a:t>
            </a:fld>
            <a:endParaRPr/>
          </a:p>
        </p:txBody>
      </p:sp>
      <p:grpSp>
        <p:nvGrpSpPr>
          <p:cNvPr id="270" name="Google Shape;270;p8"/>
          <p:cNvGrpSpPr/>
          <p:nvPr/>
        </p:nvGrpSpPr>
        <p:grpSpPr>
          <a:xfrm>
            <a:off x="1238250" y="1713681"/>
            <a:ext cx="6286500" cy="914400"/>
            <a:chOff x="0" y="0"/>
            <a:chExt cx="6286500" cy="914400"/>
          </a:xfrm>
        </p:grpSpPr>
        <p:sp>
          <p:nvSpPr>
            <p:cNvPr id="271" name="Google Shape;271;p8"/>
            <p:cNvSpPr/>
            <p:nvPr/>
          </p:nvSpPr>
          <p:spPr>
            <a:xfrm>
              <a:off x="0" y="0"/>
              <a:ext cx="6286500" cy="914400"/>
            </a:xfrm>
            <a:prstGeom prst="roundRect">
              <a:avLst>
                <a:gd name="adj" fmla="val 10416"/>
              </a:avLst>
            </a:prstGeom>
            <a:solidFill>
              <a:srgbClr val="FFFFFF"/>
            </a:solidFill>
            <a:ln w="19050" cap="flat" cmpd="sng">
              <a:solidFill>
                <a:srgbClr val="009DB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2" name="Google Shape;272;p8"/>
            <p:cNvSpPr/>
            <p:nvPr/>
          </p:nvSpPr>
          <p:spPr>
            <a:xfrm>
              <a:off x="219075" y="247650"/>
              <a:ext cx="419100" cy="419100"/>
            </a:xfrm>
            <a:prstGeom prst="ellipse">
              <a:avLst/>
            </a:prstGeom>
            <a:solidFill>
              <a:srgbClr val="009DB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 name="Google Shape;273;p8"/>
            <p:cNvSpPr txBox="1"/>
            <p:nvPr/>
          </p:nvSpPr>
          <p:spPr>
            <a:xfrm>
              <a:off x="219075" y="247650"/>
              <a:ext cx="4191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IL" sz="1400" b="1">
                  <a:solidFill>
                    <a:srgbClr val="FFFFFF"/>
                  </a:solidFill>
                  <a:latin typeface="Calibri"/>
                  <a:ea typeface="Calibri"/>
                  <a:cs typeface="Calibri"/>
                  <a:sym typeface="Calibri"/>
                </a:rPr>
                <a:t>01</a:t>
              </a:r>
              <a:endParaRPr sz="1400" b="1">
                <a:solidFill>
                  <a:srgbClr val="FFFFFF"/>
                </a:solidFill>
                <a:latin typeface="Calibri"/>
                <a:ea typeface="Calibri"/>
                <a:cs typeface="Calibri"/>
                <a:sym typeface="Calibri"/>
              </a:endParaRPr>
            </a:p>
          </p:txBody>
        </p:sp>
        <p:sp>
          <p:nvSpPr>
            <p:cNvPr id="274" name="Google Shape;274;p8"/>
            <p:cNvSpPr txBox="1"/>
            <p:nvPr/>
          </p:nvSpPr>
          <p:spPr>
            <a:xfrm>
              <a:off x="809625" y="0"/>
              <a:ext cx="5238900" cy="914400"/>
            </a:xfrm>
            <a:prstGeom prst="rect">
              <a:avLst/>
            </a:prstGeom>
            <a:noFill/>
            <a:ln>
              <a:noFill/>
            </a:ln>
          </p:spPr>
          <p:txBody>
            <a:bodyPr spcFirstLastPara="1" wrap="square" lIns="0" tIns="0" rIns="142875" bIns="0" anchor="ctr" anchorCtr="0">
              <a:noAutofit/>
            </a:bodyPr>
            <a:lstStyle/>
            <a:p>
              <a:pPr marL="0" lvl="0" indent="0" algn="l" rtl="0">
                <a:spcBef>
                  <a:spcPts val="0"/>
                </a:spcBef>
                <a:spcAft>
                  <a:spcPts val="0"/>
                </a:spcAft>
                <a:buNone/>
              </a:pPr>
              <a:r>
                <a:rPr lang="en-IL" sz="1500" b="0">
                  <a:solidFill>
                    <a:srgbClr val="1E293B"/>
                  </a:solidFill>
                  <a:latin typeface="Calibri"/>
                  <a:ea typeface="Calibri"/>
                  <a:cs typeface="Calibri"/>
                  <a:sym typeface="Calibri"/>
                </a:rPr>
                <a:t>Build a co-action graph connecting accounts with similar activity.</a:t>
              </a:r>
              <a:endParaRPr sz="1500" b="0">
                <a:solidFill>
                  <a:srgbClr val="1E293B"/>
                </a:solidFill>
                <a:latin typeface="Calibri"/>
                <a:ea typeface="Calibri"/>
                <a:cs typeface="Calibri"/>
                <a:sym typeface="Calibri"/>
              </a:endParaRPr>
            </a:p>
          </p:txBody>
        </p:sp>
      </p:grpSp>
      <p:grpSp>
        <p:nvGrpSpPr>
          <p:cNvPr id="275" name="Google Shape;275;p8"/>
          <p:cNvGrpSpPr/>
          <p:nvPr/>
        </p:nvGrpSpPr>
        <p:grpSpPr>
          <a:xfrm>
            <a:off x="1238250" y="2856681"/>
            <a:ext cx="6286500" cy="914400"/>
            <a:chOff x="0" y="0"/>
            <a:chExt cx="6286500" cy="914400"/>
          </a:xfrm>
        </p:grpSpPr>
        <p:sp>
          <p:nvSpPr>
            <p:cNvPr id="276" name="Google Shape;276;p8"/>
            <p:cNvSpPr/>
            <p:nvPr/>
          </p:nvSpPr>
          <p:spPr>
            <a:xfrm>
              <a:off x="0" y="0"/>
              <a:ext cx="6286500" cy="914400"/>
            </a:xfrm>
            <a:prstGeom prst="roundRect">
              <a:avLst>
                <a:gd name="adj" fmla="val 1041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7" name="Google Shape;277;p8"/>
            <p:cNvSpPr/>
            <p:nvPr/>
          </p:nvSpPr>
          <p:spPr>
            <a:xfrm>
              <a:off x="219075" y="247650"/>
              <a:ext cx="419100" cy="419100"/>
            </a:xfrm>
            <a:prstGeom prst="ellipse">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8" name="Google Shape;278;p8"/>
            <p:cNvSpPr txBox="1"/>
            <p:nvPr/>
          </p:nvSpPr>
          <p:spPr>
            <a:xfrm>
              <a:off x="219075" y="247650"/>
              <a:ext cx="4191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IL" sz="1400" b="1">
                  <a:solidFill>
                    <a:srgbClr val="FFFFFF"/>
                  </a:solidFill>
                  <a:latin typeface="Calibri"/>
                  <a:ea typeface="Calibri"/>
                  <a:cs typeface="Calibri"/>
                  <a:sym typeface="Calibri"/>
                </a:rPr>
                <a:t>02</a:t>
              </a:r>
              <a:endParaRPr sz="1400" b="1">
                <a:solidFill>
                  <a:srgbClr val="FFFFFF"/>
                </a:solidFill>
                <a:latin typeface="Calibri"/>
                <a:ea typeface="Calibri"/>
                <a:cs typeface="Calibri"/>
                <a:sym typeface="Calibri"/>
              </a:endParaRPr>
            </a:p>
          </p:txBody>
        </p:sp>
        <p:sp>
          <p:nvSpPr>
            <p:cNvPr id="279" name="Google Shape;279;p8"/>
            <p:cNvSpPr txBox="1"/>
            <p:nvPr/>
          </p:nvSpPr>
          <p:spPr>
            <a:xfrm>
              <a:off x="809625" y="0"/>
              <a:ext cx="5238900" cy="914400"/>
            </a:xfrm>
            <a:prstGeom prst="rect">
              <a:avLst/>
            </a:prstGeom>
            <a:noFill/>
            <a:ln>
              <a:noFill/>
            </a:ln>
          </p:spPr>
          <p:txBody>
            <a:bodyPr spcFirstLastPara="1" wrap="square" lIns="0" tIns="0" rIns="142875" bIns="0" anchor="ctr" anchorCtr="0">
              <a:noAutofit/>
            </a:bodyPr>
            <a:lstStyle/>
            <a:p>
              <a:pPr marL="0" lvl="0" indent="0" algn="l" rtl="0">
                <a:spcBef>
                  <a:spcPts val="0"/>
                </a:spcBef>
                <a:spcAft>
                  <a:spcPts val="0"/>
                </a:spcAft>
                <a:buNone/>
              </a:pPr>
              <a:r>
                <a:rPr lang="en-IL" sz="1400" b="0">
                  <a:solidFill>
                    <a:srgbClr val="1E293B"/>
                  </a:solidFill>
                  <a:latin typeface="Calibri"/>
                  <a:ea typeface="Calibri"/>
                  <a:cs typeface="Calibri"/>
                  <a:sym typeface="Calibri"/>
                </a:rPr>
                <a:t>Calculate </a:t>
              </a:r>
              <a:r>
                <a:rPr lang="en-IL">
                  <a:solidFill>
                    <a:srgbClr val="1E293B"/>
                  </a:solidFill>
                  <a:latin typeface="Calibri"/>
                  <a:ea typeface="Calibri"/>
                  <a:cs typeface="Calibri"/>
                  <a:sym typeface="Calibri"/>
                </a:rPr>
                <a:t>graph-based indicators and topic-based indicators.</a:t>
              </a:r>
              <a:endParaRPr sz="1400" b="0">
                <a:solidFill>
                  <a:srgbClr val="1E293B"/>
                </a:solidFill>
                <a:latin typeface="Calibri"/>
                <a:ea typeface="Calibri"/>
                <a:cs typeface="Calibri"/>
                <a:sym typeface="Calibri"/>
              </a:endParaRPr>
            </a:p>
          </p:txBody>
        </p:sp>
      </p:grpSp>
      <p:grpSp>
        <p:nvGrpSpPr>
          <p:cNvPr id="280" name="Google Shape;280;p8"/>
          <p:cNvGrpSpPr/>
          <p:nvPr/>
        </p:nvGrpSpPr>
        <p:grpSpPr>
          <a:xfrm>
            <a:off x="1238250" y="3999681"/>
            <a:ext cx="6286500" cy="914400"/>
            <a:chOff x="0" y="0"/>
            <a:chExt cx="6286500" cy="914400"/>
          </a:xfrm>
        </p:grpSpPr>
        <p:sp>
          <p:nvSpPr>
            <p:cNvPr id="281" name="Google Shape;281;p8"/>
            <p:cNvSpPr/>
            <p:nvPr/>
          </p:nvSpPr>
          <p:spPr>
            <a:xfrm>
              <a:off x="0" y="0"/>
              <a:ext cx="6286500" cy="914400"/>
            </a:xfrm>
            <a:prstGeom prst="roundRect">
              <a:avLst>
                <a:gd name="adj" fmla="val 1041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2" name="Google Shape;282;p8"/>
            <p:cNvSpPr/>
            <p:nvPr/>
          </p:nvSpPr>
          <p:spPr>
            <a:xfrm>
              <a:off x="219075" y="247650"/>
              <a:ext cx="419100" cy="419100"/>
            </a:xfrm>
            <a:prstGeom prst="ellipse">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3" name="Google Shape;283;p8"/>
            <p:cNvSpPr txBox="1"/>
            <p:nvPr/>
          </p:nvSpPr>
          <p:spPr>
            <a:xfrm>
              <a:off x="219075" y="247650"/>
              <a:ext cx="4191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IL" sz="1400" b="1">
                  <a:solidFill>
                    <a:srgbClr val="FFFFFF"/>
                  </a:solidFill>
                  <a:latin typeface="Calibri"/>
                  <a:ea typeface="Calibri"/>
                  <a:cs typeface="Calibri"/>
                  <a:sym typeface="Calibri"/>
                </a:rPr>
                <a:t>03</a:t>
              </a:r>
              <a:endParaRPr sz="1400" b="1">
                <a:solidFill>
                  <a:srgbClr val="FFFFFF"/>
                </a:solidFill>
                <a:latin typeface="Calibri"/>
                <a:ea typeface="Calibri"/>
                <a:cs typeface="Calibri"/>
                <a:sym typeface="Calibri"/>
              </a:endParaRPr>
            </a:p>
          </p:txBody>
        </p:sp>
        <p:sp>
          <p:nvSpPr>
            <p:cNvPr id="284" name="Google Shape;284;p8"/>
            <p:cNvSpPr txBox="1"/>
            <p:nvPr/>
          </p:nvSpPr>
          <p:spPr>
            <a:xfrm>
              <a:off x="809625" y="0"/>
              <a:ext cx="5238900" cy="914400"/>
            </a:xfrm>
            <a:prstGeom prst="rect">
              <a:avLst/>
            </a:prstGeom>
            <a:noFill/>
            <a:ln>
              <a:noFill/>
            </a:ln>
          </p:spPr>
          <p:txBody>
            <a:bodyPr spcFirstLastPara="1" wrap="square" lIns="0" tIns="0" rIns="142875" bIns="0" anchor="ctr" anchorCtr="0">
              <a:noAutofit/>
            </a:bodyPr>
            <a:lstStyle/>
            <a:p>
              <a:pPr marL="0" lvl="0" indent="0" algn="l" rtl="0">
                <a:spcBef>
                  <a:spcPts val="0"/>
                </a:spcBef>
                <a:spcAft>
                  <a:spcPts val="0"/>
                </a:spcAft>
                <a:buNone/>
              </a:pPr>
              <a:r>
                <a:rPr lang="en-IL" sz="1500" b="0">
                  <a:solidFill>
                    <a:srgbClr val="1E293B"/>
                  </a:solidFill>
                  <a:latin typeface="Calibri"/>
                  <a:ea typeface="Calibri"/>
                  <a:cs typeface="Calibri"/>
                  <a:sym typeface="Calibri"/>
                </a:rPr>
                <a:t>Combine the indicator values into a feature vector for each account.</a:t>
              </a:r>
              <a:endParaRPr sz="1500" b="0">
                <a:solidFill>
                  <a:srgbClr val="1E293B"/>
                </a:solidFill>
                <a:latin typeface="Calibri"/>
                <a:ea typeface="Calibri"/>
                <a:cs typeface="Calibri"/>
                <a:sym typeface="Calibri"/>
              </a:endParaRPr>
            </a:p>
          </p:txBody>
        </p:sp>
      </p:grpSp>
      <p:grpSp>
        <p:nvGrpSpPr>
          <p:cNvPr id="285" name="Google Shape;285;p8"/>
          <p:cNvGrpSpPr/>
          <p:nvPr/>
        </p:nvGrpSpPr>
        <p:grpSpPr>
          <a:xfrm>
            <a:off x="1238250" y="5142681"/>
            <a:ext cx="6286500" cy="914400"/>
            <a:chOff x="0" y="0"/>
            <a:chExt cx="6286500" cy="914400"/>
          </a:xfrm>
        </p:grpSpPr>
        <p:sp>
          <p:nvSpPr>
            <p:cNvPr id="286" name="Google Shape;286;p8"/>
            <p:cNvSpPr/>
            <p:nvPr/>
          </p:nvSpPr>
          <p:spPr>
            <a:xfrm>
              <a:off x="0" y="0"/>
              <a:ext cx="6286500" cy="914400"/>
            </a:xfrm>
            <a:prstGeom prst="roundRect">
              <a:avLst>
                <a:gd name="adj" fmla="val 1041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7" name="Google Shape;287;p8"/>
            <p:cNvSpPr/>
            <p:nvPr/>
          </p:nvSpPr>
          <p:spPr>
            <a:xfrm>
              <a:off x="219075" y="247650"/>
              <a:ext cx="419100" cy="419100"/>
            </a:xfrm>
            <a:prstGeom prst="ellipse">
              <a:avLst/>
            </a:prstGeom>
            <a:solidFill>
              <a:srgbClr val="4F46E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8" name="Google Shape;288;p8"/>
            <p:cNvSpPr txBox="1"/>
            <p:nvPr/>
          </p:nvSpPr>
          <p:spPr>
            <a:xfrm>
              <a:off x="219075" y="247650"/>
              <a:ext cx="419100" cy="419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IL" sz="1400" b="1">
                  <a:solidFill>
                    <a:srgbClr val="FFFFFF"/>
                  </a:solidFill>
                  <a:latin typeface="Calibri"/>
                  <a:ea typeface="Calibri"/>
                  <a:cs typeface="Calibri"/>
                  <a:sym typeface="Calibri"/>
                </a:rPr>
                <a:t>04</a:t>
              </a:r>
              <a:endParaRPr sz="1400" b="1">
                <a:solidFill>
                  <a:srgbClr val="FFFFFF"/>
                </a:solidFill>
                <a:latin typeface="Calibri"/>
                <a:ea typeface="Calibri"/>
                <a:cs typeface="Calibri"/>
                <a:sym typeface="Calibri"/>
              </a:endParaRPr>
            </a:p>
          </p:txBody>
        </p:sp>
        <p:sp>
          <p:nvSpPr>
            <p:cNvPr id="289" name="Google Shape;289;p8"/>
            <p:cNvSpPr txBox="1"/>
            <p:nvPr/>
          </p:nvSpPr>
          <p:spPr>
            <a:xfrm>
              <a:off x="809625" y="0"/>
              <a:ext cx="5238900" cy="914400"/>
            </a:xfrm>
            <a:prstGeom prst="rect">
              <a:avLst/>
            </a:prstGeom>
            <a:noFill/>
            <a:ln>
              <a:noFill/>
            </a:ln>
          </p:spPr>
          <p:txBody>
            <a:bodyPr spcFirstLastPara="1" wrap="square" lIns="0" tIns="0" rIns="142875" bIns="0" anchor="ctr" anchorCtr="0">
              <a:noAutofit/>
            </a:bodyPr>
            <a:lstStyle/>
            <a:p>
              <a:pPr marL="0" lvl="0" indent="0" algn="l" rtl="0">
                <a:spcBef>
                  <a:spcPts val="0"/>
                </a:spcBef>
                <a:spcAft>
                  <a:spcPts val="0"/>
                </a:spcAft>
                <a:buNone/>
              </a:pPr>
              <a:r>
                <a:rPr lang="en-IL" sz="1500" b="0">
                  <a:solidFill>
                    <a:srgbClr val="1E293B"/>
                  </a:solidFill>
                  <a:latin typeface="Calibri"/>
                  <a:ea typeface="Calibri"/>
                  <a:cs typeface="Calibri"/>
                  <a:sym typeface="Calibri"/>
                </a:rPr>
                <a:t>Use these feature vectors to classify accounts as IO or non-IO.</a:t>
              </a:r>
              <a:endParaRPr sz="1500" b="0">
                <a:solidFill>
                  <a:srgbClr val="1E293B"/>
                </a:solidFill>
                <a:latin typeface="Calibri"/>
                <a:ea typeface="Calibri"/>
                <a:cs typeface="Calibri"/>
                <a:sym typeface="Calibri"/>
              </a:endParaRPr>
            </a:p>
          </p:txBody>
        </p:sp>
      </p:grpSp>
      <p:pic>
        <p:nvPicPr>
          <p:cNvPr id="290" name="Google Shape;290;p8"/>
          <p:cNvPicPr preferRelativeResize="0"/>
          <p:nvPr/>
        </p:nvPicPr>
        <p:blipFill rotWithShape="1">
          <a:blip r:embed="rId6">
            <a:alphaModFix/>
          </a:blip>
          <a:srcRect l="3514" r="3514"/>
          <a:stretch/>
        </p:blipFill>
        <p:spPr>
          <a:xfrm>
            <a:off x="7953375" y="2208981"/>
            <a:ext cx="3714900" cy="3952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3"/>
          <p:cNvSpPr txBox="1">
            <a:spLocks noGrp="1"/>
          </p:cNvSpPr>
          <p:nvPr>
            <p:ph type="title"/>
          </p:nvPr>
        </p:nvSpPr>
        <p:spPr>
          <a:xfrm>
            <a:off x="1479549" y="1709738"/>
            <a:ext cx="9914592"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9DBB"/>
              </a:buClr>
              <a:buSzPts val="5400"/>
              <a:buFont typeface="Calibri"/>
              <a:buNone/>
            </a:pPr>
            <a:r>
              <a:rPr lang="en-IL"/>
              <a:t>Group Analysis</a:t>
            </a:r>
            <a:endParaRPr/>
          </a:p>
        </p:txBody>
      </p:sp>
      <p:sp>
        <p:nvSpPr>
          <p:cNvPr id="296" name="Google Shape;296;p13"/>
          <p:cNvSpPr txBox="1">
            <a:spLocks noGrp="1"/>
          </p:cNvSpPr>
          <p:nvPr>
            <p:ph type="body" idx="1"/>
          </p:nvPr>
        </p:nvSpPr>
        <p:spPr>
          <a:xfrm>
            <a:off x="14795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
        <p:nvSpPr>
          <p:cNvPr id="297" name="Google Shape;297;p13"/>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4"/>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Overview</a:t>
            </a:r>
            <a:endParaRPr/>
          </a:p>
        </p:txBody>
      </p:sp>
      <p:sp>
        <p:nvSpPr>
          <p:cNvPr id="303" name="Google Shape;303;p14"/>
          <p:cNvSpPr txBox="1">
            <a:spLocks noGrp="1"/>
          </p:cNvSpPr>
          <p:nvPr>
            <p:ph type="body" idx="1"/>
          </p:nvPr>
        </p:nvSpPr>
        <p:spPr>
          <a:xfrm>
            <a:off x="1243087" y="1825625"/>
            <a:ext cx="10582656" cy="476972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pPr>
            <a:r>
              <a:rPr lang="en-IL" sz="3200"/>
              <a:t>At the </a:t>
            </a:r>
            <a:r>
              <a:rPr lang="en-IL" sz="3200" b="1"/>
              <a:t>group level</a:t>
            </a:r>
            <a:r>
              <a:rPr lang="en-IL" sz="3200"/>
              <a:t>, we can reveal </a:t>
            </a:r>
            <a:r>
              <a:rPr lang="en-IL" sz="3200" b="1"/>
              <a:t>shared narratives and thematic patterns</a:t>
            </a:r>
            <a:r>
              <a:rPr lang="en-IL" sz="3200"/>
              <a:t> that may not be visible when analysing individual accounts. </a:t>
            </a:r>
            <a:endParaRPr/>
          </a:p>
          <a:p>
            <a:pPr marL="228600" lvl="0" indent="-228600" algn="l" rtl="0">
              <a:lnSpc>
                <a:spcPct val="90000"/>
              </a:lnSpc>
              <a:spcBef>
                <a:spcPts val="1000"/>
              </a:spcBef>
              <a:spcAft>
                <a:spcPts val="0"/>
              </a:spcAft>
              <a:buClr>
                <a:schemeClr val="dk1"/>
              </a:buClr>
              <a:buSzPts val="3200"/>
              <a:buChar char="•"/>
            </a:pPr>
            <a:r>
              <a:rPr lang="en-IL" sz="3200" b="1"/>
              <a:t>Goal:</a:t>
            </a:r>
            <a:r>
              <a:rPr lang="en-IL" sz="3200"/>
              <a:t> Move from </a:t>
            </a:r>
            <a:r>
              <a:rPr lang="en-IL" sz="3200" i="1"/>
              <a:t>“Who participates in an IO?”</a:t>
            </a:r>
            <a:r>
              <a:rPr lang="en-IL" sz="3200"/>
              <a:t> to </a:t>
            </a:r>
            <a:r>
              <a:rPr lang="en-IL" sz="3200" i="1"/>
              <a:t>“How do coordinated groups operate, and what narratives characterize their activity?”</a:t>
            </a:r>
            <a:endParaRPr sz="3200"/>
          </a:p>
          <a:p>
            <a:pPr marL="457200" lvl="1" indent="0" algn="l" rtl="0">
              <a:lnSpc>
                <a:spcPct val="90000"/>
              </a:lnSpc>
              <a:spcBef>
                <a:spcPts val="500"/>
              </a:spcBef>
              <a:spcAft>
                <a:spcPts val="0"/>
              </a:spcAft>
              <a:buClr>
                <a:schemeClr val="dk1"/>
              </a:buClr>
              <a:buSzPts val="3200"/>
              <a:buNone/>
            </a:pPr>
            <a:endParaRPr sz="3200"/>
          </a:p>
        </p:txBody>
      </p:sp>
      <p:sp>
        <p:nvSpPr>
          <p:cNvPr id="304" name="Google Shape;304;p14"/>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13</a:t>
            </a:fld>
            <a:endParaRPr/>
          </a:p>
        </p:txBody>
      </p:sp>
      <p:pic>
        <p:nvPicPr>
          <p:cNvPr id="305" name="Google Shape;305;p14"/>
          <p:cNvPicPr preferRelativeResize="0"/>
          <p:nvPr/>
        </p:nvPicPr>
        <p:blipFill rotWithShape="1">
          <a:blip r:embed="rId3">
            <a:alphaModFix/>
          </a:blip>
          <a:srcRect t="30198" b="12173"/>
          <a:stretch/>
        </p:blipFill>
        <p:spPr>
          <a:xfrm>
            <a:off x="2492400" y="5117509"/>
            <a:ext cx="5987999" cy="14778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6"/>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K-Core  Definition</a:t>
            </a:r>
            <a:endParaRPr/>
          </a:p>
        </p:txBody>
      </p:sp>
      <p:sp>
        <p:nvSpPr>
          <p:cNvPr id="311" name="Google Shape;311;p16"/>
          <p:cNvSpPr txBox="1">
            <a:spLocks noGrp="1"/>
          </p:cNvSpPr>
          <p:nvPr>
            <p:ph type="body" idx="1"/>
          </p:nvPr>
        </p:nvSpPr>
        <p:spPr>
          <a:xfrm>
            <a:off x="1243087" y="1825625"/>
            <a:ext cx="10582800" cy="4769700"/>
          </a:xfrm>
          <a:prstGeom prst="rect">
            <a:avLst/>
          </a:prstGeom>
          <a:blipFill rotWithShape="1">
            <a:blip r:embed="rId3">
              <a:alphaModFix/>
            </a:blip>
            <a:stretch>
              <a:fillRect l="-1382" t="-3448" r="-634" b="-4342"/>
            </a:stretch>
          </a:blip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SzPts val="2400"/>
              <a:buChar char="•"/>
            </a:pPr>
            <a:r>
              <a:rPr lang="en-IL"/>
              <a:t> </a:t>
            </a:r>
            <a:endParaRPr/>
          </a:p>
        </p:txBody>
      </p:sp>
      <p:sp>
        <p:nvSpPr>
          <p:cNvPr id="312" name="Google Shape;312;p16"/>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7"/>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Core Number: Example</a:t>
            </a:r>
            <a:endParaRPr/>
          </a:p>
        </p:txBody>
      </p:sp>
      <p:sp>
        <p:nvSpPr>
          <p:cNvPr id="318" name="Google Shape;318;p17"/>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15</a:t>
            </a:fld>
            <a:endParaRPr/>
          </a:p>
        </p:txBody>
      </p:sp>
      <p:pic>
        <p:nvPicPr>
          <p:cNvPr id="319" name="Google Shape;319;p17" descr="k-Core of a graph"/>
          <p:cNvPicPr preferRelativeResize="0"/>
          <p:nvPr/>
        </p:nvPicPr>
        <p:blipFill rotWithShape="1">
          <a:blip r:embed="rId3">
            <a:alphaModFix/>
          </a:blip>
          <a:srcRect/>
          <a:stretch/>
        </p:blipFill>
        <p:spPr>
          <a:xfrm>
            <a:off x="1255283" y="1867838"/>
            <a:ext cx="10174718" cy="4107071"/>
          </a:xfrm>
          <a:prstGeom prst="rect">
            <a:avLst/>
          </a:prstGeom>
          <a:noFill/>
          <a:ln>
            <a:noFill/>
          </a:ln>
        </p:spPr>
      </p:pic>
      <p:sp>
        <p:nvSpPr>
          <p:cNvPr id="320" name="Google Shape;320;p17"/>
          <p:cNvSpPr txBox="1"/>
          <p:nvPr/>
        </p:nvSpPr>
        <p:spPr>
          <a:xfrm rot="-341375">
            <a:off x="6110596" y="1919799"/>
            <a:ext cx="137759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#DeepState</a:t>
            </a:r>
            <a:endParaRPr sz="1600">
              <a:solidFill>
                <a:schemeClr val="dk1"/>
              </a:solidFill>
              <a:latin typeface="Calibri"/>
              <a:ea typeface="Calibri"/>
              <a:cs typeface="Calibri"/>
              <a:sym typeface="Calibri"/>
            </a:endParaRPr>
          </a:p>
        </p:txBody>
      </p:sp>
      <p:sp>
        <p:nvSpPr>
          <p:cNvPr id="321" name="Google Shape;321;p17"/>
          <p:cNvSpPr txBox="1"/>
          <p:nvPr/>
        </p:nvSpPr>
        <p:spPr>
          <a:xfrm rot="4810671">
            <a:off x="5646712" y="3149197"/>
            <a:ext cx="120515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22" name="Google Shape;322;p17"/>
          <p:cNvSpPr txBox="1"/>
          <p:nvPr/>
        </p:nvSpPr>
        <p:spPr>
          <a:xfrm>
            <a:off x="6742558" y="3771025"/>
            <a:ext cx="147731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#TruthExposed</a:t>
            </a:r>
            <a:endParaRPr sz="1600">
              <a:solidFill>
                <a:schemeClr val="dk1"/>
              </a:solidFill>
              <a:latin typeface="Calibri"/>
              <a:ea typeface="Calibri"/>
              <a:cs typeface="Calibri"/>
              <a:sym typeface="Calibri"/>
            </a:endParaRPr>
          </a:p>
        </p:txBody>
      </p:sp>
      <p:sp>
        <p:nvSpPr>
          <p:cNvPr id="323" name="Google Shape;323;p17"/>
          <p:cNvSpPr txBox="1"/>
          <p:nvPr/>
        </p:nvSpPr>
        <p:spPr>
          <a:xfrm rot="4119364">
            <a:off x="7794291" y="2828263"/>
            <a:ext cx="137759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#DeepState</a:t>
            </a:r>
            <a:endParaRPr sz="1600">
              <a:solidFill>
                <a:schemeClr val="dk1"/>
              </a:solidFill>
              <a:latin typeface="Calibri"/>
              <a:ea typeface="Calibri"/>
              <a:cs typeface="Calibri"/>
              <a:sym typeface="Calibri"/>
            </a:endParaRPr>
          </a:p>
        </p:txBody>
      </p:sp>
      <p:sp>
        <p:nvSpPr>
          <p:cNvPr id="324" name="Google Shape;324;p17"/>
          <p:cNvSpPr txBox="1"/>
          <p:nvPr/>
        </p:nvSpPr>
        <p:spPr>
          <a:xfrm rot="1762880">
            <a:off x="7204790" y="3201896"/>
            <a:ext cx="120515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25" name="Google Shape;325;p17"/>
          <p:cNvSpPr txBox="1"/>
          <p:nvPr/>
        </p:nvSpPr>
        <p:spPr>
          <a:xfrm rot="-3233223">
            <a:off x="6630407" y="2490587"/>
            <a:ext cx="120515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#True</a:t>
            </a:r>
            <a:endParaRPr sz="1600">
              <a:solidFill>
                <a:schemeClr val="dk1"/>
              </a:solidFill>
              <a:latin typeface="Calibri"/>
              <a:ea typeface="Calibri"/>
              <a:cs typeface="Calibri"/>
              <a:sym typeface="Calibri"/>
            </a:endParaRPr>
          </a:p>
        </p:txBody>
      </p:sp>
      <p:sp>
        <p:nvSpPr>
          <p:cNvPr id="326" name="Google Shape;326;p17"/>
          <p:cNvSpPr txBox="1"/>
          <p:nvPr/>
        </p:nvSpPr>
        <p:spPr>
          <a:xfrm>
            <a:off x="4618686" y="3805712"/>
            <a:ext cx="1477314"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#Trending</a:t>
            </a:r>
            <a:endParaRPr sz="1600">
              <a:solidFill>
                <a:schemeClr val="dk1"/>
              </a:solidFill>
              <a:latin typeface="Calibri"/>
              <a:ea typeface="Calibri"/>
              <a:cs typeface="Calibri"/>
              <a:sym typeface="Calibri"/>
            </a:endParaRPr>
          </a:p>
        </p:txBody>
      </p:sp>
      <p:sp>
        <p:nvSpPr>
          <p:cNvPr id="327" name="Google Shape;327;p17"/>
          <p:cNvSpPr txBox="1"/>
          <p:nvPr/>
        </p:nvSpPr>
        <p:spPr>
          <a:xfrm rot="3114557">
            <a:off x="9656857" y="2508597"/>
            <a:ext cx="137759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#Music</a:t>
            </a:r>
            <a:endParaRPr sz="1600">
              <a:solidFill>
                <a:schemeClr val="dk1"/>
              </a:solidFill>
              <a:latin typeface="Calibri"/>
              <a:ea typeface="Calibri"/>
              <a:cs typeface="Calibri"/>
              <a:sym typeface="Calibri"/>
            </a:endParaRPr>
          </a:p>
        </p:txBody>
      </p:sp>
      <p:sp>
        <p:nvSpPr>
          <p:cNvPr id="328" name="Google Shape;328;p17"/>
          <p:cNvSpPr txBox="1"/>
          <p:nvPr/>
        </p:nvSpPr>
        <p:spPr>
          <a:xfrm rot="-4064924">
            <a:off x="8457906" y="2864984"/>
            <a:ext cx="137759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#DeepState</a:t>
            </a:r>
            <a:endParaRPr sz="1600">
              <a:solidFill>
                <a:schemeClr val="dk1"/>
              </a:solidFill>
              <a:latin typeface="Calibri"/>
              <a:ea typeface="Calibri"/>
              <a:cs typeface="Calibri"/>
              <a:sym typeface="Calibri"/>
            </a:endParaRPr>
          </a:p>
        </p:txBody>
      </p:sp>
      <p:sp>
        <p:nvSpPr>
          <p:cNvPr id="329" name="Google Shape;329;p17"/>
          <p:cNvSpPr txBox="1"/>
          <p:nvPr/>
        </p:nvSpPr>
        <p:spPr>
          <a:xfrm>
            <a:off x="9656856" y="1791741"/>
            <a:ext cx="137759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#Music</a:t>
            </a:r>
            <a:endParaRPr sz="1600">
              <a:solidFill>
                <a:schemeClr val="dk1"/>
              </a:solidFill>
              <a:latin typeface="Calibri"/>
              <a:ea typeface="Calibri"/>
              <a:cs typeface="Calibri"/>
              <a:sym typeface="Calibri"/>
            </a:endParaRPr>
          </a:p>
        </p:txBody>
      </p:sp>
      <p:sp>
        <p:nvSpPr>
          <p:cNvPr id="330" name="Google Shape;330;p17"/>
          <p:cNvSpPr txBox="1"/>
          <p:nvPr/>
        </p:nvSpPr>
        <p:spPr>
          <a:xfrm rot="-965281">
            <a:off x="9166637" y="3480230"/>
            <a:ext cx="137759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 Media</a:t>
            </a:r>
            <a:endParaRPr sz="1600">
              <a:solidFill>
                <a:schemeClr val="dk1"/>
              </a:solidFill>
              <a:latin typeface="Calibri"/>
              <a:ea typeface="Calibri"/>
              <a:cs typeface="Calibri"/>
              <a:sym typeface="Calibri"/>
            </a:endParaRPr>
          </a:p>
        </p:txBody>
      </p:sp>
      <p:sp>
        <p:nvSpPr>
          <p:cNvPr id="331" name="Google Shape;331;p17"/>
          <p:cNvSpPr txBox="1"/>
          <p:nvPr/>
        </p:nvSpPr>
        <p:spPr>
          <a:xfrm rot="-5848324">
            <a:off x="8165907" y="4724186"/>
            <a:ext cx="137759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800">
                <a:solidFill>
                  <a:schemeClr val="dk1"/>
                </a:solidFill>
                <a:latin typeface="Calibri"/>
                <a:ea typeface="Calibri"/>
                <a:cs typeface="Calibri"/>
                <a:sym typeface="Calibri"/>
              </a:rPr>
              <a:t>#</a:t>
            </a:r>
            <a:r>
              <a:rPr lang="en-IL" sz="1600">
                <a:solidFill>
                  <a:schemeClr val="dk1"/>
                </a:solidFill>
                <a:latin typeface="Calibri"/>
                <a:ea typeface="Calibri"/>
                <a:cs typeface="Calibri"/>
                <a:sym typeface="Calibri"/>
              </a:rPr>
              <a:t>DeepState</a:t>
            </a:r>
            <a:endParaRPr sz="1600">
              <a:solidFill>
                <a:schemeClr val="dk1"/>
              </a:solidFill>
              <a:latin typeface="Calibri"/>
              <a:ea typeface="Calibri"/>
              <a:cs typeface="Calibri"/>
              <a:sym typeface="Calibri"/>
            </a:endParaRPr>
          </a:p>
        </p:txBody>
      </p:sp>
      <p:sp>
        <p:nvSpPr>
          <p:cNvPr id="332" name="Google Shape;332;p17"/>
          <p:cNvSpPr txBox="1"/>
          <p:nvPr/>
        </p:nvSpPr>
        <p:spPr>
          <a:xfrm rot="5187585">
            <a:off x="5916302" y="4788727"/>
            <a:ext cx="120515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#True</a:t>
            </a:r>
            <a:endParaRPr sz="1600">
              <a:solidFill>
                <a:schemeClr val="dk1"/>
              </a:solidFill>
              <a:latin typeface="Calibri"/>
              <a:ea typeface="Calibri"/>
              <a:cs typeface="Calibri"/>
              <a:sym typeface="Calibri"/>
            </a:endParaRPr>
          </a:p>
        </p:txBody>
      </p:sp>
      <p:sp>
        <p:nvSpPr>
          <p:cNvPr id="333" name="Google Shape;333;p17"/>
          <p:cNvSpPr txBox="1"/>
          <p:nvPr/>
        </p:nvSpPr>
        <p:spPr>
          <a:xfrm rot="-3154579">
            <a:off x="4377158" y="2864983"/>
            <a:ext cx="120515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34" name="Google Shape;334;p17"/>
          <p:cNvSpPr txBox="1"/>
          <p:nvPr/>
        </p:nvSpPr>
        <p:spPr>
          <a:xfrm rot="4499005">
            <a:off x="3739807" y="2936281"/>
            <a:ext cx="120515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35" name="Google Shape;335;p17"/>
          <p:cNvSpPr txBox="1"/>
          <p:nvPr/>
        </p:nvSpPr>
        <p:spPr>
          <a:xfrm rot="-4136910">
            <a:off x="3407513" y="4683885"/>
            <a:ext cx="120515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#CoverUp</a:t>
            </a:r>
            <a:endParaRPr sz="1600">
              <a:solidFill>
                <a:schemeClr val="dk1"/>
              </a:solidFill>
              <a:latin typeface="Calibri"/>
              <a:ea typeface="Calibri"/>
              <a:cs typeface="Calibri"/>
              <a:sym typeface="Calibri"/>
            </a:endParaRPr>
          </a:p>
        </p:txBody>
      </p:sp>
      <p:sp>
        <p:nvSpPr>
          <p:cNvPr id="336" name="Google Shape;336;p17"/>
          <p:cNvSpPr txBox="1"/>
          <p:nvPr/>
        </p:nvSpPr>
        <p:spPr>
          <a:xfrm rot="1702415">
            <a:off x="7159342" y="4609927"/>
            <a:ext cx="137759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 Media</a:t>
            </a:r>
            <a:endParaRPr sz="1600">
              <a:solidFill>
                <a:schemeClr val="dk1"/>
              </a:solidFill>
              <a:latin typeface="Calibri"/>
              <a:ea typeface="Calibri"/>
              <a:cs typeface="Calibri"/>
              <a:sym typeface="Calibri"/>
            </a:endParaRPr>
          </a:p>
        </p:txBody>
      </p:sp>
      <p:sp>
        <p:nvSpPr>
          <p:cNvPr id="337" name="Google Shape;337;p17"/>
          <p:cNvSpPr/>
          <p:nvPr/>
        </p:nvSpPr>
        <p:spPr>
          <a:xfrm rot="1340853">
            <a:off x="5185122" y="1691846"/>
            <a:ext cx="4186974" cy="3126336"/>
          </a:xfrm>
          <a:prstGeom prst="ellipse">
            <a:avLst/>
          </a:prstGeom>
          <a:noFill/>
          <a:ln w="28575" cap="flat" cmpd="sng">
            <a:solidFill>
              <a:srgbClr val="C55A1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a:solidFill>
                <a:schemeClr val="lt1"/>
              </a:solidFill>
              <a:latin typeface="Calibri"/>
              <a:ea typeface="Calibri"/>
              <a:cs typeface="Calibri"/>
              <a:sym typeface="Calibri"/>
            </a:endParaRPr>
          </a:p>
        </p:txBody>
      </p:sp>
      <p:sp>
        <p:nvSpPr>
          <p:cNvPr id="338" name="Google Shape;338;p17"/>
          <p:cNvSpPr txBox="1"/>
          <p:nvPr/>
        </p:nvSpPr>
        <p:spPr>
          <a:xfrm rot="1676257">
            <a:off x="7596847" y="1699407"/>
            <a:ext cx="210466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L" sz="2800">
                <a:solidFill>
                  <a:srgbClr val="C55A11"/>
                </a:solidFill>
                <a:latin typeface="Calibri"/>
                <a:ea typeface="Calibri"/>
                <a:cs typeface="Calibri"/>
                <a:sym typeface="Calibri"/>
              </a:rPr>
              <a:t>IO Drivers</a:t>
            </a:r>
            <a:endParaRPr sz="2800">
              <a:solidFill>
                <a:srgbClr val="C55A11"/>
              </a:solidFill>
              <a:latin typeface="Calibri"/>
              <a:ea typeface="Calibri"/>
              <a:cs typeface="Calibri"/>
              <a:sym typeface="Calibri"/>
            </a:endParaRPr>
          </a:p>
        </p:txBody>
      </p:sp>
      <p:sp>
        <p:nvSpPr>
          <p:cNvPr id="339" name="Google Shape;339;p17"/>
          <p:cNvSpPr txBox="1"/>
          <p:nvPr/>
        </p:nvSpPr>
        <p:spPr>
          <a:xfrm>
            <a:off x="9351225" y="1341654"/>
            <a:ext cx="19530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L" sz="1800">
                <a:solidFill>
                  <a:schemeClr val="dk1"/>
                </a:solidFill>
                <a:latin typeface="Calibri"/>
                <a:ea typeface="Calibri"/>
                <a:cs typeface="Calibri"/>
                <a:sym typeface="Calibri"/>
              </a:rPr>
              <a:t>Co-Action Graph</a:t>
            </a:r>
            <a:endParaRPr sz="1800">
              <a:solidFill>
                <a:schemeClr val="dk1"/>
              </a:solidFill>
              <a:latin typeface="Calibri"/>
              <a:ea typeface="Calibri"/>
              <a:cs typeface="Calibri"/>
              <a:sym typeface="Calibri"/>
            </a:endParaRPr>
          </a:p>
        </p:txBody>
      </p:sp>
      <p:sp>
        <p:nvSpPr>
          <p:cNvPr id="340" name="Google Shape;340;p17"/>
          <p:cNvSpPr txBox="1"/>
          <p:nvPr/>
        </p:nvSpPr>
        <p:spPr>
          <a:xfrm rot="-2913931">
            <a:off x="9036591" y="4390791"/>
            <a:ext cx="137759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L" sz="1600">
                <a:solidFill>
                  <a:schemeClr val="dk1"/>
                </a:solidFill>
                <a:latin typeface="Calibri"/>
                <a:ea typeface="Calibri"/>
                <a:cs typeface="Calibri"/>
                <a:sym typeface="Calibri"/>
              </a:rPr>
              <a:t>#Eurovision</a:t>
            </a:r>
            <a:endParaRPr sz="1600">
              <a:solidFill>
                <a:schemeClr val="dk1"/>
              </a:solidFill>
              <a:latin typeface="Calibri"/>
              <a:ea typeface="Calibri"/>
              <a:cs typeface="Calibri"/>
              <a:sym typeface="Calibri"/>
            </a:endParaRPr>
          </a:p>
        </p:txBody>
      </p:sp>
      <p:sp>
        <p:nvSpPr>
          <p:cNvPr id="341" name="Google Shape;341;p17"/>
          <p:cNvSpPr txBox="1"/>
          <p:nvPr/>
        </p:nvSpPr>
        <p:spPr>
          <a:xfrm>
            <a:off x="9660367" y="4785395"/>
            <a:ext cx="2552699" cy="1569660"/>
          </a:xfrm>
          <a:prstGeom prst="rect">
            <a:avLst/>
          </a:prstGeom>
          <a:blipFill rotWithShape="1">
            <a:blip r:embed="rId4">
              <a:alphaModFix/>
            </a:blip>
            <a:stretch>
              <a:fillRect l="-1435" t="-1167" b="-428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IL"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fade">
                                      <p:cBhvr>
                                        <p:cTn id="7" dur="500"/>
                                        <p:tgtEl>
                                          <p:spTgt spid="337"/>
                                        </p:tgtEl>
                                      </p:cBhvr>
                                    </p:animEffect>
                                  </p:childTnLst>
                                </p:cTn>
                              </p:par>
                              <p:par>
                                <p:cTn id="8" presetID="10" presetClass="entr" presetSubtype="0" fill="hold" nodeType="withEffect">
                                  <p:stCondLst>
                                    <p:cond delay="0"/>
                                  </p:stCondLst>
                                  <p:childTnLst>
                                    <p:set>
                                      <p:cBhvr>
                                        <p:cTn id="9" dur="1" fill="hold">
                                          <p:stCondLst>
                                            <p:cond delay="0"/>
                                          </p:stCondLst>
                                        </p:cTn>
                                        <p:tgtEl>
                                          <p:spTgt spid="338"/>
                                        </p:tgtEl>
                                        <p:attrNameLst>
                                          <p:attrName>style.visibility</p:attrName>
                                        </p:attrNameLst>
                                      </p:cBhvr>
                                      <p:to>
                                        <p:strVal val="visible"/>
                                      </p:to>
                                    </p:set>
                                    <p:animEffect transition="in" filter="fade">
                                      <p:cBhvr>
                                        <p:cTn id="10" dur="500"/>
                                        <p:tgtEl>
                                          <p:spTgt spid="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5"/>
          <p:cNvSpPr txBox="1">
            <a:spLocks noGrp="1"/>
          </p:cNvSpPr>
          <p:nvPr>
            <p:ph type="title"/>
          </p:nvPr>
        </p:nvSpPr>
        <p:spPr>
          <a:xfrm>
            <a:off x="2551183" y="805050"/>
            <a:ext cx="87534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Group Definitions</a:t>
            </a:r>
            <a:endParaRPr/>
          </a:p>
          <a:p>
            <a:pPr marL="0" lvl="0" indent="0" algn="l" rtl="0">
              <a:lnSpc>
                <a:spcPct val="90000"/>
              </a:lnSpc>
              <a:spcBef>
                <a:spcPts val="0"/>
              </a:spcBef>
              <a:spcAft>
                <a:spcPts val="0"/>
              </a:spcAft>
              <a:buClr>
                <a:srgbClr val="009DBB"/>
              </a:buClr>
              <a:buSzPts val="4400"/>
              <a:buFont typeface="Calibri"/>
              <a:buNone/>
            </a:pPr>
            <a:endParaRPr/>
          </a:p>
        </p:txBody>
      </p:sp>
      <p:sp>
        <p:nvSpPr>
          <p:cNvPr id="347" name="Google Shape;347;p15"/>
          <p:cNvSpPr txBox="1">
            <a:spLocks noGrp="1"/>
          </p:cNvSpPr>
          <p:nvPr>
            <p:ph type="body" idx="1"/>
          </p:nvPr>
        </p:nvSpPr>
        <p:spPr>
          <a:xfrm>
            <a:off x="1243075" y="1825625"/>
            <a:ext cx="10582800" cy="4564800"/>
          </a:xfrm>
          <a:prstGeom prst="rect">
            <a:avLst/>
          </a:prstGeom>
          <a:noFill/>
          <a:ln>
            <a:noFill/>
          </a:ln>
        </p:spPr>
        <p:txBody>
          <a:bodyPr spcFirstLastPara="1" wrap="square" lIns="91425" tIns="45700" rIns="91425" bIns="45700" anchor="t" anchorCtr="0">
            <a:normAutofit fontScale="85000" lnSpcReduction="10000"/>
          </a:bodyPr>
          <a:lstStyle/>
          <a:p>
            <a:pPr marL="228600" lvl="0" indent="-248920" algn="l" rtl="0">
              <a:lnSpc>
                <a:spcPct val="115000"/>
              </a:lnSpc>
              <a:spcBef>
                <a:spcPts val="1200"/>
              </a:spcBef>
              <a:spcAft>
                <a:spcPts val="0"/>
              </a:spcAft>
              <a:buSzPct val="100000"/>
              <a:buChar char="•"/>
            </a:pPr>
            <a:r>
              <a:rPr lang="en-IL" sz="3200"/>
              <a:t>We compare groups of accounts defined by graph structure, dominant topic, or model predictions:</a:t>
            </a:r>
            <a:endParaRPr/>
          </a:p>
          <a:p>
            <a:pPr marL="685800" lvl="1" indent="-160972" algn="l" rtl="0">
              <a:lnSpc>
                <a:spcPct val="115000"/>
              </a:lnSpc>
              <a:spcBef>
                <a:spcPts val="0"/>
              </a:spcBef>
              <a:spcAft>
                <a:spcPts val="0"/>
              </a:spcAft>
              <a:buSzPct val="39286"/>
              <a:buFont typeface="Arial"/>
              <a:buChar char="o"/>
            </a:pPr>
            <a:r>
              <a:rPr lang="en-IL" sz="2800" b="1"/>
              <a:t>Maximal k-Core Connected Component</a:t>
            </a:r>
            <a:r>
              <a:rPr lang="en-IL" sz="2800"/>
              <a:t>: Accounts in the same connected component of the highest k-core containing the focal account.</a:t>
            </a:r>
            <a:endParaRPr sz="2800"/>
          </a:p>
          <a:p>
            <a:pPr marL="685800" lvl="1" indent="-160972" algn="l" rtl="0">
              <a:lnSpc>
                <a:spcPct val="115000"/>
              </a:lnSpc>
              <a:spcBef>
                <a:spcPts val="0"/>
              </a:spcBef>
              <a:spcAft>
                <a:spcPts val="0"/>
              </a:spcAft>
              <a:buSzPct val="39286"/>
              <a:buFont typeface="Arial"/>
              <a:buChar char="o"/>
            </a:pPr>
            <a:r>
              <a:rPr lang="en-IL" sz="2800" b="1"/>
              <a:t>Direct Neighbours</a:t>
            </a:r>
            <a:r>
              <a:rPr lang="en-IL" sz="2800"/>
              <a:t>: Accounts directly connected to the focal account.</a:t>
            </a:r>
            <a:endParaRPr sz="2800"/>
          </a:p>
          <a:p>
            <a:pPr marL="685800" lvl="1" indent="-160972" algn="l" rtl="0">
              <a:lnSpc>
                <a:spcPct val="115000"/>
              </a:lnSpc>
              <a:spcBef>
                <a:spcPts val="0"/>
              </a:spcBef>
              <a:spcAft>
                <a:spcPts val="0"/>
              </a:spcAft>
              <a:buSzPct val="39286"/>
              <a:buFont typeface="Arial"/>
              <a:buChar char="o"/>
            </a:pPr>
            <a:r>
              <a:rPr lang="en-IL" sz="2800" b="1"/>
              <a:t>Louvain Community Group</a:t>
            </a:r>
            <a:r>
              <a:rPr lang="en-IL" sz="2800"/>
              <a:t>: Accounts assigned to the same community by the Louvain algorithm. Community membership is an account attribute; here, we analyse the members together as a group.</a:t>
            </a:r>
            <a:endParaRPr sz="2800"/>
          </a:p>
          <a:p>
            <a:pPr marL="685800" lvl="1" indent="-160972" algn="l" rtl="0">
              <a:lnSpc>
                <a:spcPct val="115000"/>
              </a:lnSpc>
              <a:spcBef>
                <a:spcPts val="0"/>
              </a:spcBef>
              <a:spcAft>
                <a:spcPts val="0"/>
              </a:spcAft>
              <a:buSzPct val="39286"/>
              <a:buFont typeface="Arial"/>
              <a:buChar char="o"/>
            </a:pPr>
            <a:r>
              <a:rPr lang="en-IL" sz="2800" b="1"/>
              <a:t>Shared Top Topic</a:t>
            </a:r>
            <a:r>
              <a:rPr lang="en-IL" sz="2800"/>
              <a:t>: Accounts with the same dominant topic.</a:t>
            </a:r>
            <a:endParaRPr sz="2800"/>
          </a:p>
          <a:p>
            <a:pPr marL="685800" lvl="1" indent="-160972" algn="l" rtl="0">
              <a:lnSpc>
                <a:spcPct val="115000"/>
              </a:lnSpc>
              <a:spcBef>
                <a:spcPts val="0"/>
              </a:spcBef>
              <a:spcAft>
                <a:spcPts val="0"/>
              </a:spcAft>
              <a:buSzPct val="39286"/>
              <a:buFont typeface="Arial"/>
              <a:buChar char="o"/>
            </a:pPr>
            <a:r>
              <a:rPr lang="en-IL" sz="2800" b="1"/>
              <a:t>RF-Predicted IO</a:t>
            </a:r>
            <a:r>
              <a:rPr lang="en-IL" sz="2800"/>
              <a:t>: Accounts classified as IO by Random Forest.</a:t>
            </a:r>
            <a:endParaRPr sz="2800"/>
          </a:p>
          <a:p>
            <a:pPr marL="685800" lvl="1" indent="-160972" algn="l" rtl="0">
              <a:lnSpc>
                <a:spcPct val="115000"/>
              </a:lnSpc>
              <a:spcBef>
                <a:spcPts val="0"/>
              </a:spcBef>
              <a:spcAft>
                <a:spcPts val="0"/>
              </a:spcAft>
              <a:buSzPct val="39286"/>
              <a:buFont typeface="Arial"/>
              <a:buChar char="o"/>
            </a:pPr>
            <a:r>
              <a:rPr lang="en-IL" sz="2800" b="1"/>
              <a:t>XGBoost-Predicted IO</a:t>
            </a:r>
            <a:r>
              <a:rPr lang="en-IL" sz="2800"/>
              <a:t>: Accounts classified as IO by XGBoost.</a:t>
            </a:r>
            <a:endParaRPr sz="3200"/>
          </a:p>
        </p:txBody>
      </p:sp>
      <p:sp>
        <p:nvSpPr>
          <p:cNvPr id="348" name="Google Shape;348;p15"/>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h2e08d342f2b398b2_0_0"/>
          <p:cNvSpPr txBox="1">
            <a:spLocks noGrp="1"/>
          </p:cNvSpPr>
          <p:nvPr>
            <p:ph type="title"/>
          </p:nvPr>
        </p:nvSpPr>
        <p:spPr>
          <a:xfrm>
            <a:off x="2551183" y="805050"/>
            <a:ext cx="87534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Evaluation</a:t>
            </a:r>
            <a:endParaRPr/>
          </a:p>
          <a:p>
            <a:pPr marL="0" lvl="0" indent="0" algn="l" rtl="0">
              <a:lnSpc>
                <a:spcPct val="90000"/>
              </a:lnSpc>
              <a:spcBef>
                <a:spcPts val="0"/>
              </a:spcBef>
              <a:spcAft>
                <a:spcPts val="0"/>
              </a:spcAft>
              <a:buClr>
                <a:srgbClr val="009DBB"/>
              </a:buClr>
              <a:buSzPts val="4400"/>
              <a:buFont typeface="Calibri"/>
              <a:buNone/>
            </a:pPr>
            <a:endParaRPr/>
          </a:p>
        </p:txBody>
      </p:sp>
      <p:sp>
        <p:nvSpPr>
          <p:cNvPr id="354" name="Google Shape;354;h2e08d342f2b398b2_0_0"/>
          <p:cNvSpPr txBox="1">
            <a:spLocks noGrp="1"/>
          </p:cNvSpPr>
          <p:nvPr>
            <p:ph type="body" idx="1"/>
          </p:nvPr>
        </p:nvSpPr>
        <p:spPr>
          <a:xfrm>
            <a:off x="1243087" y="1825625"/>
            <a:ext cx="10582800" cy="4769700"/>
          </a:xfrm>
          <a:prstGeom prst="rect">
            <a:avLst/>
          </a:prstGeom>
          <a:noFill/>
          <a:ln>
            <a:noFill/>
          </a:ln>
        </p:spPr>
        <p:txBody>
          <a:bodyPr spcFirstLastPara="1" wrap="square" lIns="91425" tIns="45700" rIns="91425" bIns="45700" anchor="t" anchorCtr="0">
            <a:normAutofit/>
          </a:bodyPr>
          <a:lstStyle/>
          <a:p>
            <a:pPr marL="450000" marR="0" lvl="0" indent="-473201" algn="l" rtl="0">
              <a:lnSpc>
                <a:spcPct val="115000"/>
              </a:lnSpc>
              <a:spcBef>
                <a:spcPts val="1200"/>
              </a:spcBef>
              <a:spcAft>
                <a:spcPts val="0"/>
              </a:spcAft>
              <a:buSzPts val="3200"/>
              <a:buChar char="•"/>
            </a:pPr>
            <a:r>
              <a:rPr lang="en-IL" sz="3200"/>
              <a:t>We evaluate each group using</a:t>
            </a:r>
            <a:r>
              <a:rPr lang="en-IL" sz="3200" b="1"/>
              <a:t> IO concentration</a:t>
            </a:r>
            <a:r>
              <a:rPr lang="en-IL" sz="3200"/>
              <a:t>, the proportion of accounts labelled as IO, and </a:t>
            </a:r>
            <a:r>
              <a:rPr lang="en-IL" sz="3200" b="1"/>
              <a:t>topic alignment</a:t>
            </a:r>
            <a:r>
              <a:rPr lang="en-IL" sz="3200"/>
              <a:t>, the similarity of members’ topical activity.</a:t>
            </a:r>
            <a:endParaRPr sz="3200"/>
          </a:p>
          <a:p>
            <a:pPr marL="457200" marR="0" lvl="0" indent="-480400" algn="l" rtl="0">
              <a:lnSpc>
                <a:spcPct val="115000"/>
              </a:lnSpc>
              <a:spcBef>
                <a:spcPts val="0"/>
              </a:spcBef>
              <a:spcAft>
                <a:spcPts val="0"/>
              </a:spcAft>
              <a:buSzPts val="3200"/>
              <a:buChar char="•"/>
            </a:pPr>
            <a:r>
              <a:rPr lang="en-IL" sz="3200"/>
              <a:t>We select </a:t>
            </a:r>
            <a:r>
              <a:rPr lang="en-IL" sz="3200" b="1"/>
              <a:t>k-core connected components</a:t>
            </a:r>
            <a:r>
              <a:rPr lang="en-IL" sz="3200"/>
              <a:t> for further analysis because they provide a good balance between IO concentration and topic alignment.</a:t>
            </a:r>
            <a:endParaRPr sz="3200"/>
          </a:p>
        </p:txBody>
      </p:sp>
      <p:sp>
        <p:nvSpPr>
          <p:cNvPr id="355" name="Google Shape;355;h2e08d342f2b398b2_0_0"/>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18"/>
          <p:cNvSpPr txBox="1">
            <a:spLocks noGrp="1"/>
          </p:cNvSpPr>
          <p:nvPr>
            <p:ph type="title"/>
          </p:nvPr>
        </p:nvSpPr>
        <p:spPr>
          <a:xfrm>
            <a:off x="3072268" y="401637"/>
            <a:ext cx="87534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Maximal K-Core Motivation</a:t>
            </a:r>
            <a:endParaRPr/>
          </a:p>
        </p:txBody>
      </p:sp>
      <p:grpSp>
        <p:nvGrpSpPr>
          <p:cNvPr id="361" name="Google Shape;361;p18"/>
          <p:cNvGrpSpPr/>
          <p:nvPr/>
        </p:nvGrpSpPr>
        <p:grpSpPr>
          <a:xfrm>
            <a:off x="1785549" y="1606036"/>
            <a:ext cx="9548146" cy="4614350"/>
            <a:chOff x="1238250" y="1428750"/>
            <a:chExt cx="10477500" cy="4000650"/>
          </a:xfrm>
        </p:grpSpPr>
        <p:sp>
          <p:nvSpPr>
            <p:cNvPr id="362" name="Google Shape;362;p18"/>
            <p:cNvSpPr txBox="1"/>
            <p:nvPr/>
          </p:nvSpPr>
          <p:spPr>
            <a:xfrm>
              <a:off x="1238250" y="4572000"/>
              <a:ext cx="10477500" cy="857400"/>
            </a:xfrm>
            <a:prstGeom prst="rect">
              <a:avLst/>
            </a:prstGeom>
            <a:solidFill>
              <a:srgbClr val="009DBB"/>
            </a:solidFill>
            <a:ln>
              <a:noFill/>
            </a:ln>
          </p:spPr>
          <p:txBody>
            <a:bodyPr spcFirstLastPara="1" wrap="square" lIns="173600" tIns="86800" rIns="173600" bIns="86800" anchor="ctr" anchorCtr="0">
              <a:noAutofit/>
            </a:bodyPr>
            <a:lstStyle/>
            <a:p>
              <a:pPr marL="0" lvl="0" indent="0" algn="ctr" rtl="0">
                <a:spcBef>
                  <a:spcPts val="0"/>
                </a:spcBef>
                <a:spcAft>
                  <a:spcPts val="0"/>
                </a:spcAft>
                <a:buNone/>
              </a:pPr>
              <a:r>
                <a:rPr lang="en-IL" sz="2005">
                  <a:solidFill>
                    <a:srgbClr val="FFFFFF"/>
                  </a:solidFill>
                  <a:latin typeface="Calibri"/>
                  <a:ea typeface="Calibri"/>
                  <a:cs typeface="Calibri"/>
                  <a:sym typeface="Calibri"/>
                </a:rPr>
                <a:t>4. Content and activity analysis identify and characterize the narratives promoted by each group. </a:t>
              </a:r>
              <a:endParaRPr sz="2005">
                <a:solidFill>
                  <a:srgbClr val="FFFFFF"/>
                </a:solidFill>
                <a:latin typeface="Calibri"/>
                <a:ea typeface="Calibri"/>
                <a:cs typeface="Calibri"/>
                <a:sym typeface="Calibri"/>
              </a:endParaRPr>
            </a:p>
          </p:txBody>
        </p:sp>
        <p:sp>
          <p:nvSpPr>
            <p:cNvPr id="363" name="Google Shape;363;p18"/>
            <p:cNvSpPr txBox="1"/>
            <p:nvPr/>
          </p:nvSpPr>
          <p:spPr>
            <a:xfrm>
              <a:off x="1238250" y="3524250"/>
              <a:ext cx="10477500" cy="809700"/>
            </a:xfrm>
            <a:prstGeom prst="rect">
              <a:avLst/>
            </a:prstGeom>
            <a:solidFill>
              <a:srgbClr val="0284C7"/>
            </a:solidFill>
            <a:ln>
              <a:noFill/>
            </a:ln>
          </p:spPr>
          <p:txBody>
            <a:bodyPr spcFirstLastPara="1" wrap="square" lIns="173600" tIns="86800" rIns="173600" bIns="86800" anchor="ctr" anchorCtr="0">
              <a:noAutofit/>
            </a:bodyPr>
            <a:lstStyle/>
            <a:p>
              <a:pPr marL="0" lvl="0" indent="0" algn="ctr" rtl="0">
                <a:spcBef>
                  <a:spcPts val="0"/>
                </a:spcBef>
                <a:spcAft>
                  <a:spcPts val="0"/>
                </a:spcAft>
                <a:buNone/>
              </a:pPr>
              <a:r>
                <a:rPr lang="en-IL" sz="2023" b="0">
                  <a:solidFill>
                    <a:srgbClr val="FFFFFF"/>
                  </a:solidFill>
                  <a:latin typeface="Calibri"/>
                  <a:ea typeface="Calibri"/>
                  <a:cs typeface="Calibri"/>
                  <a:sym typeface="Calibri"/>
                </a:rPr>
                <a:t>3. </a:t>
              </a:r>
              <a:r>
                <a:rPr lang="en-IL" sz="2023">
                  <a:solidFill>
                    <a:srgbClr val="FFFFFF"/>
                  </a:solidFill>
                  <a:latin typeface="Calibri"/>
                  <a:ea typeface="Calibri"/>
                  <a:cs typeface="Calibri"/>
                  <a:sym typeface="Calibri"/>
                </a:rPr>
                <a:t>Maximal k-cores identify these inter-connected groups, yielding groups of coordinated authors that amplify related narratives.</a:t>
              </a:r>
              <a:endParaRPr sz="2023">
                <a:solidFill>
                  <a:srgbClr val="FFFFFF"/>
                </a:solidFill>
                <a:latin typeface="Calibri"/>
                <a:ea typeface="Calibri"/>
                <a:cs typeface="Calibri"/>
                <a:sym typeface="Calibri"/>
              </a:endParaRPr>
            </a:p>
          </p:txBody>
        </p:sp>
        <p:sp>
          <p:nvSpPr>
            <p:cNvPr id="364" name="Google Shape;364;p18"/>
            <p:cNvSpPr txBox="1"/>
            <p:nvPr/>
          </p:nvSpPr>
          <p:spPr>
            <a:xfrm>
              <a:off x="1238250" y="2476500"/>
              <a:ext cx="10477500" cy="809700"/>
            </a:xfrm>
            <a:prstGeom prst="rect">
              <a:avLst/>
            </a:prstGeom>
            <a:solidFill>
              <a:srgbClr val="0369A1"/>
            </a:solidFill>
            <a:ln>
              <a:noFill/>
            </a:ln>
          </p:spPr>
          <p:txBody>
            <a:bodyPr spcFirstLastPara="1" wrap="square" lIns="173600" tIns="86800" rIns="173600" bIns="86800" anchor="ctr" anchorCtr="0">
              <a:noAutofit/>
            </a:bodyPr>
            <a:lstStyle/>
            <a:p>
              <a:pPr marL="0" lvl="0" indent="0" algn="ctr" rtl="0">
                <a:spcBef>
                  <a:spcPts val="0"/>
                </a:spcBef>
                <a:spcAft>
                  <a:spcPts val="0"/>
                </a:spcAft>
                <a:buNone/>
              </a:pPr>
              <a:r>
                <a:rPr lang="en-IL" sz="2023" b="0">
                  <a:solidFill>
                    <a:srgbClr val="FFFFFF"/>
                  </a:solidFill>
                  <a:latin typeface="Calibri"/>
                  <a:ea typeface="Calibri"/>
                  <a:cs typeface="Calibri"/>
                  <a:sym typeface="Calibri"/>
                </a:rPr>
                <a:t>2. Coordinated authors are highly inter-connected in the co-action graph.</a:t>
              </a:r>
              <a:endParaRPr sz="2023" b="0">
                <a:solidFill>
                  <a:srgbClr val="FFFFFF"/>
                </a:solidFill>
                <a:latin typeface="Calibri"/>
                <a:ea typeface="Calibri"/>
                <a:cs typeface="Calibri"/>
                <a:sym typeface="Calibri"/>
              </a:endParaRPr>
            </a:p>
          </p:txBody>
        </p:sp>
        <p:sp>
          <p:nvSpPr>
            <p:cNvPr id="365" name="Google Shape;365;p18"/>
            <p:cNvSpPr txBox="1"/>
            <p:nvPr/>
          </p:nvSpPr>
          <p:spPr>
            <a:xfrm>
              <a:off x="1238250" y="1428750"/>
              <a:ext cx="10477500" cy="809700"/>
            </a:xfrm>
            <a:prstGeom prst="rect">
              <a:avLst/>
            </a:prstGeom>
            <a:solidFill>
              <a:srgbClr val="0C4A6E"/>
            </a:solidFill>
            <a:ln>
              <a:noFill/>
            </a:ln>
          </p:spPr>
          <p:txBody>
            <a:bodyPr spcFirstLastPara="1" wrap="square" lIns="173600" tIns="86800" rIns="173600" bIns="86800" anchor="ctr" anchorCtr="0">
              <a:noAutofit/>
            </a:bodyPr>
            <a:lstStyle/>
            <a:p>
              <a:pPr marL="0" lvl="0" indent="0" algn="ctr" rtl="0">
                <a:spcBef>
                  <a:spcPts val="0"/>
                </a:spcBef>
                <a:spcAft>
                  <a:spcPts val="0"/>
                </a:spcAft>
                <a:buNone/>
              </a:pPr>
              <a:r>
                <a:rPr lang="en-IL" sz="2000">
                  <a:solidFill>
                    <a:srgbClr val="FFFFFF"/>
                  </a:solidFill>
                  <a:latin typeface="Calibri"/>
                  <a:ea typeface="Calibri"/>
                  <a:cs typeface="Calibri"/>
                  <a:sym typeface="Calibri"/>
                </a:rPr>
                <a:t>1. The co-action graph represents behavioural similarity between authors.</a:t>
              </a:r>
              <a:endParaRPr sz="2000">
                <a:solidFill>
                  <a:srgbClr val="FFFFFF"/>
                </a:solidFill>
                <a:latin typeface="Calibri"/>
                <a:ea typeface="Calibri"/>
                <a:cs typeface="Calibri"/>
                <a:sym typeface="Calibri"/>
              </a:endParaRPr>
            </a:p>
          </p:txBody>
        </p:sp>
      </p:grpSp>
      <p:sp>
        <p:nvSpPr>
          <p:cNvPr id="366" name="Google Shape;366;p18"/>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19"/>
          <p:cNvSpPr txBox="1">
            <a:spLocks noGrp="1"/>
          </p:cNvSpPr>
          <p:nvPr>
            <p:ph type="title"/>
          </p:nvPr>
        </p:nvSpPr>
        <p:spPr>
          <a:xfrm>
            <a:off x="1479549" y="1709738"/>
            <a:ext cx="9914592"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9DBB"/>
              </a:buClr>
              <a:buSzPts val="5400"/>
              <a:buFont typeface="Calibri"/>
              <a:buNone/>
            </a:pPr>
            <a:r>
              <a:rPr lang="en-IL"/>
              <a:t>Experiments</a:t>
            </a:r>
            <a:endParaRPr/>
          </a:p>
        </p:txBody>
      </p:sp>
      <p:sp>
        <p:nvSpPr>
          <p:cNvPr id="372" name="Google Shape;372;p19"/>
          <p:cNvSpPr txBox="1">
            <a:spLocks noGrp="1"/>
          </p:cNvSpPr>
          <p:nvPr>
            <p:ph type="body" idx="1"/>
          </p:nvPr>
        </p:nvSpPr>
        <p:spPr>
          <a:xfrm>
            <a:off x="14795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
        <p:nvSpPr>
          <p:cNvPr id="373" name="Google Shape;373;p19"/>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0"/>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Dataset</a:t>
            </a:r>
            <a:endParaRPr/>
          </a:p>
        </p:txBody>
      </p:sp>
      <p:sp>
        <p:nvSpPr>
          <p:cNvPr id="379" name="Google Shape;379;p20"/>
          <p:cNvSpPr txBox="1">
            <a:spLocks noGrp="1"/>
          </p:cNvSpPr>
          <p:nvPr>
            <p:ph type="body" idx="1"/>
          </p:nvPr>
        </p:nvSpPr>
        <p:spPr>
          <a:xfrm>
            <a:off x="1243087" y="1825625"/>
            <a:ext cx="10582656" cy="476972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None/>
            </a:pPr>
            <a:r>
              <a:rPr lang="en-IL" sz="3600" b="1"/>
              <a:t>Labeled IO Dataset</a:t>
            </a:r>
            <a:endParaRPr/>
          </a:p>
          <a:p>
            <a:pPr marL="228600" lvl="0" indent="-228600" algn="l" rtl="0">
              <a:lnSpc>
                <a:spcPct val="90000"/>
              </a:lnSpc>
              <a:spcBef>
                <a:spcPts val="1000"/>
              </a:spcBef>
              <a:spcAft>
                <a:spcPts val="0"/>
              </a:spcAft>
              <a:buClr>
                <a:schemeClr val="dk1"/>
              </a:buClr>
              <a:buSzPts val="3600"/>
              <a:buChar char="•"/>
            </a:pPr>
            <a:r>
              <a:rPr lang="en-IL" sz="3600"/>
              <a:t>26 verified IO campaigns linked to 16 stats. </a:t>
            </a:r>
            <a:endParaRPr/>
          </a:p>
          <a:p>
            <a:pPr marL="228600" lvl="0" indent="-228600" algn="l" rtl="0">
              <a:lnSpc>
                <a:spcPct val="90000"/>
              </a:lnSpc>
              <a:spcBef>
                <a:spcPts val="1000"/>
              </a:spcBef>
              <a:spcAft>
                <a:spcPts val="0"/>
              </a:spcAft>
              <a:buClr>
                <a:schemeClr val="dk1"/>
              </a:buClr>
              <a:buSzPts val="3600"/>
              <a:buChar char="•"/>
            </a:pPr>
            <a:r>
              <a:rPr lang="en-IL" sz="3600"/>
              <a:t>Contains IO accounts and matched control accounts discussing similar topics during the same periods. </a:t>
            </a:r>
            <a:endParaRPr/>
          </a:p>
          <a:p>
            <a:pPr marL="228600" lvl="0" indent="-228600" algn="l" rtl="0">
              <a:lnSpc>
                <a:spcPct val="90000"/>
              </a:lnSpc>
              <a:spcBef>
                <a:spcPts val="1000"/>
              </a:spcBef>
              <a:spcAft>
                <a:spcPts val="0"/>
              </a:spcAft>
              <a:buClr>
                <a:schemeClr val="dk1"/>
              </a:buClr>
              <a:buSzPts val="3600"/>
              <a:buChar char="•"/>
            </a:pPr>
            <a:r>
              <a:rPr lang="en-IL" sz="3600"/>
              <a:t>Includes 303K+ accounts and 13M+ control posts. </a:t>
            </a:r>
            <a:endParaRPr/>
          </a:p>
          <a:p>
            <a:pPr marL="228600" lvl="0" indent="-228600" algn="l" rtl="0">
              <a:lnSpc>
                <a:spcPct val="90000"/>
              </a:lnSpc>
              <a:spcBef>
                <a:spcPts val="1000"/>
              </a:spcBef>
              <a:spcAft>
                <a:spcPts val="0"/>
              </a:spcAft>
              <a:buClr>
                <a:schemeClr val="dk1"/>
              </a:buClr>
              <a:buSzPts val="3600"/>
              <a:buChar char="•"/>
            </a:pPr>
            <a:r>
              <a:rPr lang="en-IL" sz="3600"/>
              <a:t>Rich activity data: posts, reposts, hashtags, and more.</a:t>
            </a:r>
            <a:endParaRPr/>
          </a:p>
          <a:p>
            <a:pPr marL="228600" lvl="0" indent="-228600" algn="l" rtl="0">
              <a:lnSpc>
                <a:spcPct val="90000"/>
              </a:lnSpc>
              <a:spcBef>
                <a:spcPts val="1000"/>
              </a:spcBef>
              <a:spcAft>
                <a:spcPts val="0"/>
              </a:spcAft>
              <a:buClr>
                <a:schemeClr val="dk1"/>
              </a:buClr>
              <a:buSzPts val="3600"/>
              <a:buChar char="•"/>
            </a:pPr>
            <a:r>
              <a:rPr lang="en-IL" sz="3600"/>
              <a:t>Each account is labeled IO or non-IO.</a:t>
            </a:r>
            <a:endParaRPr sz="3200"/>
          </a:p>
        </p:txBody>
      </p:sp>
      <p:sp>
        <p:nvSpPr>
          <p:cNvPr id="380" name="Google Shape;380;p20"/>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1"/>
          <p:cNvSpPr txBox="1">
            <a:spLocks noGrp="1"/>
          </p:cNvSpPr>
          <p:nvPr>
            <p:ph type="title"/>
          </p:nvPr>
        </p:nvSpPr>
        <p:spPr>
          <a:xfrm>
            <a:off x="3072268" y="401637"/>
            <a:ext cx="8753475"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Evaluation Settings</a:t>
            </a:r>
            <a:endParaRPr/>
          </a:p>
        </p:txBody>
      </p:sp>
      <p:sp>
        <p:nvSpPr>
          <p:cNvPr id="386" name="Google Shape;386;p21"/>
          <p:cNvSpPr txBox="1">
            <a:spLocks noGrp="1"/>
          </p:cNvSpPr>
          <p:nvPr>
            <p:ph type="body" idx="1"/>
          </p:nvPr>
        </p:nvSpPr>
        <p:spPr>
          <a:xfrm>
            <a:off x="1243087" y="1825625"/>
            <a:ext cx="10582656" cy="476972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600"/>
              <a:buChar char="•"/>
            </a:pPr>
            <a:r>
              <a:rPr lang="en-IL" sz="3600" b="1"/>
              <a:t>Within-Campaign (Transductive)</a:t>
            </a:r>
            <a:endParaRPr sz="3600"/>
          </a:p>
          <a:p>
            <a:pPr marL="685800" lvl="1" indent="-228600" algn="l" rtl="0">
              <a:lnSpc>
                <a:spcPct val="90000"/>
              </a:lnSpc>
              <a:spcBef>
                <a:spcPts val="500"/>
              </a:spcBef>
              <a:spcAft>
                <a:spcPts val="0"/>
              </a:spcAft>
              <a:buClr>
                <a:schemeClr val="dk1"/>
              </a:buClr>
              <a:buSzPts val="3200"/>
              <a:buChar char="o"/>
            </a:pPr>
            <a:r>
              <a:rPr lang="en-IL" sz="3200"/>
              <a:t>Train and test on accounts from the same campaign. </a:t>
            </a:r>
            <a:endParaRPr/>
          </a:p>
          <a:p>
            <a:pPr marL="228600" lvl="0" indent="-228600" algn="l" rtl="0">
              <a:lnSpc>
                <a:spcPct val="90000"/>
              </a:lnSpc>
              <a:spcBef>
                <a:spcPts val="1000"/>
              </a:spcBef>
              <a:spcAft>
                <a:spcPts val="0"/>
              </a:spcAft>
              <a:buClr>
                <a:schemeClr val="dk1"/>
              </a:buClr>
              <a:buSzPts val="3600"/>
              <a:buChar char="•"/>
            </a:pPr>
            <a:r>
              <a:rPr lang="en-IL" sz="3600" b="1"/>
              <a:t>Cross-Campaign (Inductive)</a:t>
            </a:r>
            <a:endParaRPr sz="3600"/>
          </a:p>
          <a:p>
            <a:pPr marL="685800" lvl="1" indent="-228600" algn="l" rtl="0">
              <a:lnSpc>
                <a:spcPct val="90000"/>
              </a:lnSpc>
              <a:spcBef>
                <a:spcPts val="500"/>
              </a:spcBef>
              <a:spcAft>
                <a:spcPts val="0"/>
              </a:spcAft>
              <a:buClr>
                <a:schemeClr val="dk1"/>
              </a:buClr>
              <a:buSzPts val="3200"/>
              <a:buChar char="o"/>
            </a:pPr>
            <a:r>
              <a:rPr lang="en-IL" sz="3200"/>
              <a:t>Train on other campaigns and test on an unseen campaign. </a:t>
            </a:r>
            <a:endParaRPr/>
          </a:p>
          <a:p>
            <a:pPr marL="685800" lvl="1" indent="-228600" algn="l" rtl="0">
              <a:lnSpc>
                <a:spcPct val="90000"/>
              </a:lnSpc>
              <a:spcBef>
                <a:spcPts val="500"/>
              </a:spcBef>
              <a:spcAft>
                <a:spcPts val="0"/>
              </a:spcAft>
              <a:buClr>
                <a:schemeClr val="dk1"/>
              </a:buClr>
              <a:buSzPts val="3200"/>
              <a:buChar char="o"/>
            </a:pPr>
            <a:r>
              <a:rPr lang="en-IL" sz="3200"/>
              <a:t>Uses a leave-one-campaign-out setting. </a:t>
            </a:r>
            <a:endParaRPr/>
          </a:p>
          <a:p>
            <a:pPr marL="685800" lvl="1" indent="-228600" algn="l" rtl="0">
              <a:lnSpc>
                <a:spcPct val="90000"/>
              </a:lnSpc>
              <a:spcBef>
                <a:spcPts val="500"/>
              </a:spcBef>
              <a:spcAft>
                <a:spcPts val="0"/>
              </a:spcAft>
              <a:buClr>
                <a:schemeClr val="dk1"/>
              </a:buClr>
              <a:buSzPts val="3200"/>
              <a:buChar char="o"/>
            </a:pPr>
            <a:r>
              <a:rPr lang="en-IL" sz="3200"/>
              <a:t>Evaluates whether structural patterns generalize to new IO campaigns.</a:t>
            </a:r>
            <a:endParaRPr/>
          </a:p>
        </p:txBody>
      </p:sp>
      <p:sp>
        <p:nvSpPr>
          <p:cNvPr id="387" name="Google Shape;387;p21"/>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22"/>
          <p:cNvSpPr/>
          <p:nvPr/>
        </p:nvSpPr>
        <p:spPr>
          <a:xfrm>
            <a:off x="3143250" y="619125"/>
            <a:ext cx="8572500" cy="1047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A0BD"/>
              </a:buClr>
              <a:buSzPts val="4200"/>
              <a:buFont typeface="Calibri"/>
              <a:buNone/>
            </a:pPr>
            <a:r>
              <a:rPr lang="en-IL" sz="4200" b="0">
                <a:solidFill>
                  <a:srgbClr val="00A0BD"/>
                </a:solidFill>
                <a:latin typeface="Calibri"/>
                <a:ea typeface="Calibri"/>
                <a:cs typeface="Calibri"/>
                <a:sym typeface="Calibri"/>
              </a:rPr>
              <a:t>Evaluated Campaigns</a:t>
            </a:r>
            <a:endParaRPr/>
          </a:p>
        </p:txBody>
      </p:sp>
      <p:sp>
        <p:nvSpPr>
          <p:cNvPr id="394" name="Google Shape;394;p22"/>
          <p:cNvSpPr/>
          <p:nvPr/>
        </p:nvSpPr>
        <p:spPr>
          <a:xfrm>
            <a:off x="11753850" y="6524625"/>
            <a:ext cx="28575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88888"/>
              </a:buClr>
              <a:buSzPts val="1125"/>
              <a:buFont typeface="Calibri"/>
              <a:buNone/>
            </a:pPr>
            <a:r>
              <a:rPr lang="en-IL" sz="1125" b="0">
                <a:solidFill>
                  <a:srgbClr val="888888"/>
                </a:solidFill>
                <a:latin typeface="Calibri"/>
                <a:ea typeface="Calibri"/>
                <a:cs typeface="Calibri"/>
                <a:sym typeface="Calibri"/>
              </a:rPr>
              <a:t>7</a:t>
            </a:r>
            <a:endParaRPr/>
          </a:p>
        </p:txBody>
      </p:sp>
      <p:graphicFrame>
        <p:nvGraphicFramePr>
          <p:cNvPr id="395" name="Google Shape;395;p22"/>
          <p:cNvGraphicFramePr/>
          <p:nvPr/>
        </p:nvGraphicFramePr>
        <p:xfrm>
          <a:off x="1381125" y="1809750"/>
          <a:ext cx="3000000" cy="3000000"/>
        </p:xfrm>
        <a:graphic>
          <a:graphicData uri="http://schemas.openxmlformats.org/drawingml/2006/table">
            <a:tbl>
              <a:tblPr>
                <a:noFill/>
                <a:tableStyleId>{AB558FE3-B644-45B6-8EC2-D5E319610A07}</a:tableStyleId>
              </a:tblPr>
              <a:tblGrid>
                <a:gridCol w="19050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2571750">
                  <a:extLst>
                    <a:ext uri="{9D8B030D-6E8A-4147-A177-3AD203B41FA5}">
                      <a16:colId xmlns:a16="http://schemas.microsoft.com/office/drawing/2014/main" val="20004"/>
                    </a:ext>
                  </a:extLst>
                </a:gridCol>
              </a:tblGrid>
              <a:tr h="544275">
                <a:tc>
                  <a:txBody>
                    <a:bodyPr/>
                    <a:lstStyle/>
                    <a:p>
                      <a:pPr marL="0" marR="0" lvl="0" indent="0" algn="l" rtl="0">
                        <a:spcBef>
                          <a:spcPts val="0"/>
                        </a:spcBef>
                        <a:spcAft>
                          <a:spcPts val="0"/>
                        </a:spcAft>
                        <a:buClr>
                          <a:srgbClr val="FFFFFF"/>
                        </a:buClr>
                        <a:buSzPts val="1950"/>
                        <a:buFont typeface="Calibri"/>
                        <a:buNone/>
                      </a:pPr>
                      <a:r>
                        <a:rPr lang="en-IL" sz="1950" b="1" u="none" strike="noStrike" cap="none">
                          <a:solidFill>
                            <a:srgbClr val="FFFFFF"/>
                          </a:solidFill>
                          <a:latin typeface="Calibri"/>
                          <a:ea typeface="Calibri"/>
                          <a:cs typeface="Calibri"/>
                          <a:sym typeface="Calibri"/>
                        </a:rPr>
                        <a:t>Campaign</a:t>
                      </a:r>
                      <a:endParaRPr/>
                    </a:p>
                  </a:txBody>
                  <a:tcPr marL="114300" marR="114300" marT="38100" marB="38100" anchor="ctr">
                    <a:solidFill>
                      <a:srgbClr val="00A0BD"/>
                    </a:solidFill>
                  </a:tcPr>
                </a:tc>
                <a:tc>
                  <a:txBody>
                    <a:bodyPr/>
                    <a:lstStyle/>
                    <a:p>
                      <a:pPr marL="0" marR="0" lvl="0" indent="0" algn="ctr" rtl="0">
                        <a:spcBef>
                          <a:spcPts val="0"/>
                        </a:spcBef>
                        <a:spcAft>
                          <a:spcPts val="0"/>
                        </a:spcAft>
                        <a:buClr>
                          <a:srgbClr val="FFFFFF"/>
                        </a:buClr>
                        <a:buSzPts val="1950"/>
                        <a:buFont typeface="Calibri"/>
                        <a:buNone/>
                      </a:pPr>
                      <a:r>
                        <a:rPr lang="en-IL" sz="1950" b="1" u="none" strike="noStrike" cap="none">
                          <a:solidFill>
                            <a:srgbClr val="FFFFFF"/>
                          </a:solidFill>
                          <a:latin typeface="Calibri"/>
                          <a:ea typeface="Calibri"/>
                          <a:cs typeface="Calibri"/>
                          <a:sym typeface="Calibri"/>
                        </a:rPr>
                        <a:t>Period</a:t>
                      </a:r>
                      <a:endParaRPr/>
                    </a:p>
                  </a:txBody>
                  <a:tcPr marL="114300" marR="114300" marT="38100" marB="38100" anchor="ctr">
                    <a:solidFill>
                      <a:srgbClr val="00A0BD"/>
                    </a:solidFill>
                  </a:tcPr>
                </a:tc>
                <a:tc>
                  <a:txBody>
                    <a:bodyPr/>
                    <a:lstStyle/>
                    <a:p>
                      <a:pPr marL="0" marR="0" lvl="0" indent="0" algn="ctr" rtl="0">
                        <a:spcBef>
                          <a:spcPts val="0"/>
                        </a:spcBef>
                        <a:spcAft>
                          <a:spcPts val="0"/>
                        </a:spcAft>
                        <a:buClr>
                          <a:srgbClr val="FFFFFF"/>
                        </a:buClr>
                        <a:buSzPts val="1950"/>
                        <a:buFont typeface="Calibri"/>
                        <a:buNone/>
                      </a:pPr>
                      <a:r>
                        <a:rPr lang="en-IL" sz="1950" b="1" u="none" strike="noStrike" cap="none">
                          <a:solidFill>
                            <a:srgbClr val="FFFFFF"/>
                          </a:solidFill>
                          <a:latin typeface="Calibri"/>
                          <a:ea typeface="Calibri"/>
                          <a:cs typeface="Calibri"/>
                          <a:sym typeface="Calibri"/>
                        </a:rPr>
                        <a:t>IO accounts</a:t>
                      </a:r>
                      <a:endParaRPr/>
                    </a:p>
                  </a:txBody>
                  <a:tcPr marL="114300" marR="114300" marT="38100" marB="38100" anchor="ctr">
                    <a:solidFill>
                      <a:srgbClr val="00A0BD"/>
                    </a:solidFill>
                  </a:tcPr>
                </a:tc>
                <a:tc>
                  <a:txBody>
                    <a:bodyPr/>
                    <a:lstStyle/>
                    <a:p>
                      <a:pPr marL="0" marR="0" lvl="0" indent="0" algn="ctr" rtl="0">
                        <a:spcBef>
                          <a:spcPts val="0"/>
                        </a:spcBef>
                        <a:spcAft>
                          <a:spcPts val="0"/>
                        </a:spcAft>
                        <a:buClr>
                          <a:srgbClr val="FFFFFF"/>
                        </a:buClr>
                        <a:buSzPts val="1950"/>
                        <a:buFont typeface="Calibri"/>
                        <a:buNone/>
                      </a:pPr>
                      <a:r>
                        <a:rPr lang="en-IL" sz="1950" b="1" u="none" strike="noStrike" cap="none">
                          <a:solidFill>
                            <a:srgbClr val="FFFFFF"/>
                          </a:solidFill>
                          <a:latin typeface="Calibri"/>
                          <a:ea typeface="Calibri"/>
                          <a:cs typeface="Calibri"/>
                          <a:sym typeface="Calibri"/>
                        </a:rPr>
                        <a:t>Controls</a:t>
                      </a:r>
                      <a:endParaRPr/>
                    </a:p>
                  </a:txBody>
                  <a:tcPr marL="114300" marR="114300" marT="38100" marB="38100" anchor="ctr">
                    <a:solidFill>
                      <a:srgbClr val="00A0BD"/>
                    </a:solidFill>
                  </a:tcPr>
                </a:tc>
                <a:tc>
                  <a:txBody>
                    <a:bodyPr/>
                    <a:lstStyle/>
                    <a:p>
                      <a:pPr marL="0" marR="0" lvl="0" indent="0" algn="ctr" rtl="0">
                        <a:spcBef>
                          <a:spcPts val="0"/>
                        </a:spcBef>
                        <a:spcAft>
                          <a:spcPts val="0"/>
                        </a:spcAft>
                        <a:buClr>
                          <a:srgbClr val="FFFFFF"/>
                        </a:buClr>
                        <a:buSzPts val="1950"/>
                        <a:buFont typeface="Calibri"/>
                        <a:buNone/>
                      </a:pPr>
                      <a:r>
                        <a:rPr lang="en-IL" sz="1950" b="1" u="none" strike="noStrike" cap="none">
                          <a:solidFill>
                            <a:srgbClr val="FFFFFF"/>
                          </a:solidFill>
                          <a:latin typeface="Calibri"/>
                          <a:ea typeface="Calibri"/>
                          <a:cs typeface="Calibri"/>
                          <a:sym typeface="Calibri"/>
                        </a:rPr>
                        <a:t>Posts</a:t>
                      </a:r>
                      <a:endParaRPr/>
                    </a:p>
                  </a:txBody>
                  <a:tcPr marL="114300" marR="114300" marT="38100" marB="38100" anchor="ctr">
                    <a:solidFill>
                      <a:srgbClr val="00A0BD"/>
                    </a:solidFill>
                  </a:tcPr>
                </a:tc>
                <a:extLst>
                  <a:ext uri="{0D108BD9-81ED-4DB2-BD59-A6C34878D82A}">
                    <a16:rowId xmlns:a16="http://schemas.microsoft.com/office/drawing/2014/main" val="10000"/>
                  </a:ext>
                </a:extLst>
              </a:tr>
              <a:tr h="544275">
                <a:tc>
                  <a:txBody>
                    <a:bodyPr/>
                    <a:lstStyle/>
                    <a:p>
                      <a:pPr marL="0" marR="0" lvl="0" indent="0" algn="l"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China-1</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2008–2019</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699</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42,120</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3,670,754</a:t>
                      </a:r>
                      <a:endParaRPr/>
                    </a:p>
                  </a:txBody>
                  <a:tcPr marL="114300" marR="114300" marT="38100" marB="38100" anchor="ctr">
                    <a:solidFill>
                      <a:srgbClr val="FFFFFF"/>
                    </a:solidFill>
                  </a:tcPr>
                </a:tc>
                <a:extLst>
                  <a:ext uri="{0D108BD9-81ED-4DB2-BD59-A6C34878D82A}">
                    <a16:rowId xmlns:a16="http://schemas.microsoft.com/office/drawing/2014/main" val="10001"/>
                  </a:ext>
                </a:extLst>
              </a:tr>
              <a:tr h="544275">
                <a:tc>
                  <a:txBody>
                    <a:bodyPr/>
                    <a:lstStyle/>
                    <a:p>
                      <a:pPr marL="0" marR="0" lvl="0" indent="0" algn="l"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Cuba</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2010–2020</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503</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30,099</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6,155,331</a:t>
                      </a:r>
                      <a:endParaRPr/>
                    </a:p>
                  </a:txBody>
                  <a:tcPr marL="114300" marR="114300" marT="38100" marB="38100" anchor="ctr">
                    <a:solidFill>
                      <a:srgbClr val="EEF5F6"/>
                    </a:solidFill>
                  </a:tcPr>
                </a:tc>
                <a:extLst>
                  <a:ext uri="{0D108BD9-81ED-4DB2-BD59-A6C34878D82A}">
                    <a16:rowId xmlns:a16="http://schemas.microsoft.com/office/drawing/2014/main" val="10002"/>
                  </a:ext>
                </a:extLst>
              </a:tr>
              <a:tr h="544275">
                <a:tc>
                  <a:txBody>
                    <a:bodyPr/>
                    <a:lstStyle/>
                    <a:p>
                      <a:pPr marL="0" marR="0" lvl="0" indent="0" algn="l"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Iran-1</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2010–2018</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660</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5,015</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1,322,789</a:t>
                      </a:r>
                      <a:endParaRPr/>
                    </a:p>
                  </a:txBody>
                  <a:tcPr marL="114300" marR="114300" marT="38100" marB="38100" anchor="ctr">
                    <a:solidFill>
                      <a:srgbClr val="FFFFFF"/>
                    </a:solidFill>
                  </a:tcPr>
                </a:tc>
                <a:extLst>
                  <a:ext uri="{0D108BD9-81ED-4DB2-BD59-A6C34878D82A}">
                    <a16:rowId xmlns:a16="http://schemas.microsoft.com/office/drawing/2014/main" val="10003"/>
                  </a:ext>
                </a:extLst>
              </a:tr>
              <a:tr h="544275">
                <a:tc>
                  <a:txBody>
                    <a:bodyPr/>
                    <a:lstStyle/>
                    <a:p>
                      <a:pPr marL="0" marR="0" lvl="0" indent="0" algn="l"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Russia-1</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2009–2018</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3,293</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31,299</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3,650,083</a:t>
                      </a:r>
                      <a:endParaRPr/>
                    </a:p>
                  </a:txBody>
                  <a:tcPr marL="114300" marR="114300" marT="38100" marB="38100" anchor="ctr">
                    <a:solidFill>
                      <a:srgbClr val="EEF5F6"/>
                    </a:solidFill>
                  </a:tcPr>
                </a:tc>
                <a:extLst>
                  <a:ext uri="{0D108BD9-81ED-4DB2-BD59-A6C34878D82A}">
                    <a16:rowId xmlns:a16="http://schemas.microsoft.com/office/drawing/2014/main" val="10004"/>
                  </a:ext>
                </a:extLst>
              </a:tr>
              <a:tr h="544275">
                <a:tc>
                  <a:txBody>
                    <a:bodyPr/>
                    <a:lstStyle/>
                    <a:p>
                      <a:pPr marL="0" marR="0" lvl="0" indent="0" algn="l"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UAE</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2011–2019</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3,658</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10,545</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1,707,792</a:t>
                      </a:r>
                      <a:endParaRPr/>
                    </a:p>
                  </a:txBody>
                  <a:tcPr marL="114300" marR="114300" marT="38100" marB="38100" anchor="ctr">
                    <a:solidFill>
                      <a:srgbClr val="FFFFFF"/>
                    </a:solidFill>
                  </a:tcPr>
                </a:tc>
                <a:extLst>
                  <a:ext uri="{0D108BD9-81ED-4DB2-BD59-A6C34878D82A}">
                    <a16:rowId xmlns:a16="http://schemas.microsoft.com/office/drawing/2014/main" val="10005"/>
                  </a:ext>
                </a:extLst>
              </a:tr>
              <a:tr h="544275">
                <a:tc>
                  <a:txBody>
                    <a:bodyPr/>
                    <a:lstStyle/>
                    <a:p>
                      <a:pPr marL="0" marR="0" lvl="0" indent="0" algn="l"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Venezuela</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2012–2019</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611</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9,745</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950"/>
                        <a:buFont typeface="Calibri"/>
                        <a:buNone/>
                      </a:pPr>
                      <a:r>
                        <a:rPr lang="en-IL" sz="1950" b="0" u="none" strike="noStrike" cap="none">
                          <a:solidFill>
                            <a:srgbClr val="171717"/>
                          </a:solidFill>
                          <a:latin typeface="Calibri"/>
                          <a:ea typeface="Calibri"/>
                          <a:cs typeface="Calibri"/>
                          <a:sym typeface="Calibri"/>
                        </a:rPr>
                        <a:t>1,972,732</a:t>
                      </a:r>
                      <a:endParaRPr/>
                    </a:p>
                  </a:txBody>
                  <a:tcPr marL="114300" marR="114300" marT="38100" marB="38100" anchor="ctr">
                    <a:solidFill>
                      <a:srgbClr val="EEF5F6"/>
                    </a:solidFill>
                  </a:tcPr>
                </a:tc>
                <a:extLst>
                  <a:ext uri="{0D108BD9-81ED-4DB2-BD59-A6C34878D82A}">
                    <a16:rowId xmlns:a16="http://schemas.microsoft.com/office/drawing/2014/main" val="10006"/>
                  </a:ext>
                </a:extLst>
              </a:tr>
            </a:tbl>
          </a:graphicData>
        </a:graphic>
      </p:graphicFrame>
      <p:sp>
        <p:nvSpPr>
          <p:cNvPr id="396" name="Google Shape;396;p22"/>
          <p:cNvSpPr/>
          <p:nvPr/>
        </p:nvSpPr>
        <p:spPr>
          <a:xfrm>
            <a:off x="1381125" y="5810250"/>
            <a:ext cx="10001250" cy="61912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06060"/>
              </a:buClr>
              <a:buSzPts val="1725"/>
              <a:buFont typeface="Calibri"/>
              <a:buNone/>
            </a:pPr>
            <a:r>
              <a:rPr lang="en-IL" sz="1725" b="0">
                <a:solidFill>
                  <a:srgbClr val="606060"/>
                </a:solidFill>
                <a:latin typeface="Calibri"/>
                <a:ea typeface="Calibri"/>
                <a:cs typeface="Calibri"/>
                <a:sym typeface="Calibri"/>
              </a:rPr>
              <a:t>18.5 million posts across 138,247 accounts.</a:t>
            </a:r>
            <a:endParaRPr/>
          </a:p>
          <a:p>
            <a:pPr marL="0" marR="0" lvl="0" indent="0" algn="l" rtl="0">
              <a:spcBef>
                <a:spcPts val="0"/>
              </a:spcBef>
              <a:spcAft>
                <a:spcPts val="0"/>
              </a:spcAft>
              <a:buClr>
                <a:srgbClr val="606060"/>
              </a:buClr>
              <a:buSzPts val="1725"/>
              <a:buFont typeface="Calibri"/>
              <a:buNone/>
            </a:pPr>
            <a:r>
              <a:rPr lang="en-IL" sz="1725" b="0">
                <a:solidFill>
                  <a:srgbClr val="606060"/>
                </a:solidFill>
                <a:latin typeface="Calibri"/>
                <a:ea typeface="Calibri"/>
                <a:cs typeface="Calibri"/>
                <a:sym typeface="Calibri"/>
              </a:rPr>
              <a:t>Controls matched by hashtag and date.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23"/>
          <p:cNvSpPr/>
          <p:nvPr/>
        </p:nvSpPr>
        <p:spPr>
          <a:xfrm>
            <a:off x="3143250" y="619125"/>
            <a:ext cx="8572500" cy="1047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IL" sz="4400" b="0">
                <a:solidFill>
                  <a:srgbClr val="009DBB"/>
                </a:solidFill>
                <a:latin typeface="Calibri"/>
                <a:ea typeface="Calibri"/>
                <a:cs typeface="Calibri"/>
                <a:sym typeface="Calibri"/>
              </a:rPr>
              <a:t>Which Indicators Matter?</a:t>
            </a:r>
            <a:endParaRPr/>
          </a:p>
        </p:txBody>
      </p:sp>
      <p:sp>
        <p:nvSpPr>
          <p:cNvPr id="403" name="Google Shape;403;p23"/>
          <p:cNvSpPr/>
          <p:nvPr/>
        </p:nvSpPr>
        <p:spPr>
          <a:xfrm>
            <a:off x="11753850" y="6524625"/>
            <a:ext cx="28575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88888"/>
              </a:buClr>
              <a:buSzPts val="1125"/>
              <a:buFont typeface="Calibri"/>
              <a:buNone/>
            </a:pPr>
            <a:r>
              <a:rPr lang="en-IL" sz="1125" b="0">
                <a:solidFill>
                  <a:srgbClr val="888888"/>
                </a:solidFill>
                <a:latin typeface="Calibri"/>
                <a:ea typeface="Calibri"/>
                <a:cs typeface="Calibri"/>
                <a:sym typeface="Calibri"/>
              </a:rPr>
              <a:t>9</a:t>
            </a:r>
            <a:endParaRPr/>
          </a:p>
        </p:txBody>
      </p:sp>
      <p:pic>
        <p:nvPicPr>
          <p:cNvPr id="404" name="Google Shape;404;p23"/>
          <p:cNvPicPr preferRelativeResize="0"/>
          <p:nvPr/>
        </p:nvPicPr>
        <p:blipFill rotWithShape="1">
          <a:blip r:embed="rId3">
            <a:alphaModFix/>
          </a:blip>
          <a:srcRect b="2502"/>
          <a:stretch/>
        </p:blipFill>
        <p:spPr>
          <a:xfrm>
            <a:off x="2024099" y="1414654"/>
            <a:ext cx="8810552" cy="4824222"/>
          </a:xfrm>
          <a:prstGeom prst="rect">
            <a:avLst/>
          </a:prstGeom>
          <a:noFill/>
          <a:ln>
            <a:noFill/>
          </a:ln>
        </p:spPr>
      </p:pic>
      <p:sp>
        <p:nvSpPr>
          <p:cNvPr id="405" name="Google Shape;405;p23"/>
          <p:cNvSpPr/>
          <p:nvPr/>
        </p:nvSpPr>
        <p:spPr>
          <a:xfrm>
            <a:off x="1381125" y="6362700"/>
            <a:ext cx="10096500" cy="3714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1717"/>
              </a:buClr>
              <a:buSzPts val="2100"/>
              <a:buFont typeface="Calibri"/>
              <a:buNone/>
            </a:pPr>
            <a:endParaRPr sz="2100">
              <a:solidFill>
                <a:srgbClr val="171717"/>
              </a:solidFill>
              <a:latin typeface="Calibri"/>
              <a:ea typeface="Calibri"/>
              <a:cs typeface="Calibri"/>
              <a:sym typeface="Calibri"/>
            </a:endParaRPr>
          </a:p>
        </p:txBody>
      </p:sp>
      <p:sp>
        <p:nvSpPr>
          <p:cNvPr id="406" name="Google Shape;406;p23"/>
          <p:cNvSpPr txBox="1"/>
          <p:nvPr/>
        </p:nvSpPr>
        <p:spPr>
          <a:xfrm>
            <a:off x="1381124" y="6444734"/>
            <a:ext cx="78962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L" sz="1800">
                <a:solidFill>
                  <a:schemeClr val="dk1"/>
                </a:solidFill>
                <a:latin typeface="Calibri"/>
                <a:ea typeface="Calibri"/>
                <a:cs typeface="Calibri"/>
                <a:sym typeface="Calibri"/>
              </a:rPr>
              <a:t>XGBoost: indicator importance varies across campaigns (transductive setting).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4"/>
          <p:cNvSpPr/>
          <p:nvPr/>
        </p:nvSpPr>
        <p:spPr>
          <a:xfrm>
            <a:off x="3143250" y="619125"/>
            <a:ext cx="8572500" cy="1047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9DBB"/>
              </a:buClr>
              <a:buSzPts val="4400"/>
              <a:buFont typeface="Calibri"/>
              <a:buNone/>
            </a:pPr>
            <a:r>
              <a:rPr lang="en-IL" sz="4400" b="0">
                <a:solidFill>
                  <a:srgbClr val="009DBB"/>
                </a:solidFill>
                <a:latin typeface="Calibri"/>
                <a:ea typeface="Calibri"/>
                <a:cs typeface="Calibri"/>
                <a:sym typeface="Calibri"/>
              </a:rPr>
              <a:t>Detection Across Campaigns</a:t>
            </a:r>
            <a:endParaRPr/>
          </a:p>
        </p:txBody>
      </p:sp>
      <p:sp>
        <p:nvSpPr>
          <p:cNvPr id="413" name="Google Shape;413;p24"/>
          <p:cNvSpPr/>
          <p:nvPr/>
        </p:nvSpPr>
        <p:spPr>
          <a:xfrm>
            <a:off x="11753850" y="6524625"/>
            <a:ext cx="28575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88888"/>
              </a:buClr>
              <a:buSzPts val="1125"/>
              <a:buFont typeface="Calibri"/>
              <a:buNone/>
            </a:pPr>
            <a:r>
              <a:rPr lang="en-IL" sz="1125" b="0">
                <a:solidFill>
                  <a:srgbClr val="888888"/>
                </a:solidFill>
                <a:latin typeface="Calibri"/>
                <a:ea typeface="Calibri"/>
                <a:cs typeface="Calibri"/>
                <a:sym typeface="Calibri"/>
              </a:rPr>
              <a:t>10</a:t>
            </a:r>
            <a:endParaRPr/>
          </a:p>
        </p:txBody>
      </p:sp>
      <p:sp>
        <p:nvSpPr>
          <p:cNvPr id="414" name="Google Shape;414;p24"/>
          <p:cNvSpPr/>
          <p:nvPr/>
        </p:nvSpPr>
        <p:spPr>
          <a:xfrm>
            <a:off x="3464169" y="1605329"/>
            <a:ext cx="3679580" cy="666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A0BD"/>
              </a:buClr>
              <a:buSzPts val="4125"/>
              <a:buFont typeface="Calibri"/>
              <a:buNone/>
            </a:pPr>
            <a:r>
              <a:rPr lang="en-IL" sz="4125" b="1">
                <a:solidFill>
                  <a:srgbClr val="00A0BD"/>
                </a:solidFill>
                <a:latin typeface="Calibri"/>
                <a:ea typeface="Calibri"/>
                <a:cs typeface="Calibri"/>
                <a:sym typeface="Calibri"/>
              </a:rPr>
              <a:t>0.990</a:t>
            </a:r>
            <a:endParaRPr/>
          </a:p>
        </p:txBody>
      </p:sp>
      <p:sp>
        <p:nvSpPr>
          <p:cNvPr id="415" name="Google Shape;415;p24"/>
          <p:cNvSpPr/>
          <p:nvPr/>
        </p:nvSpPr>
        <p:spPr>
          <a:xfrm>
            <a:off x="3525205" y="2319704"/>
            <a:ext cx="3999543" cy="4095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1717"/>
              </a:buClr>
              <a:buSzPts val="1875"/>
              <a:buFont typeface="Calibri"/>
              <a:buNone/>
            </a:pPr>
            <a:r>
              <a:rPr lang="en-IL" sz="1875" b="0">
                <a:solidFill>
                  <a:srgbClr val="171717"/>
                </a:solidFill>
                <a:latin typeface="Calibri"/>
                <a:ea typeface="Calibri"/>
                <a:cs typeface="Calibri"/>
                <a:sym typeface="Calibri"/>
              </a:rPr>
              <a:t>Mean within-campaign ROC-AUC</a:t>
            </a:r>
            <a:endParaRPr/>
          </a:p>
        </p:txBody>
      </p:sp>
      <p:sp>
        <p:nvSpPr>
          <p:cNvPr id="416" name="Google Shape;416;p24"/>
          <p:cNvSpPr/>
          <p:nvPr/>
        </p:nvSpPr>
        <p:spPr>
          <a:xfrm>
            <a:off x="7524749" y="1619250"/>
            <a:ext cx="3762375" cy="666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A0BD"/>
              </a:buClr>
              <a:buSzPts val="4125"/>
              <a:buFont typeface="Calibri"/>
              <a:buNone/>
            </a:pPr>
            <a:r>
              <a:rPr lang="en-IL" sz="4125" b="1">
                <a:solidFill>
                  <a:srgbClr val="00A0BD"/>
                </a:solidFill>
                <a:latin typeface="Calibri"/>
                <a:ea typeface="Calibri"/>
                <a:cs typeface="Calibri"/>
                <a:sym typeface="Calibri"/>
              </a:rPr>
              <a:t>0.933</a:t>
            </a:r>
            <a:endParaRPr/>
          </a:p>
        </p:txBody>
      </p:sp>
      <p:sp>
        <p:nvSpPr>
          <p:cNvPr id="417" name="Google Shape;417;p24"/>
          <p:cNvSpPr/>
          <p:nvPr/>
        </p:nvSpPr>
        <p:spPr>
          <a:xfrm>
            <a:off x="7578587" y="2333625"/>
            <a:ext cx="4089538" cy="4095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1717"/>
              </a:buClr>
              <a:buSzPts val="1875"/>
              <a:buFont typeface="Calibri"/>
              <a:buNone/>
            </a:pPr>
            <a:r>
              <a:rPr lang="en-IL" sz="1875" b="0">
                <a:solidFill>
                  <a:srgbClr val="171717"/>
                </a:solidFill>
                <a:latin typeface="Calibri"/>
                <a:ea typeface="Calibri"/>
                <a:cs typeface="Calibri"/>
                <a:sym typeface="Calibri"/>
              </a:rPr>
              <a:t>Mean cross-campaign ROC-AUC</a:t>
            </a:r>
            <a:endParaRPr/>
          </a:p>
        </p:txBody>
      </p:sp>
      <p:graphicFrame>
        <p:nvGraphicFramePr>
          <p:cNvPr id="418" name="Google Shape;418;p24"/>
          <p:cNvGraphicFramePr/>
          <p:nvPr/>
        </p:nvGraphicFramePr>
        <p:xfrm>
          <a:off x="1381125" y="2743200"/>
          <a:ext cx="3000000" cy="3000000"/>
        </p:xfrm>
        <a:graphic>
          <a:graphicData uri="http://schemas.openxmlformats.org/drawingml/2006/table">
            <a:tbl>
              <a:tblPr>
                <a:noFill/>
                <a:tableStyleId>{AB558FE3-B644-45B6-8EC2-D5E319610A07}</a:tableStyleId>
              </a:tblPr>
              <a:tblGrid>
                <a:gridCol w="209550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000250">
                  <a:extLst>
                    <a:ext uri="{9D8B030D-6E8A-4147-A177-3AD203B41FA5}">
                      <a16:colId xmlns:a16="http://schemas.microsoft.com/office/drawing/2014/main" val="20004"/>
                    </a:ext>
                  </a:extLst>
                </a:gridCol>
              </a:tblGrid>
              <a:tr h="409575">
                <a:tc>
                  <a:txBody>
                    <a:bodyPr/>
                    <a:lstStyle/>
                    <a:p>
                      <a:pPr marL="0" marR="0" lvl="0" indent="0" algn="l" rtl="0">
                        <a:spcBef>
                          <a:spcPts val="0"/>
                        </a:spcBef>
                        <a:spcAft>
                          <a:spcPts val="0"/>
                        </a:spcAft>
                        <a:buClr>
                          <a:srgbClr val="FFFFFF"/>
                        </a:buClr>
                        <a:buSzPts val="1800"/>
                        <a:buFont typeface="Calibri"/>
                        <a:buNone/>
                      </a:pPr>
                      <a:r>
                        <a:rPr lang="en-IL" sz="1800" b="1" u="none" strike="noStrike" cap="none">
                          <a:solidFill>
                            <a:srgbClr val="FFFFFF"/>
                          </a:solidFill>
                          <a:latin typeface="Calibri"/>
                          <a:ea typeface="Calibri"/>
                          <a:cs typeface="Calibri"/>
                          <a:sym typeface="Calibri"/>
                        </a:rPr>
                        <a:t>Campaign</a:t>
                      </a:r>
                      <a:endParaRPr/>
                    </a:p>
                  </a:txBody>
                  <a:tcPr marL="114300" marR="114300" marT="38100" marB="38100" anchor="ctr">
                    <a:solidFill>
                      <a:srgbClr val="00A0BD"/>
                    </a:solidFill>
                  </a:tcPr>
                </a:tc>
                <a:tc>
                  <a:txBody>
                    <a:bodyPr/>
                    <a:lstStyle/>
                    <a:p>
                      <a:pPr marL="0" marR="0" lvl="0" indent="0" algn="ctr" rtl="0">
                        <a:spcBef>
                          <a:spcPts val="0"/>
                        </a:spcBef>
                        <a:spcAft>
                          <a:spcPts val="0"/>
                        </a:spcAft>
                        <a:buClr>
                          <a:srgbClr val="FFFFFF"/>
                        </a:buClr>
                        <a:buSzPts val="1800"/>
                        <a:buFont typeface="Calibri"/>
                        <a:buNone/>
                      </a:pPr>
                      <a:r>
                        <a:rPr lang="en-IL" sz="1800" b="1" u="none" strike="noStrike" cap="none">
                          <a:solidFill>
                            <a:srgbClr val="FFFFFF"/>
                          </a:solidFill>
                          <a:latin typeface="Calibri"/>
                          <a:ea typeface="Calibri"/>
                          <a:cs typeface="Calibri"/>
                          <a:sym typeface="Calibri"/>
                        </a:rPr>
                        <a:t>Within ROC</a:t>
                      </a:r>
                      <a:endParaRPr/>
                    </a:p>
                  </a:txBody>
                  <a:tcPr marL="114300" marR="114300" marT="38100" marB="38100" anchor="ctr">
                    <a:solidFill>
                      <a:srgbClr val="00A0BD"/>
                    </a:solidFill>
                  </a:tcPr>
                </a:tc>
                <a:tc>
                  <a:txBody>
                    <a:bodyPr/>
                    <a:lstStyle/>
                    <a:p>
                      <a:pPr marL="0" marR="0" lvl="0" indent="0" algn="ctr" rtl="0">
                        <a:spcBef>
                          <a:spcPts val="0"/>
                        </a:spcBef>
                        <a:spcAft>
                          <a:spcPts val="0"/>
                        </a:spcAft>
                        <a:buClr>
                          <a:srgbClr val="FFFFFF"/>
                        </a:buClr>
                        <a:buSzPts val="1800"/>
                        <a:buFont typeface="Calibri"/>
                        <a:buNone/>
                      </a:pPr>
                      <a:r>
                        <a:rPr lang="en-IL" sz="1800" b="1" u="none" strike="noStrike" cap="none">
                          <a:solidFill>
                            <a:srgbClr val="FFFFFF"/>
                          </a:solidFill>
                          <a:latin typeface="Calibri"/>
                          <a:ea typeface="Calibri"/>
                          <a:cs typeface="Calibri"/>
                          <a:sym typeface="Calibri"/>
                        </a:rPr>
                        <a:t>Within PR</a:t>
                      </a:r>
                      <a:endParaRPr/>
                    </a:p>
                  </a:txBody>
                  <a:tcPr marL="114300" marR="114300" marT="38100" marB="38100" anchor="ctr">
                    <a:solidFill>
                      <a:srgbClr val="00A0BD"/>
                    </a:solidFill>
                  </a:tcPr>
                </a:tc>
                <a:tc>
                  <a:txBody>
                    <a:bodyPr/>
                    <a:lstStyle/>
                    <a:p>
                      <a:pPr marL="0" marR="0" lvl="0" indent="0" algn="ctr" rtl="0">
                        <a:spcBef>
                          <a:spcPts val="0"/>
                        </a:spcBef>
                        <a:spcAft>
                          <a:spcPts val="0"/>
                        </a:spcAft>
                        <a:buClr>
                          <a:srgbClr val="FFFFFF"/>
                        </a:buClr>
                        <a:buSzPts val="1800"/>
                        <a:buFont typeface="Calibri"/>
                        <a:buNone/>
                      </a:pPr>
                      <a:r>
                        <a:rPr lang="en-IL" sz="1800" b="1" u="none" strike="noStrike" cap="none">
                          <a:solidFill>
                            <a:srgbClr val="FFFFFF"/>
                          </a:solidFill>
                          <a:latin typeface="Calibri"/>
                          <a:ea typeface="Calibri"/>
                          <a:cs typeface="Calibri"/>
                          <a:sym typeface="Calibri"/>
                        </a:rPr>
                        <a:t>Across ROC</a:t>
                      </a:r>
                      <a:endParaRPr/>
                    </a:p>
                  </a:txBody>
                  <a:tcPr marL="114300" marR="114300" marT="38100" marB="38100" anchor="ctr">
                    <a:solidFill>
                      <a:srgbClr val="00A0BD"/>
                    </a:solidFill>
                  </a:tcPr>
                </a:tc>
                <a:tc>
                  <a:txBody>
                    <a:bodyPr/>
                    <a:lstStyle/>
                    <a:p>
                      <a:pPr marL="0" marR="0" lvl="0" indent="0" algn="ctr" rtl="0">
                        <a:spcBef>
                          <a:spcPts val="0"/>
                        </a:spcBef>
                        <a:spcAft>
                          <a:spcPts val="0"/>
                        </a:spcAft>
                        <a:buClr>
                          <a:srgbClr val="FFFFFF"/>
                        </a:buClr>
                        <a:buSzPts val="1800"/>
                        <a:buFont typeface="Calibri"/>
                        <a:buNone/>
                      </a:pPr>
                      <a:r>
                        <a:rPr lang="en-IL" sz="1800" b="1" u="none" strike="noStrike" cap="none">
                          <a:solidFill>
                            <a:srgbClr val="FFFFFF"/>
                          </a:solidFill>
                          <a:latin typeface="Calibri"/>
                          <a:ea typeface="Calibri"/>
                          <a:cs typeface="Calibri"/>
                          <a:sym typeface="Calibri"/>
                        </a:rPr>
                        <a:t>Across PR</a:t>
                      </a:r>
                      <a:endParaRPr/>
                    </a:p>
                  </a:txBody>
                  <a:tcPr marL="114300" marR="114300" marT="38100" marB="38100" anchor="ctr">
                    <a:solidFill>
                      <a:srgbClr val="00A0BD"/>
                    </a:solidFill>
                  </a:tcPr>
                </a:tc>
                <a:extLst>
                  <a:ext uri="{0D108BD9-81ED-4DB2-BD59-A6C34878D82A}">
                    <a16:rowId xmlns:a16="http://schemas.microsoft.com/office/drawing/2014/main" val="10000"/>
                  </a:ext>
                </a:extLst>
              </a:tr>
              <a:tr h="409575">
                <a:tc>
                  <a:txBody>
                    <a:bodyPr/>
                    <a:lstStyle/>
                    <a:p>
                      <a:pPr marL="0" marR="0" lvl="0" indent="0" algn="l"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Iran-1</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0.991</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0.983</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0.989</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0.963</a:t>
                      </a:r>
                      <a:endParaRPr/>
                    </a:p>
                  </a:txBody>
                  <a:tcPr marL="114300" marR="114300" marT="38100" marB="38100" anchor="ctr">
                    <a:solidFill>
                      <a:srgbClr val="FFFFFF"/>
                    </a:solidFill>
                  </a:tcPr>
                </a:tc>
                <a:extLst>
                  <a:ext uri="{0D108BD9-81ED-4DB2-BD59-A6C34878D82A}">
                    <a16:rowId xmlns:a16="http://schemas.microsoft.com/office/drawing/2014/main" val="10001"/>
                  </a:ext>
                </a:extLst>
              </a:tr>
              <a:tr h="409575">
                <a:tc>
                  <a:txBody>
                    <a:bodyPr/>
                    <a:lstStyle/>
                    <a:p>
                      <a:pPr marL="0" marR="0" lvl="0" indent="0" algn="l"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UAE</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0.995</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0.992</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0.976</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0.943</a:t>
                      </a:r>
                      <a:endParaRPr/>
                    </a:p>
                  </a:txBody>
                  <a:tcPr marL="114300" marR="114300" marT="38100" marB="38100" anchor="ctr">
                    <a:solidFill>
                      <a:srgbClr val="EEF5F6"/>
                    </a:solidFill>
                  </a:tcPr>
                </a:tc>
                <a:extLst>
                  <a:ext uri="{0D108BD9-81ED-4DB2-BD59-A6C34878D82A}">
                    <a16:rowId xmlns:a16="http://schemas.microsoft.com/office/drawing/2014/main" val="10002"/>
                  </a:ext>
                </a:extLst>
              </a:tr>
              <a:tr h="409575">
                <a:tc>
                  <a:txBody>
                    <a:bodyPr/>
                    <a:lstStyle/>
                    <a:p>
                      <a:pPr marL="0" marR="0" lvl="0" indent="0" algn="l"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Venezuela</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0.984</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0.964</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0.889</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0.649</a:t>
                      </a:r>
                      <a:endParaRPr/>
                    </a:p>
                  </a:txBody>
                  <a:tcPr marL="114300" marR="114300" marT="38100" marB="38100" anchor="ctr">
                    <a:solidFill>
                      <a:srgbClr val="FFFFFF"/>
                    </a:solidFill>
                  </a:tcPr>
                </a:tc>
                <a:extLst>
                  <a:ext uri="{0D108BD9-81ED-4DB2-BD59-A6C34878D82A}">
                    <a16:rowId xmlns:a16="http://schemas.microsoft.com/office/drawing/2014/main" val="10003"/>
                  </a:ext>
                </a:extLst>
              </a:tr>
              <a:tr h="409575">
                <a:tc>
                  <a:txBody>
                    <a:bodyPr/>
                    <a:lstStyle/>
                    <a:p>
                      <a:pPr marL="0" marR="0" lvl="0" indent="0" algn="l"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China-1</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0.986</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0.940</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0.822</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0.072</a:t>
                      </a:r>
                      <a:endParaRPr/>
                    </a:p>
                  </a:txBody>
                  <a:tcPr marL="114300" marR="114300" marT="38100" marB="38100" anchor="ctr">
                    <a:solidFill>
                      <a:srgbClr val="EEF5F6"/>
                    </a:solidFill>
                  </a:tcPr>
                </a:tc>
                <a:extLst>
                  <a:ext uri="{0D108BD9-81ED-4DB2-BD59-A6C34878D82A}">
                    <a16:rowId xmlns:a16="http://schemas.microsoft.com/office/drawing/2014/main" val="10004"/>
                  </a:ext>
                </a:extLst>
              </a:tr>
              <a:tr h="409575">
                <a:tc>
                  <a:txBody>
                    <a:bodyPr/>
                    <a:lstStyle/>
                    <a:p>
                      <a:pPr marL="0" marR="0" lvl="0" indent="0" algn="l"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Cuba</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0.985</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0.966</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0.992</a:t>
                      </a:r>
                      <a:endParaRPr/>
                    </a:p>
                  </a:txBody>
                  <a:tcPr marL="114300" marR="114300" marT="38100" marB="38100" anchor="ctr">
                    <a:solidFill>
                      <a:srgbClr val="FFFFFF"/>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0.920</a:t>
                      </a:r>
                      <a:endParaRPr/>
                    </a:p>
                  </a:txBody>
                  <a:tcPr marL="114300" marR="114300" marT="38100" marB="38100" anchor="ctr">
                    <a:solidFill>
                      <a:srgbClr val="FFFFFF"/>
                    </a:solidFill>
                  </a:tcPr>
                </a:tc>
                <a:extLst>
                  <a:ext uri="{0D108BD9-81ED-4DB2-BD59-A6C34878D82A}">
                    <a16:rowId xmlns:a16="http://schemas.microsoft.com/office/drawing/2014/main" val="10005"/>
                  </a:ext>
                </a:extLst>
              </a:tr>
              <a:tr h="409575">
                <a:tc>
                  <a:txBody>
                    <a:bodyPr/>
                    <a:lstStyle/>
                    <a:p>
                      <a:pPr marL="0" marR="0" lvl="0" indent="0" algn="l"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Russia-1</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0.999</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0.994</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0.929</a:t>
                      </a:r>
                      <a:endParaRPr/>
                    </a:p>
                  </a:txBody>
                  <a:tcPr marL="114300" marR="114300" marT="38100" marB="38100" anchor="ctr">
                    <a:solidFill>
                      <a:srgbClr val="EEF5F6"/>
                    </a:solidFill>
                  </a:tcPr>
                </a:tc>
                <a:tc>
                  <a:txBody>
                    <a:bodyPr/>
                    <a:lstStyle/>
                    <a:p>
                      <a:pPr marL="0" marR="0" lvl="0" indent="0" algn="ctr" rtl="0">
                        <a:spcBef>
                          <a:spcPts val="0"/>
                        </a:spcBef>
                        <a:spcAft>
                          <a:spcPts val="0"/>
                        </a:spcAft>
                        <a:buClr>
                          <a:srgbClr val="171717"/>
                        </a:buClr>
                        <a:buSzPts val="1800"/>
                        <a:buFont typeface="Calibri"/>
                        <a:buNone/>
                      </a:pPr>
                      <a:r>
                        <a:rPr lang="en-IL" sz="1800" b="0" u="none" strike="noStrike" cap="none">
                          <a:solidFill>
                            <a:srgbClr val="171717"/>
                          </a:solidFill>
                          <a:latin typeface="Calibri"/>
                          <a:ea typeface="Calibri"/>
                          <a:cs typeface="Calibri"/>
                          <a:sym typeface="Calibri"/>
                        </a:rPr>
                        <a:t>0.794</a:t>
                      </a:r>
                      <a:endParaRPr/>
                    </a:p>
                  </a:txBody>
                  <a:tcPr marL="114300" marR="114300" marT="38100" marB="38100" anchor="ctr">
                    <a:solidFill>
                      <a:srgbClr val="EEF5F6"/>
                    </a:solidFill>
                  </a:tcPr>
                </a:tc>
                <a:extLst>
                  <a:ext uri="{0D108BD9-81ED-4DB2-BD59-A6C34878D82A}">
                    <a16:rowId xmlns:a16="http://schemas.microsoft.com/office/drawing/2014/main" val="10006"/>
                  </a:ext>
                </a:extLst>
              </a:tr>
            </a:tbl>
          </a:graphicData>
        </a:graphic>
      </p:graphicFrame>
      <p:sp>
        <p:nvSpPr>
          <p:cNvPr id="419" name="Google Shape;419;p24"/>
          <p:cNvSpPr/>
          <p:nvPr/>
        </p:nvSpPr>
        <p:spPr>
          <a:xfrm>
            <a:off x="1381125" y="5734050"/>
            <a:ext cx="10191750" cy="30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06060"/>
              </a:buClr>
              <a:buSzPts val="1650"/>
              <a:buFont typeface="Calibri"/>
              <a:buNone/>
            </a:pPr>
            <a:r>
              <a:rPr lang="en-IL" sz="1650" b="0">
                <a:solidFill>
                  <a:srgbClr val="606060"/>
                </a:solidFill>
                <a:latin typeface="Calibri"/>
                <a:ea typeface="Calibri"/>
                <a:cs typeface="Calibri"/>
                <a:sym typeface="Calibri"/>
              </a:rPr>
              <a:t>Random Forest AUC. Across: train on five campaigns, test on one.</a:t>
            </a:r>
            <a:endParaRPr/>
          </a:p>
        </p:txBody>
      </p:sp>
      <p:sp>
        <p:nvSpPr>
          <p:cNvPr id="420" name="Google Shape;420;p24"/>
          <p:cNvSpPr/>
          <p:nvPr/>
        </p:nvSpPr>
        <p:spPr>
          <a:xfrm>
            <a:off x="1381125" y="6048375"/>
            <a:ext cx="7524750" cy="2952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06060"/>
              </a:buClr>
              <a:buSzPts val="1650"/>
              <a:buFont typeface="Calibri"/>
              <a:buNone/>
            </a:pPr>
            <a:r>
              <a:rPr lang="en-IL" sz="1650" b="0">
                <a:solidFill>
                  <a:srgbClr val="606060"/>
                </a:solidFill>
                <a:latin typeface="Calibri"/>
                <a:ea typeface="Calibri"/>
                <a:cs typeface="Calibri"/>
                <a:sym typeface="Calibri"/>
              </a:rPr>
              <a:t>Mean PR-AUC: 0.973 within campaign / 0.723 across campaigns.</a:t>
            </a:r>
            <a:endParaRPr/>
          </a:p>
        </p:txBody>
      </p:sp>
      <p:sp>
        <p:nvSpPr>
          <p:cNvPr id="421" name="Google Shape;421;p24"/>
          <p:cNvSpPr/>
          <p:nvPr/>
        </p:nvSpPr>
        <p:spPr>
          <a:xfrm>
            <a:off x="1381125" y="6410325"/>
            <a:ext cx="7524750" cy="27622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06060"/>
              </a:buClr>
              <a:buSzPts val="1500"/>
              <a:buFont typeface="Calibri"/>
              <a:buNone/>
            </a:pPr>
            <a:r>
              <a:rPr lang="en-IL" sz="1500" b="0">
                <a:solidFill>
                  <a:srgbClr val="606060"/>
                </a:solidFill>
                <a:latin typeface="Calibri"/>
                <a:ea typeface="Calibri"/>
                <a:cs typeface="Calibri"/>
                <a:sym typeface="Calibri"/>
              </a:rPr>
              <a:t>Macro-F1: ICSU 0.804 vs. IOHunter 0.793 (different training coverage).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25"/>
          <p:cNvSpPr/>
          <p:nvPr/>
        </p:nvSpPr>
        <p:spPr>
          <a:xfrm>
            <a:off x="3143250" y="619125"/>
            <a:ext cx="8572500" cy="1047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9DBB"/>
              </a:buClr>
              <a:buSzPts val="4400"/>
              <a:buFont typeface="Calibri"/>
              <a:buNone/>
            </a:pPr>
            <a:r>
              <a:rPr lang="en-IL" sz="4400" b="0">
                <a:solidFill>
                  <a:srgbClr val="009DBB"/>
                </a:solidFill>
                <a:latin typeface="Calibri"/>
                <a:ea typeface="Calibri"/>
                <a:cs typeface="Calibri"/>
                <a:sym typeface="Calibri"/>
              </a:rPr>
              <a:t>Group Analysis</a:t>
            </a:r>
            <a:endParaRPr/>
          </a:p>
        </p:txBody>
      </p:sp>
      <p:sp>
        <p:nvSpPr>
          <p:cNvPr id="428" name="Google Shape;428;p25"/>
          <p:cNvSpPr/>
          <p:nvPr/>
        </p:nvSpPr>
        <p:spPr>
          <a:xfrm>
            <a:off x="11753850" y="6524625"/>
            <a:ext cx="28575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88888"/>
              </a:buClr>
              <a:buSzPts val="1125"/>
              <a:buFont typeface="Calibri"/>
              <a:buNone/>
            </a:pPr>
            <a:r>
              <a:rPr lang="en-IL" sz="1125" b="0">
                <a:solidFill>
                  <a:srgbClr val="888888"/>
                </a:solidFill>
                <a:latin typeface="Calibri"/>
                <a:ea typeface="Calibri"/>
                <a:cs typeface="Calibri"/>
                <a:sym typeface="Calibri"/>
              </a:rPr>
              <a:t>12</a:t>
            </a:r>
            <a:endParaRPr/>
          </a:p>
        </p:txBody>
      </p:sp>
      <p:pic>
        <p:nvPicPr>
          <p:cNvPr id="429" name="Google Shape;429;p25"/>
          <p:cNvPicPr preferRelativeResize="0"/>
          <p:nvPr/>
        </p:nvPicPr>
        <p:blipFill rotWithShape="1">
          <a:blip r:embed="rId3">
            <a:alphaModFix/>
          </a:blip>
          <a:srcRect/>
          <a:stretch/>
        </p:blipFill>
        <p:spPr>
          <a:xfrm>
            <a:off x="1178738" y="1860636"/>
            <a:ext cx="10860862" cy="3454314"/>
          </a:xfrm>
          <a:prstGeom prst="rect">
            <a:avLst/>
          </a:prstGeom>
          <a:noFill/>
          <a:ln>
            <a:noFill/>
          </a:ln>
        </p:spPr>
      </p:pic>
      <p:sp>
        <p:nvSpPr>
          <p:cNvPr id="430" name="Google Shape;430;p25"/>
          <p:cNvSpPr/>
          <p:nvPr/>
        </p:nvSpPr>
        <p:spPr>
          <a:xfrm>
            <a:off x="1381125" y="5562600"/>
            <a:ext cx="10096500" cy="7905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1717"/>
              </a:buClr>
              <a:buSzPts val="2325"/>
              <a:buFont typeface="Calibri"/>
              <a:buNone/>
            </a:pPr>
            <a:r>
              <a:rPr lang="en-IL" sz="2325" b="0">
                <a:solidFill>
                  <a:srgbClr val="171717"/>
                </a:solidFill>
                <a:latin typeface="Calibri"/>
                <a:ea typeface="Calibri"/>
                <a:cs typeface="Calibri"/>
                <a:sym typeface="Calibri"/>
              </a:rPr>
              <a:t>K-core groups balance IO concentration and topic alignment.</a:t>
            </a:r>
            <a:endParaRPr sz="2325" b="0">
              <a:solidFill>
                <a:srgbClr val="171717"/>
              </a:solidFill>
              <a:latin typeface="Calibri"/>
              <a:ea typeface="Calibri"/>
              <a:cs typeface="Calibri"/>
              <a:sym typeface="Calibri"/>
            </a:endParaRPr>
          </a:p>
          <a:p>
            <a:pPr marL="0" marR="0" lvl="0" indent="0" algn="l" rtl="0">
              <a:spcBef>
                <a:spcPts val="0"/>
              </a:spcBef>
              <a:spcAft>
                <a:spcPts val="0"/>
              </a:spcAft>
              <a:buClr>
                <a:srgbClr val="171717"/>
              </a:buClr>
              <a:buSzPts val="2325"/>
              <a:buFont typeface="Calibri"/>
              <a:buNone/>
            </a:pPr>
            <a:r>
              <a:rPr lang="en-IL" sz="2325" b="0">
                <a:solidFill>
                  <a:srgbClr val="171717"/>
                </a:solidFill>
                <a:latin typeface="Calibri"/>
                <a:ea typeface="Calibri"/>
                <a:cs typeface="Calibri"/>
                <a:sym typeface="Calibri"/>
              </a:rPr>
              <a:t>Direct neighbors also perform well.</a:t>
            </a:r>
            <a:endParaRPr/>
          </a:p>
        </p:txBody>
      </p:sp>
      <p:sp>
        <p:nvSpPr>
          <p:cNvPr id="431" name="Google Shape;431;p25"/>
          <p:cNvSpPr/>
          <p:nvPr/>
        </p:nvSpPr>
        <p:spPr>
          <a:xfrm>
            <a:off x="1381125" y="6419850"/>
            <a:ext cx="10001250" cy="419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06060"/>
              </a:buClr>
              <a:buSzPts val="1725"/>
              <a:buFont typeface="Calibri"/>
              <a:buNone/>
            </a:pPr>
            <a:r>
              <a:rPr lang="en-IL" sz="1725" b="0">
                <a:solidFill>
                  <a:srgbClr val="606060"/>
                </a:solidFill>
                <a:latin typeface="Calibri"/>
                <a:ea typeface="Calibri"/>
                <a:cs typeface="Calibri"/>
                <a:sym typeface="Calibri"/>
              </a:rPr>
              <a:t>Top: XGBoost-predicted IO accounts. Bottom: all accounts.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6"/>
          <p:cNvSpPr/>
          <p:nvPr/>
        </p:nvSpPr>
        <p:spPr>
          <a:xfrm>
            <a:off x="3143250" y="619125"/>
            <a:ext cx="8572500" cy="1047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9DBB"/>
              </a:buClr>
              <a:buSzPts val="4400"/>
              <a:buFont typeface="Calibri"/>
              <a:buNone/>
            </a:pPr>
            <a:r>
              <a:rPr lang="en-IL" sz="4400" b="0">
                <a:solidFill>
                  <a:srgbClr val="009DBB"/>
                </a:solidFill>
                <a:latin typeface="Calibri"/>
                <a:ea typeface="Calibri"/>
                <a:cs typeface="Calibri"/>
                <a:sym typeface="Calibri"/>
              </a:rPr>
              <a:t>The Iran-1 Network</a:t>
            </a:r>
            <a:endParaRPr/>
          </a:p>
        </p:txBody>
      </p:sp>
      <p:sp>
        <p:nvSpPr>
          <p:cNvPr id="438" name="Google Shape;438;p26"/>
          <p:cNvSpPr/>
          <p:nvPr/>
        </p:nvSpPr>
        <p:spPr>
          <a:xfrm>
            <a:off x="11753850" y="6524625"/>
            <a:ext cx="28575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88888"/>
              </a:buClr>
              <a:buSzPts val="1125"/>
              <a:buFont typeface="Calibri"/>
              <a:buNone/>
            </a:pPr>
            <a:r>
              <a:rPr lang="en-IL" sz="1125" b="0">
                <a:solidFill>
                  <a:srgbClr val="888888"/>
                </a:solidFill>
                <a:latin typeface="Calibri"/>
                <a:ea typeface="Calibri"/>
                <a:cs typeface="Calibri"/>
                <a:sym typeface="Calibri"/>
              </a:rPr>
              <a:t>13</a:t>
            </a:r>
            <a:endParaRPr/>
          </a:p>
        </p:txBody>
      </p:sp>
      <p:sp>
        <p:nvSpPr>
          <p:cNvPr id="439" name="Google Shape;439;p26"/>
          <p:cNvSpPr/>
          <p:nvPr/>
        </p:nvSpPr>
        <p:spPr>
          <a:xfrm>
            <a:off x="1123950" y="1762125"/>
            <a:ext cx="4876802" cy="419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00A0BD"/>
              </a:buClr>
              <a:buSzPts val="2325"/>
              <a:buFont typeface="Calibri"/>
              <a:buNone/>
            </a:pPr>
            <a:r>
              <a:rPr lang="en-IL" sz="2325" b="1">
                <a:solidFill>
                  <a:srgbClr val="00A0BD"/>
                </a:solidFill>
                <a:latin typeface="Calibri"/>
                <a:ea typeface="Calibri"/>
                <a:cs typeface="Calibri"/>
                <a:sym typeface="Calibri"/>
              </a:rPr>
              <a:t>Core number</a:t>
            </a:r>
            <a:endParaRPr/>
          </a:p>
        </p:txBody>
      </p:sp>
      <p:sp>
        <p:nvSpPr>
          <p:cNvPr id="440" name="Google Shape;440;p26"/>
          <p:cNvSpPr/>
          <p:nvPr/>
        </p:nvSpPr>
        <p:spPr>
          <a:xfrm>
            <a:off x="6191250" y="1762125"/>
            <a:ext cx="5286375" cy="4191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00A0BD"/>
              </a:buClr>
              <a:buSzPts val="2325"/>
              <a:buFont typeface="Calibri"/>
              <a:buNone/>
            </a:pPr>
            <a:r>
              <a:rPr lang="en-IL" sz="2325" b="1">
                <a:solidFill>
                  <a:srgbClr val="00A0BD"/>
                </a:solidFill>
                <a:latin typeface="Calibri"/>
                <a:ea typeface="Calibri"/>
                <a:cs typeface="Calibri"/>
                <a:sym typeface="Calibri"/>
              </a:rPr>
              <a:t>Known IO labels</a:t>
            </a:r>
            <a:endParaRPr/>
          </a:p>
        </p:txBody>
      </p:sp>
      <p:pic>
        <p:nvPicPr>
          <p:cNvPr id="441" name="Google Shape;441;p26"/>
          <p:cNvPicPr preferRelativeResize="0"/>
          <p:nvPr/>
        </p:nvPicPr>
        <p:blipFill rotWithShape="1">
          <a:blip r:embed="rId3">
            <a:alphaModFix/>
          </a:blip>
          <a:srcRect/>
          <a:stretch/>
        </p:blipFill>
        <p:spPr>
          <a:xfrm>
            <a:off x="1323558" y="2276475"/>
            <a:ext cx="9681502" cy="3800475"/>
          </a:xfrm>
          <a:prstGeom prst="rect">
            <a:avLst/>
          </a:prstGeom>
          <a:noFill/>
          <a:ln>
            <a:noFill/>
          </a:ln>
        </p:spPr>
      </p:pic>
      <p:sp>
        <p:nvSpPr>
          <p:cNvPr id="442" name="Google Shape;442;p26"/>
          <p:cNvSpPr/>
          <p:nvPr/>
        </p:nvSpPr>
        <p:spPr>
          <a:xfrm>
            <a:off x="1381125" y="6319837"/>
            <a:ext cx="10096500" cy="4095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71717"/>
              </a:buClr>
              <a:buSzPts val="2175"/>
              <a:buFont typeface="Calibri"/>
              <a:buNone/>
            </a:pPr>
            <a:r>
              <a:rPr lang="en-IL" sz="2175" b="0">
                <a:solidFill>
                  <a:srgbClr val="171717"/>
                </a:solidFill>
                <a:latin typeface="Calibri"/>
                <a:ea typeface="Calibri"/>
                <a:cs typeface="Calibri"/>
                <a:sym typeface="Calibri"/>
              </a:rPr>
              <a:t>High-core regions overlap with concentrations of IO accounts.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h44a970ce36d02707_0_593"/>
          <p:cNvSpPr txBox="1">
            <a:spLocks noGrp="1"/>
          </p:cNvSpPr>
          <p:nvPr>
            <p:ph type="title"/>
          </p:nvPr>
        </p:nvSpPr>
        <p:spPr>
          <a:xfrm>
            <a:off x="2840525" y="713903"/>
            <a:ext cx="8763000" cy="857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9DBB"/>
              </a:buClr>
              <a:buSzPts val="4400"/>
              <a:buFont typeface="Calibri"/>
              <a:buNone/>
            </a:pPr>
            <a:r>
              <a:rPr lang="en-IL"/>
              <a:t>Group Analysis: Iran-1 Case Study </a:t>
            </a:r>
            <a:endParaRPr sz="3400"/>
          </a:p>
        </p:txBody>
      </p:sp>
      <p:sp>
        <p:nvSpPr>
          <p:cNvPr id="448" name="Google Shape;448;h44a970ce36d02707_0_593"/>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27</a:t>
            </a:fld>
            <a:endParaRPr/>
          </a:p>
        </p:txBody>
      </p:sp>
      <p:grpSp>
        <p:nvGrpSpPr>
          <p:cNvPr id="449" name="Google Shape;449;h44a970ce36d02707_0_593"/>
          <p:cNvGrpSpPr/>
          <p:nvPr/>
        </p:nvGrpSpPr>
        <p:grpSpPr>
          <a:xfrm>
            <a:off x="2280325" y="1602275"/>
            <a:ext cx="4238700" cy="2190900"/>
            <a:chOff x="0" y="0"/>
            <a:chExt cx="4238700" cy="2190900"/>
          </a:xfrm>
        </p:grpSpPr>
        <p:sp>
          <p:nvSpPr>
            <p:cNvPr id="450" name="Google Shape;450;h44a970ce36d02707_0_593"/>
            <p:cNvSpPr/>
            <p:nvPr/>
          </p:nvSpPr>
          <p:spPr>
            <a:xfrm>
              <a:off x="0" y="0"/>
              <a:ext cx="4238700" cy="2190900"/>
            </a:xfrm>
            <a:prstGeom prst="roundRect">
              <a:avLst>
                <a:gd name="adj" fmla="val 5217"/>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h44a970ce36d02707_0_593"/>
            <p:cNvSpPr/>
            <p:nvPr/>
          </p:nvSpPr>
          <p:spPr>
            <a:xfrm>
              <a:off x="0" y="0"/>
              <a:ext cx="57300" cy="2190900"/>
            </a:xfrm>
            <a:prstGeom prst="roundRect">
              <a:avLst>
                <a:gd name="adj" fmla="val 50000"/>
              </a:avLst>
            </a:prstGeom>
            <a:solidFill>
              <a:srgbClr val="009DB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2" name="Google Shape;452;h44a970ce36d02707_0_593"/>
            <p:cNvSpPr txBox="1"/>
            <p:nvPr/>
          </p:nvSpPr>
          <p:spPr>
            <a:xfrm>
              <a:off x="285750" y="228600"/>
              <a:ext cx="3667200" cy="173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IL" sz="2000" b="1">
                  <a:solidFill>
                    <a:srgbClr val="009DBB"/>
                  </a:solidFill>
                  <a:latin typeface="Calibri"/>
                  <a:ea typeface="Calibri"/>
                  <a:cs typeface="Calibri"/>
                  <a:sym typeface="Calibri"/>
                </a:rPr>
                <a:t>01 </a:t>
              </a:r>
              <a:r>
                <a:rPr lang="en-IL" sz="1800" b="1">
                  <a:solidFill>
                    <a:srgbClr val="0F172A"/>
                  </a:solidFill>
                  <a:latin typeface="Calibri"/>
                  <a:ea typeface="Calibri"/>
                  <a:cs typeface="Calibri"/>
                  <a:sym typeface="Calibri"/>
                </a:rPr>
                <a:t>Group Selection</a:t>
              </a:r>
              <a:endParaRPr sz="1800">
                <a:solidFill>
                  <a:schemeClr val="dk1"/>
                </a:solidFill>
                <a:latin typeface="Calibri"/>
                <a:ea typeface="Calibri"/>
                <a:cs typeface="Calibri"/>
                <a:sym typeface="Calibri"/>
              </a:endParaRPr>
            </a:p>
            <a:p>
              <a:pPr marL="0" lvl="0" indent="0" algn="l" rtl="0">
                <a:spcBef>
                  <a:spcPts val="900"/>
                </a:spcBef>
                <a:spcAft>
                  <a:spcPts val="0"/>
                </a:spcAft>
                <a:buNone/>
              </a:pPr>
              <a:br>
                <a:rPr lang="en-IL" sz="100">
                  <a:solidFill>
                    <a:schemeClr val="dk1"/>
                  </a:solidFill>
                  <a:latin typeface="Calibri"/>
                  <a:ea typeface="Calibri"/>
                  <a:cs typeface="Calibri"/>
                  <a:sym typeface="Calibri"/>
                </a:rPr>
              </a:br>
              <a:r>
                <a:rPr lang="en-IL" sz="1800">
                  <a:solidFill>
                    <a:schemeClr val="dk1"/>
                  </a:solidFill>
                  <a:latin typeface="Calibri"/>
                  <a:ea typeface="Calibri"/>
                  <a:cs typeface="Calibri"/>
                  <a:sym typeface="Calibri"/>
                </a:rPr>
                <a:t> Select a connected component from the maximum k-core of the Iran-1 co-action graph, comprising 312 accounts</a:t>
              </a:r>
              <a:r>
                <a:rPr lang="en-IL" sz="1100">
                  <a:solidFill>
                    <a:schemeClr val="dk1"/>
                  </a:solidFill>
                </a:rPr>
                <a:t>.</a:t>
              </a:r>
              <a:endParaRPr sz="1100">
                <a:solidFill>
                  <a:schemeClr val="dk1"/>
                </a:solidFill>
              </a:endParaRPr>
            </a:p>
            <a:p>
              <a:pPr marL="0" lvl="0" indent="0" algn="l" rtl="0">
                <a:spcBef>
                  <a:spcPts val="900"/>
                </a:spcBef>
                <a:spcAft>
                  <a:spcPts val="0"/>
                </a:spcAft>
                <a:buNone/>
              </a:pPr>
              <a:endParaRPr sz="1800">
                <a:solidFill>
                  <a:schemeClr val="dk1"/>
                </a:solidFill>
                <a:latin typeface="Calibri"/>
                <a:ea typeface="Calibri"/>
                <a:cs typeface="Calibri"/>
                <a:sym typeface="Calibri"/>
              </a:endParaRPr>
            </a:p>
          </p:txBody>
        </p:sp>
      </p:grpSp>
      <p:grpSp>
        <p:nvGrpSpPr>
          <p:cNvPr id="453" name="Google Shape;453;h44a970ce36d02707_0_593"/>
          <p:cNvGrpSpPr/>
          <p:nvPr/>
        </p:nvGrpSpPr>
        <p:grpSpPr>
          <a:xfrm>
            <a:off x="6804700" y="1602275"/>
            <a:ext cx="4238850" cy="2190900"/>
            <a:chOff x="0" y="0"/>
            <a:chExt cx="4238850" cy="2190900"/>
          </a:xfrm>
        </p:grpSpPr>
        <p:sp>
          <p:nvSpPr>
            <p:cNvPr id="454" name="Google Shape;454;h44a970ce36d02707_0_593"/>
            <p:cNvSpPr/>
            <p:nvPr/>
          </p:nvSpPr>
          <p:spPr>
            <a:xfrm>
              <a:off x="0" y="0"/>
              <a:ext cx="4238700" cy="2190900"/>
            </a:xfrm>
            <a:prstGeom prst="roundRect">
              <a:avLst>
                <a:gd name="adj" fmla="val 5217"/>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5" name="Google Shape;455;h44a970ce36d02707_0_593"/>
            <p:cNvSpPr/>
            <p:nvPr/>
          </p:nvSpPr>
          <p:spPr>
            <a:xfrm>
              <a:off x="0" y="0"/>
              <a:ext cx="57300" cy="21909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6" name="Google Shape;456;h44a970ce36d02707_0_593"/>
            <p:cNvSpPr txBox="1"/>
            <p:nvPr/>
          </p:nvSpPr>
          <p:spPr>
            <a:xfrm>
              <a:off x="285750" y="228600"/>
              <a:ext cx="3953100" cy="173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IL" sz="2000" b="1">
                  <a:solidFill>
                    <a:srgbClr val="0284C7"/>
                  </a:solidFill>
                  <a:latin typeface="Calibri"/>
                  <a:ea typeface="Calibri"/>
                  <a:cs typeface="Calibri"/>
                  <a:sym typeface="Calibri"/>
                </a:rPr>
                <a:t>02 </a:t>
              </a:r>
              <a:r>
                <a:rPr lang="en-IL" sz="1800" b="1">
                  <a:solidFill>
                    <a:srgbClr val="0F172A"/>
                  </a:solidFill>
                  <a:latin typeface="Calibri"/>
                  <a:ea typeface="Calibri"/>
                  <a:cs typeface="Calibri"/>
                  <a:sym typeface="Calibri"/>
                </a:rPr>
                <a:t>Coordination Window</a:t>
              </a:r>
              <a:endParaRPr>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IL" sz="1700">
                  <a:solidFill>
                    <a:schemeClr val="dk1"/>
                  </a:solidFill>
                  <a:latin typeface="Calibri"/>
                  <a:ea typeface="Calibri"/>
                  <a:cs typeface="Calibri"/>
                  <a:sym typeface="Calibri"/>
                </a:rPr>
                <a:t>Score each non-overlapping 15-minute interval by summing the number of distinct account pairs sharing each hashtag. Select the highest-scoring interval.</a:t>
              </a:r>
              <a:endParaRPr sz="800">
                <a:solidFill>
                  <a:schemeClr val="dk1"/>
                </a:solidFill>
              </a:endParaRPr>
            </a:p>
            <a:p>
              <a:pPr marL="0" lvl="0" indent="0" algn="l" rtl="0">
                <a:spcBef>
                  <a:spcPts val="1200"/>
                </a:spcBef>
                <a:spcAft>
                  <a:spcPts val="0"/>
                </a:spcAft>
                <a:buNone/>
              </a:pPr>
              <a:endParaRPr sz="1800">
                <a:solidFill>
                  <a:schemeClr val="dk1"/>
                </a:solidFill>
                <a:latin typeface="Calibri"/>
                <a:ea typeface="Calibri"/>
                <a:cs typeface="Calibri"/>
                <a:sym typeface="Calibri"/>
              </a:endParaRPr>
            </a:p>
          </p:txBody>
        </p:sp>
      </p:grpSp>
      <p:grpSp>
        <p:nvGrpSpPr>
          <p:cNvPr id="457" name="Google Shape;457;h44a970ce36d02707_0_593"/>
          <p:cNvGrpSpPr/>
          <p:nvPr/>
        </p:nvGrpSpPr>
        <p:grpSpPr>
          <a:xfrm>
            <a:off x="2280325" y="4078775"/>
            <a:ext cx="4238700" cy="2190900"/>
            <a:chOff x="0" y="0"/>
            <a:chExt cx="4238700" cy="2190900"/>
          </a:xfrm>
        </p:grpSpPr>
        <p:sp>
          <p:nvSpPr>
            <p:cNvPr id="458" name="Google Shape;458;h44a970ce36d02707_0_593"/>
            <p:cNvSpPr/>
            <p:nvPr/>
          </p:nvSpPr>
          <p:spPr>
            <a:xfrm>
              <a:off x="0" y="0"/>
              <a:ext cx="4238700" cy="2190900"/>
            </a:xfrm>
            <a:prstGeom prst="roundRect">
              <a:avLst>
                <a:gd name="adj" fmla="val 5217"/>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9" name="Google Shape;459;h44a970ce36d02707_0_593"/>
            <p:cNvSpPr/>
            <p:nvPr/>
          </p:nvSpPr>
          <p:spPr>
            <a:xfrm>
              <a:off x="0" y="0"/>
              <a:ext cx="57300" cy="2190900"/>
            </a:xfrm>
            <a:prstGeom prst="roundRect">
              <a:avLst>
                <a:gd name="adj" fmla="val 50000"/>
              </a:avLst>
            </a:prstGeom>
            <a:solidFill>
              <a:srgbClr val="0369A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0" name="Google Shape;460;h44a970ce36d02707_0_593"/>
            <p:cNvSpPr txBox="1"/>
            <p:nvPr/>
          </p:nvSpPr>
          <p:spPr>
            <a:xfrm>
              <a:off x="285750" y="228600"/>
              <a:ext cx="3667200" cy="173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IL" sz="2000" b="1">
                  <a:solidFill>
                    <a:srgbClr val="0369A1"/>
                  </a:solidFill>
                  <a:latin typeface="Calibri"/>
                  <a:ea typeface="Calibri"/>
                  <a:cs typeface="Calibri"/>
                  <a:sym typeface="Calibri"/>
                </a:rPr>
                <a:t>03 </a:t>
              </a:r>
              <a:r>
                <a:rPr lang="en-IL" sz="1800" b="1">
                  <a:solidFill>
                    <a:srgbClr val="0F172A"/>
                  </a:solidFill>
                  <a:latin typeface="Calibri"/>
                  <a:ea typeface="Calibri"/>
                  <a:cs typeface="Calibri"/>
                  <a:sym typeface="Calibri"/>
                </a:rPr>
                <a:t>Activity Analysis</a:t>
              </a:r>
              <a:endParaRPr>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IL" sz="1800">
                  <a:solidFill>
                    <a:schemeClr val="dk1"/>
                  </a:solidFill>
                  <a:latin typeface="Calibri"/>
                  <a:ea typeface="Calibri"/>
                  <a:cs typeface="Calibri"/>
                  <a:sym typeface="Calibri"/>
                </a:rPr>
                <a:t> Examine posting volume, reposting patterns, and shared hashtags within the selected interval</a:t>
              </a:r>
              <a:r>
                <a:rPr lang="en-IL" sz="1100">
                  <a:solidFill>
                    <a:schemeClr val="dk1"/>
                  </a:solidFill>
                </a:rPr>
                <a:t>.</a:t>
              </a:r>
              <a:endParaRPr sz="1100">
                <a:solidFill>
                  <a:schemeClr val="dk1"/>
                </a:solidFill>
              </a:endParaRPr>
            </a:p>
            <a:p>
              <a:pPr marL="0" lvl="0" indent="0" algn="l" rtl="0">
                <a:spcBef>
                  <a:spcPts val="1200"/>
                </a:spcBef>
                <a:spcAft>
                  <a:spcPts val="0"/>
                </a:spcAft>
                <a:buNone/>
              </a:pPr>
              <a:endParaRPr sz="1800">
                <a:solidFill>
                  <a:schemeClr val="dk1"/>
                </a:solidFill>
                <a:latin typeface="Calibri"/>
                <a:ea typeface="Calibri"/>
                <a:cs typeface="Calibri"/>
                <a:sym typeface="Calibri"/>
              </a:endParaRPr>
            </a:p>
          </p:txBody>
        </p:sp>
      </p:grpSp>
      <p:grpSp>
        <p:nvGrpSpPr>
          <p:cNvPr id="461" name="Google Shape;461;h44a970ce36d02707_0_593"/>
          <p:cNvGrpSpPr/>
          <p:nvPr/>
        </p:nvGrpSpPr>
        <p:grpSpPr>
          <a:xfrm>
            <a:off x="6804700" y="4078775"/>
            <a:ext cx="4238700" cy="2190900"/>
            <a:chOff x="0" y="0"/>
            <a:chExt cx="4238700" cy="2190900"/>
          </a:xfrm>
        </p:grpSpPr>
        <p:sp>
          <p:nvSpPr>
            <p:cNvPr id="462" name="Google Shape;462;h44a970ce36d02707_0_593"/>
            <p:cNvSpPr/>
            <p:nvPr/>
          </p:nvSpPr>
          <p:spPr>
            <a:xfrm>
              <a:off x="0" y="0"/>
              <a:ext cx="4238700" cy="2190900"/>
            </a:xfrm>
            <a:prstGeom prst="roundRect">
              <a:avLst>
                <a:gd name="adj" fmla="val 5217"/>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3" name="Google Shape;463;h44a970ce36d02707_0_593"/>
            <p:cNvSpPr/>
            <p:nvPr/>
          </p:nvSpPr>
          <p:spPr>
            <a:xfrm>
              <a:off x="0" y="0"/>
              <a:ext cx="57300" cy="2190900"/>
            </a:xfrm>
            <a:prstGeom prst="roundRect">
              <a:avLst>
                <a:gd name="adj" fmla="val 50000"/>
              </a:avLst>
            </a:prstGeom>
            <a:solidFill>
              <a:srgbClr val="0C4A6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h44a970ce36d02707_0_593"/>
            <p:cNvSpPr txBox="1"/>
            <p:nvPr/>
          </p:nvSpPr>
          <p:spPr>
            <a:xfrm>
              <a:off x="285750" y="228600"/>
              <a:ext cx="3667200" cy="173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IL" sz="2000" b="1">
                  <a:solidFill>
                    <a:srgbClr val="0C4A6E"/>
                  </a:solidFill>
                  <a:latin typeface="Calibri"/>
                  <a:ea typeface="Calibri"/>
                  <a:cs typeface="Calibri"/>
                  <a:sym typeface="Calibri"/>
                </a:rPr>
                <a:t>04 </a:t>
              </a:r>
              <a:r>
                <a:rPr lang="en-IL" sz="1800" b="1">
                  <a:solidFill>
                    <a:srgbClr val="0F172A"/>
                  </a:solidFill>
                  <a:latin typeface="Calibri"/>
                  <a:ea typeface="Calibri"/>
                  <a:cs typeface="Calibri"/>
                  <a:sym typeface="Calibri"/>
                </a:rPr>
                <a:t>Content Analysis</a:t>
              </a:r>
              <a:endParaRPr>
                <a:latin typeface="Calibri"/>
                <a:ea typeface="Calibri"/>
                <a:cs typeface="Calibri"/>
                <a:sym typeface="Calibri"/>
              </a:endParaRPr>
            </a:p>
            <a:p>
              <a:pPr marL="0" lvl="0" indent="0" algn="l" rtl="0">
                <a:lnSpc>
                  <a:spcPct val="115000"/>
                </a:lnSpc>
                <a:spcBef>
                  <a:spcPts val="1200"/>
                </a:spcBef>
                <a:spcAft>
                  <a:spcPts val="1200"/>
                </a:spcAft>
                <a:buClr>
                  <a:schemeClr val="dk1"/>
                </a:buClr>
                <a:buSzPts val="1100"/>
                <a:buFont typeface="Arial"/>
                <a:buNone/>
              </a:pPr>
              <a:r>
                <a:rPr lang="en-IL" sz="1800">
                  <a:solidFill>
                    <a:schemeClr val="dk1"/>
                  </a:solidFill>
                  <a:latin typeface="Calibri"/>
                  <a:ea typeface="Calibri"/>
                  <a:cs typeface="Calibri"/>
                  <a:sym typeface="Calibri"/>
                </a:rPr>
                <a:t> Examine the reposted source posts and shared hashtags to characterize the amplified content and recurring political messages.</a:t>
              </a:r>
              <a:endParaRPr sz="1800">
                <a:solidFill>
                  <a:schemeClr val="dk1"/>
                </a:solidFill>
                <a:latin typeface="Calibri"/>
                <a:ea typeface="Calibri"/>
                <a:cs typeface="Calibri"/>
                <a:sym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8"/>
          <p:cNvSpPr txBox="1">
            <a:spLocks noGrp="1"/>
          </p:cNvSpPr>
          <p:nvPr>
            <p:ph type="title"/>
          </p:nvPr>
        </p:nvSpPr>
        <p:spPr>
          <a:xfrm>
            <a:off x="3072268" y="401637"/>
            <a:ext cx="9108669" cy="132556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Arial"/>
              <a:buNone/>
            </a:pPr>
            <a:r>
              <a:rPr lang="en-IL"/>
              <a:t>Group Analysis: Iran-1 Case Study </a:t>
            </a:r>
            <a:endParaRPr/>
          </a:p>
        </p:txBody>
      </p:sp>
      <p:sp>
        <p:nvSpPr>
          <p:cNvPr id="470" name="Google Shape;470;p28"/>
          <p:cNvSpPr txBox="1">
            <a:spLocks noGrp="1"/>
          </p:cNvSpPr>
          <p:nvPr>
            <p:ph type="body" idx="1"/>
          </p:nvPr>
        </p:nvSpPr>
        <p:spPr>
          <a:xfrm>
            <a:off x="1243087" y="1730375"/>
            <a:ext cx="10582656" cy="4769728"/>
          </a:xfrm>
          <a:prstGeom prst="rect">
            <a:avLst/>
          </a:prstGeom>
          <a:noFill/>
          <a:ln>
            <a:noFill/>
          </a:ln>
        </p:spPr>
        <p:txBody>
          <a:bodyPr spcFirstLastPara="1" wrap="square" lIns="91425" tIns="45700" rIns="91425" bIns="45700" anchor="t" anchorCtr="0">
            <a:noAutofit/>
          </a:bodyPr>
          <a:lstStyle/>
          <a:p>
            <a:pPr marL="228600" lvl="0" indent="-235903" algn="l" rtl="0">
              <a:lnSpc>
                <a:spcPct val="150000"/>
              </a:lnSpc>
              <a:spcBef>
                <a:spcPts val="0"/>
              </a:spcBef>
              <a:spcAft>
                <a:spcPts val="0"/>
              </a:spcAft>
              <a:buClr>
                <a:schemeClr val="dk1"/>
              </a:buClr>
              <a:buSzPts val="3715"/>
              <a:buChar char="•"/>
            </a:pPr>
            <a:r>
              <a:rPr lang="en-IL" sz="3715"/>
              <a:t> I</a:t>
            </a:r>
            <a:r>
              <a:rPr lang="en-IL" sz="2715"/>
              <a:t>n the selected group and during the selected 15-minute interval:</a:t>
            </a:r>
            <a:endParaRPr sz="2715"/>
          </a:p>
          <a:p>
            <a:pPr marL="685800" lvl="1" indent="-148463" algn="l" rtl="0">
              <a:lnSpc>
                <a:spcPct val="150000"/>
              </a:lnSpc>
              <a:spcBef>
                <a:spcPts val="500"/>
              </a:spcBef>
              <a:spcAft>
                <a:spcPts val="0"/>
              </a:spcAft>
              <a:buClr>
                <a:schemeClr val="dk1"/>
              </a:buClr>
              <a:buSzPts val="1975"/>
              <a:buChar char="o"/>
            </a:pPr>
            <a:r>
              <a:rPr lang="en-IL" sz="1975"/>
              <a:t>15 accounts produced 244 posts. </a:t>
            </a:r>
            <a:endParaRPr sz="700"/>
          </a:p>
          <a:p>
            <a:pPr marL="685800" lvl="1" indent="-148463" algn="l" rtl="0">
              <a:lnSpc>
                <a:spcPct val="150000"/>
              </a:lnSpc>
              <a:spcBef>
                <a:spcPts val="500"/>
              </a:spcBef>
              <a:spcAft>
                <a:spcPts val="0"/>
              </a:spcAft>
              <a:buClr>
                <a:schemeClr val="dk1"/>
              </a:buClr>
              <a:buSzPts val="1975"/>
              <a:buChar char="o"/>
            </a:pPr>
            <a:r>
              <a:rPr lang="en-IL" sz="1975"/>
              <a:t>242 of 244 posts were reposts. </a:t>
            </a:r>
            <a:endParaRPr sz="700"/>
          </a:p>
          <a:p>
            <a:pPr marL="685800" lvl="1" indent="-148463" algn="l" rtl="0">
              <a:lnSpc>
                <a:spcPct val="150000"/>
              </a:lnSpc>
              <a:spcBef>
                <a:spcPts val="500"/>
              </a:spcBef>
              <a:spcAft>
                <a:spcPts val="0"/>
              </a:spcAft>
              <a:buClr>
                <a:schemeClr val="dk1"/>
              </a:buClr>
              <a:buSzPts val="1975"/>
              <a:buChar char="o"/>
            </a:pPr>
            <a:r>
              <a:rPr lang="en-IL" sz="1975"/>
              <a:t>The activity included 30 shared hashtags. </a:t>
            </a:r>
            <a:endParaRPr sz="700"/>
          </a:p>
          <a:p>
            <a:pPr marL="685800" lvl="1" indent="-148463" algn="l" rtl="0">
              <a:lnSpc>
                <a:spcPct val="150000"/>
              </a:lnSpc>
              <a:spcBef>
                <a:spcPts val="500"/>
              </a:spcBef>
              <a:spcAft>
                <a:spcPts val="0"/>
              </a:spcAft>
              <a:buClr>
                <a:schemeClr val="dk1"/>
              </a:buClr>
              <a:buSzPts val="1975"/>
              <a:buChar char="o"/>
            </a:pPr>
            <a:r>
              <a:rPr lang="en-IL" sz="1975"/>
              <a:t>16 of 19 reposted source posts focused on U.S. politics. </a:t>
            </a:r>
            <a:endParaRPr sz="700"/>
          </a:p>
          <a:p>
            <a:pPr marL="685800" lvl="1" indent="-148463" algn="l" rtl="0">
              <a:lnSpc>
                <a:spcPct val="150000"/>
              </a:lnSpc>
              <a:spcBef>
                <a:spcPts val="500"/>
              </a:spcBef>
              <a:spcAft>
                <a:spcPts val="0"/>
              </a:spcAft>
              <a:buClr>
                <a:schemeClr val="dk1"/>
              </a:buClr>
              <a:buSzPts val="1975"/>
              <a:buChar char="o"/>
            </a:pPr>
            <a:r>
              <a:rPr lang="en-IL" sz="1975"/>
              <a:t>The dominant narrative included criticism of Donald Trump and opposition to tax legislation.</a:t>
            </a:r>
            <a:endParaRPr sz="2315"/>
          </a:p>
          <a:p>
            <a:pPr marL="228600" lvl="0" indent="-172403" algn="l" rtl="0">
              <a:lnSpc>
                <a:spcPct val="150000"/>
              </a:lnSpc>
              <a:spcBef>
                <a:spcPts val="1000"/>
              </a:spcBef>
              <a:spcAft>
                <a:spcPts val="0"/>
              </a:spcAft>
              <a:buClr>
                <a:schemeClr val="dk1"/>
              </a:buClr>
              <a:buSzPts val="2715"/>
              <a:buChar char="•"/>
            </a:pPr>
            <a:r>
              <a:rPr lang="en-IL" sz="2715"/>
              <a:t>Key finding: The group amplified U.S. political messages through reposting.</a:t>
            </a:r>
            <a:endParaRPr sz="1440"/>
          </a:p>
          <a:p>
            <a:pPr marL="228600" lvl="0" indent="-17145" algn="l" rtl="0">
              <a:lnSpc>
                <a:spcPct val="70000"/>
              </a:lnSpc>
              <a:spcBef>
                <a:spcPts val="1000"/>
              </a:spcBef>
              <a:spcAft>
                <a:spcPts val="0"/>
              </a:spcAft>
              <a:buClr>
                <a:schemeClr val="dk1"/>
              </a:buClr>
              <a:buSzPts val="3060"/>
              <a:buNone/>
            </a:pPr>
            <a:endParaRPr sz="3460"/>
          </a:p>
          <a:p>
            <a:pPr marL="457200" lvl="1" indent="0" algn="l" rtl="0">
              <a:lnSpc>
                <a:spcPct val="70000"/>
              </a:lnSpc>
              <a:spcBef>
                <a:spcPts val="500"/>
              </a:spcBef>
              <a:spcAft>
                <a:spcPts val="0"/>
              </a:spcAft>
              <a:buClr>
                <a:schemeClr val="dk1"/>
              </a:buClr>
              <a:buSzPts val="2720"/>
              <a:buNone/>
            </a:pPr>
            <a:endParaRPr sz="3120"/>
          </a:p>
        </p:txBody>
      </p:sp>
      <p:sp>
        <p:nvSpPr>
          <p:cNvPr id="471" name="Google Shape;471;p28"/>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h2e08d342f2b398b2_0_20"/>
          <p:cNvSpPr txBox="1">
            <a:spLocks noGrp="1"/>
          </p:cNvSpPr>
          <p:nvPr>
            <p:ph type="title"/>
          </p:nvPr>
        </p:nvSpPr>
        <p:spPr>
          <a:xfrm>
            <a:off x="1479549" y="1709738"/>
            <a:ext cx="99147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9DBB"/>
              </a:buClr>
              <a:buSzPts val="5400"/>
              <a:buFont typeface="Calibri"/>
              <a:buNone/>
            </a:pPr>
            <a:r>
              <a:rPr lang="en-IL"/>
              <a:t>Summary</a:t>
            </a:r>
            <a:endParaRPr/>
          </a:p>
        </p:txBody>
      </p:sp>
      <p:sp>
        <p:nvSpPr>
          <p:cNvPr id="477" name="Google Shape;477;h2e08d342f2b398b2_0_20"/>
          <p:cNvSpPr txBox="1">
            <a:spLocks noGrp="1"/>
          </p:cNvSpPr>
          <p:nvPr>
            <p:ph type="body" idx="1"/>
          </p:nvPr>
        </p:nvSpPr>
        <p:spPr>
          <a:xfrm>
            <a:off x="1479550" y="4589463"/>
            <a:ext cx="105156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p>
        </p:txBody>
      </p:sp>
      <p:sp>
        <p:nvSpPr>
          <p:cNvPr id="478" name="Google Shape;478;h2e08d342f2b398b2_0_20"/>
          <p:cNvSpPr txBox="1">
            <a:spLocks noGrp="1"/>
          </p:cNvSpPr>
          <p:nvPr>
            <p:ph type="sldNum" idx="12"/>
          </p:nvPr>
        </p:nvSpPr>
        <p:spPr>
          <a:xfrm>
            <a:off x="11728704" y="6464649"/>
            <a:ext cx="452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29"/>
          <p:cNvSpPr txBox="1">
            <a:spLocks noGrp="1"/>
          </p:cNvSpPr>
          <p:nvPr>
            <p:ph type="title"/>
          </p:nvPr>
        </p:nvSpPr>
        <p:spPr>
          <a:xfrm>
            <a:off x="3072268" y="401637"/>
            <a:ext cx="910866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9DBB"/>
              </a:buClr>
              <a:buSzPts val="4400"/>
              <a:buFont typeface="Calibri"/>
              <a:buNone/>
            </a:pPr>
            <a:r>
              <a:rPr lang="en-IL"/>
              <a:t>Summary of Results</a:t>
            </a:r>
            <a:endParaRPr/>
          </a:p>
        </p:txBody>
      </p:sp>
      <p:sp>
        <p:nvSpPr>
          <p:cNvPr id="484" name="Google Shape;484;p29"/>
          <p:cNvSpPr txBox="1">
            <a:spLocks noGrp="1"/>
          </p:cNvSpPr>
          <p:nvPr>
            <p:ph type="body" idx="1"/>
          </p:nvPr>
        </p:nvSpPr>
        <p:spPr>
          <a:xfrm>
            <a:off x="1243087" y="1730375"/>
            <a:ext cx="10582656" cy="476972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0"/>
              </a:spcBef>
              <a:spcAft>
                <a:spcPts val="0"/>
              </a:spcAft>
              <a:buClr>
                <a:schemeClr val="dk1"/>
              </a:buClr>
              <a:buSzPct val="100000"/>
              <a:buChar char="•"/>
            </a:pPr>
            <a:r>
              <a:rPr lang="en-IL" sz="4000" b="1"/>
              <a:t>Account Detection</a:t>
            </a:r>
            <a:endParaRPr sz="4000" b="1"/>
          </a:p>
          <a:p>
            <a:pPr marL="685800" lvl="1" indent="-228600" algn="l" rtl="0">
              <a:lnSpc>
                <a:spcPct val="90000"/>
              </a:lnSpc>
              <a:spcBef>
                <a:spcPts val="500"/>
              </a:spcBef>
              <a:spcAft>
                <a:spcPts val="0"/>
              </a:spcAft>
              <a:buClr>
                <a:schemeClr val="dk1"/>
              </a:buClr>
              <a:buSzPct val="100000"/>
              <a:buChar char="o"/>
            </a:pPr>
            <a:r>
              <a:rPr lang="en-IL" sz="3600"/>
              <a:t>Interpretable Indicators</a:t>
            </a:r>
            <a:endParaRPr sz="4000"/>
          </a:p>
          <a:p>
            <a:pPr marL="685800" lvl="1" indent="-228600" algn="l" rtl="0">
              <a:lnSpc>
                <a:spcPct val="90000"/>
              </a:lnSpc>
              <a:spcBef>
                <a:spcPts val="500"/>
              </a:spcBef>
              <a:spcAft>
                <a:spcPts val="0"/>
              </a:spcAft>
              <a:buClr>
                <a:schemeClr val="dk1"/>
              </a:buClr>
              <a:buSzPct val="100000"/>
              <a:buChar char="o"/>
            </a:pPr>
            <a:r>
              <a:rPr lang="en-IL" sz="3600"/>
              <a:t>Mean ROC–AUC: </a:t>
            </a:r>
            <a:r>
              <a:rPr lang="en-IL" sz="3600" b="1"/>
              <a:t>0.990 within campaigns</a:t>
            </a:r>
            <a:r>
              <a:rPr lang="en-IL" sz="3600"/>
              <a:t> and </a:t>
            </a:r>
            <a:r>
              <a:rPr lang="en-IL" sz="3600" b="1"/>
              <a:t>0.933 across campaigns</a:t>
            </a:r>
            <a:r>
              <a:rPr lang="en-IL" sz="3600"/>
              <a:t> </a:t>
            </a:r>
            <a:endParaRPr/>
          </a:p>
          <a:p>
            <a:pPr marL="228600" lvl="0" indent="-228600" algn="l" rtl="0">
              <a:lnSpc>
                <a:spcPct val="90000"/>
              </a:lnSpc>
              <a:spcBef>
                <a:spcPts val="1000"/>
              </a:spcBef>
              <a:spcAft>
                <a:spcPts val="0"/>
              </a:spcAft>
              <a:buClr>
                <a:schemeClr val="dk1"/>
              </a:buClr>
              <a:buSzPct val="100000"/>
              <a:buChar char="•"/>
            </a:pPr>
            <a:r>
              <a:rPr lang="en-IL" sz="4000"/>
              <a:t>Indicator importance varied across campaigns </a:t>
            </a:r>
            <a:endParaRPr/>
          </a:p>
          <a:p>
            <a:pPr marL="228600" lvl="0" indent="-228600" algn="l" rtl="0">
              <a:lnSpc>
                <a:spcPct val="90000"/>
              </a:lnSpc>
              <a:spcBef>
                <a:spcPts val="1000"/>
              </a:spcBef>
              <a:spcAft>
                <a:spcPts val="0"/>
              </a:spcAft>
              <a:buClr>
                <a:schemeClr val="dk1"/>
              </a:buClr>
              <a:buSzPct val="100000"/>
              <a:buChar char="•"/>
            </a:pPr>
            <a:r>
              <a:rPr lang="en-IL" sz="4000" b="1"/>
              <a:t>Group Analysis</a:t>
            </a:r>
            <a:endParaRPr sz="4000"/>
          </a:p>
          <a:p>
            <a:pPr marL="685800" lvl="1" indent="-228600" algn="l" rtl="0">
              <a:lnSpc>
                <a:spcPct val="90000"/>
              </a:lnSpc>
              <a:spcBef>
                <a:spcPts val="500"/>
              </a:spcBef>
              <a:spcAft>
                <a:spcPts val="0"/>
              </a:spcAft>
              <a:buClr>
                <a:schemeClr val="dk1"/>
              </a:buClr>
              <a:buSzPct val="100000"/>
              <a:buChar char="o"/>
            </a:pPr>
            <a:r>
              <a:rPr lang="en-IL" sz="3600"/>
              <a:t>K-core groups showed a strong balance between IO concentration and topic alignment </a:t>
            </a:r>
            <a:endParaRPr/>
          </a:p>
          <a:p>
            <a:pPr marL="228600" lvl="0" indent="-228600" algn="l" rtl="0">
              <a:lnSpc>
                <a:spcPct val="90000"/>
              </a:lnSpc>
              <a:spcBef>
                <a:spcPts val="1000"/>
              </a:spcBef>
              <a:spcAft>
                <a:spcPts val="0"/>
              </a:spcAft>
              <a:buClr>
                <a:schemeClr val="dk1"/>
              </a:buClr>
              <a:buSzPct val="100000"/>
              <a:buChar char="•"/>
            </a:pPr>
            <a:r>
              <a:rPr lang="en-IL" sz="4000" b="1"/>
              <a:t>Iran-1 Case Study</a:t>
            </a:r>
            <a:endParaRPr sz="4000"/>
          </a:p>
          <a:p>
            <a:pPr marL="685800" lvl="1" indent="-228600" algn="l" rtl="0">
              <a:lnSpc>
                <a:spcPct val="90000"/>
              </a:lnSpc>
              <a:spcBef>
                <a:spcPts val="500"/>
              </a:spcBef>
              <a:spcAft>
                <a:spcPts val="0"/>
              </a:spcAft>
              <a:buClr>
                <a:schemeClr val="dk1"/>
              </a:buClr>
              <a:buSzPct val="100000"/>
              <a:buChar char="o"/>
            </a:pPr>
            <a:r>
              <a:rPr lang="en-IL" sz="3600"/>
              <a:t>15 accounts → 244 posts in 15 minutes → 242 reposts </a:t>
            </a:r>
            <a:endParaRPr/>
          </a:p>
          <a:p>
            <a:pPr marL="685800" lvl="1" indent="-228600" algn="l" rtl="0">
              <a:lnSpc>
                <a:spcPct val="90000"/>
              </a:lnSpc>
              <a:spcBef>
                <a:spcPts val="500"/>
              </a:spcBef>
              <a:spcAft>
                <a:spcPts val="0"/>
              </a:spcAft>
              <a:buClr>
                <a:schemeClr val="dk1"/>
              </a:buClr>
              <a:buSzPct val="100000"/>
              <a:buChar char="o"/>
            </a:pPr>
            <a:r>
              <a:rPr lang="en-IL" sz="3600"/>
              <a:t>16 of 19 reposted source posts focused on U.S. politics </a:t>
            </a:r>
            <a:endParaRPr/>
          </a:p>
          <a:p>
            <a:pPr marL="685800" lvl="1" indent="-228600" algn="l" rtl="0">
              <a:lnSpc>
                <a:spcPct val="90000"/>
              </a:lnSpc>
              <a:spcBef>
                <a:spcPts val="500"/>
              </a:spcBef>
              <a:spcAft>
                <a:spcPts val="0"/>
              </a:spcAft>
              <a:buClr>
                <a:schemeClr val="dk1"/>
              </a:buClr>
              <a:buSzPct val="100000"/>
              <a:buChar char="o"/>
            </a:pPr>
            <a:r>
              <a:rPr lang="en-IL" sz="3600"/>
              <a:t>Revealed the shared narrative behind coordinated activity</a:t>
            </a:r>
            <a:endParaRPr/>
          </a:p>
        </p:txBody>
      </p:sp>
      <p:sp>
        <p:nvSpPr>
          <p:cNvPr id="485" name="Google Shape;485;p29"/>
          <p:cNvSpPr txBox="1">
            <a:spLocks noGrp="1"/>
          </p:cNvSpPr>
          <p:nvPr>
            <p:ph type="sldNum" idx="12"/>
          </p:nvPr>
        </p:nvSpPr>
        <p:spPr>
          <a:xfrm>
            <a:off x="11728704" y="6464649"/>
            <a:ext cx="45223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IL"/>
              <a:t>30</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3432</Words>
  <Application>Microsoft Office PowerPoint</Application>
  <PresentationFormat>Widescreen</PresentationFormat>
  <Paragraphs>368</Paragraphs>
  <Slides>30</Slides>
  <Notes>30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30</vt:i4>
      </vt:variant>
    </vt:vector>
  </HeadingPairs>
  <TitlesOfParts>
    <vt:vector size="36" baseType="lpstr">
      <vt:lpstr>Arial</vt:lpstr>
      <vt:lpstr>Calibri</vt:lpstr>
      <vt:lpstr>Courier New</vt:lpstr>
      <vt:lpstr>Noto Sans Symbols</vt:lpstr>
      <vt:lpstr>Office Theme</vt:lpstr>
      <vt:lpstr>Office Theme</vt:lpstr>
      <vt:lpstr>I Can See U. Indicator-Based Information Operation Detection and Topic-Aware Group Analysis</vt:lpstr>
      <vt:lpstr>Motivation</vt:lpstr>
      <vt:lpstr>IO &amp; Coordination</vt:lpstr>
      <vt:lpstr>Related Work</vt:lpstr>
      <vt:lpstr>The missing blocks</vt:lpstr>
      <vt:lpstr> Interpretable Indicators</vt:lpstr>
      <vt:lpstr>Co-Action Graph</vt:lpstr>
      <vt:lpstr>Graph-Based Indicators</vt:lpstr>
      <vt:lpstr>TF-IDF and Account Relevance</vt:lpstr>
      <vt:lpstr>Topic-Based Indicators</vt:lpstr>
      <vt:lpstr>Indicators Workflow</vt:lpstr>
      <vt:lpstr>Group Analysis</vt:lpstr>
      <vt:lpstr>Overview</vt:lpstr>
      <vt:lpstr>K-Core  Definition</vt:lpstr>
      <vt:lpstr>Core Number: Example</vt:lpstr>
      <vt:lpstr>Group Definitions </vt:lpstr>
      <vt:lpstr>Evaluation </vt:lpstr>
      <vt:lpstr>Maximal K-Core Motivation</vt:lpstr>
      <vt:lpstr>Experiments</vt:lpstr>
      <vt:lpstr>Dataset</vt:lpstr>
      <vt:lpstr>Evaluation Settings</vt:lpstr>
      <vt:lpstr>PowerPoint Presentation</vt:lpstr>
      <vt:lpstr>PowerPoint Presentation</vt:lpstr>
      <vt:lpstr>PowerPoint Presentation</vt:lpstr>
      <vt:lpstr>PowerPoint Presentation</vt:lpstr>
      <vt:lpstr>PowerPoint Presentation</vt:lpstr>
      <vt:lpstr>Group Analysis: Iran-1 Case Study </vt:lpstr>
      <vt:lpstr>Group Analysis: Iran-1 Case Study </vt:lpstr>
      <vt:lpstr>Summary</vt:lpstr>
      <vt:lpstr>Summary of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Edita Grolman</dc:creator>
  <cp:lastModifiedBy>Amit Ner Gaon</cp:lastModifiedBy>
  <cp:revision>2</cp:revision>
  <dcterms:created xsi:type="dcterms:W3CDTF">2021-05-04T15:24:24Z</dcterms:created>
  <dcterms:modified xsi:type="dcterms:W3CDTF">2026-10-18T10:04:20Z</dcterms:modified>
</cp:coreProperties>
</file>